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first, not as a footnote: this repository is deliberately insecure. The vulnerabilities are real and exploitable. It must never be deployed anywhere reachable and nobody should copy code out of it into a real project.
Also set expectations on version drift: Snyk ships Snyk Code accuracy releases roughly monthly, so finding COUNTS move. The CLASSES of finding are the stable part. Use your own captured baseline, not the numbers on these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90 seconds. The five verbs are the spine of the day; refer back to them when someone asks why a section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who has already run npm install. If the answer is "nobody", start it now in the background — it takes 5 to 10 minutes on this repo because postinstall builds the whole Angular frontend.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framing numbers worth saying out loud: roughly 80 to 90% of a modern codebase is open source, which is why Snyk Open Source produces the biggest number. But the 10 to 20% your team wrote is what makes the application unique — and that is what Snyk Code looks at. Neither is optional.
Snyk Secrets is new since the last version of this course. It needs org-level enablement AND repos must be re-imported.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the table and ask the room where their team catches things today. If the honest answer is "the PR check", say that this is normal, and that Part 4 is about moving it earlier.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change from v2.0 of the course, which used a dual-stack repo with a .NET port. This edition is Node-only and every file path on these slides exists in this repository — check them live if anyone doubts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land here.
First: the CLI floor is v1.1297.1, not the v1.299.0 that older versions of this deck said. That was wrong. snyk ignore create simply will not exist on an older CLI.
Second: the .NET SDK is genuinely optional. Nothing in this repo needs it. It is only there for the cross-stack exercises on juice-shop-dotnet, which is useful if someone in the room believes SAST is a scripting-language problem.
If anything fails, snyk doctor (CLI v1.1306.0+) checks auth, connectivity, proxy and config in one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a real two minutes here. It is unglamorous and it saves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Nuance worth stating: scanning a Dockerfile is not the same as scanning a container. The Dockerfile scan predicts issues in the base image. A real container scan is snyk container test against a built image, from the CLI or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terraform/ and infrastructure/terraform/ are near-identical copies, so expect duplicate IaC findings. Do not let anyone conclude Snyk is double-reporting.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Changed in August 2026: Snyk Code fix examples were removed from the Web UI AND from SARIF on 17 August. If your notes mention "how often this is fixed one way versus another", that panel is gone. Anything parsing fix examples out of SARIF is now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Saying "the score is a sort order, not gospel — you know your app better than it does" buys credibility for the rest of the session. Do not oversell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snyk protect — the old Node patch mechanism — is deprecated. Do not teach it, and remove it from any older material you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anyone has muscle memory for main, expect git checkout main to fail. Say so before it happens.
For the AI labs in Part 7, branch from upstream/ai-agent-snyk-fix-training instead of develop.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Resetting between exercises: git checkout develop, delete the exercise branch, git pull upstream develop. The vulnerable code IS the training content, so revert rather than fix when you want a clean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blocker worth pre-empting: since April 2026, Snyk Agent Fix in the PR on GitHub requires a dedicated account authenticated with a PAT. If inline fixes never appear, check that before debugging anything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Unified IDE configuration went GA in July 2026, so settings are consistent across VS Code, IntelliJ, Visual Studio and Eclipse. Note Visual Studio 2026 is not 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everyone open routes/login.ts and walk the data flow together, clicking each step. The data-flow view is the most convincing thing in the IDE for a sceptical developer: it is a traced path, not a pattern match.
Then make the SCA-versus-SAST contrast explicit. Same tool, different kind of answer, different kind of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it is not enabled, do not spend ten minutes trying to make it appear. Say it needs a Group or Org admin, show the docs, and move to Part 5. Note who in the room needs to go ask.
The data answer, because you will be asked: Snyk does not use customer code to train the underlying models, add to datasets, or improve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test-versus-monitor distinction explicit and repeat it in Part 7. snyk test exits non-zero and can fail a build. snyk monitor takes a snapshot the Snyk UI tracks and alerts on. In a pipeline, monitor runs after a successful test so the snapshot only reflects green builds.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npm run rsn matters: if a participant touches challenge-related code, the Refactoring Safety Net must still pass. That is a repo rule from AGENTS.md, not a Snyk rule.
npm run sbom is a nice bridge to snyk sbom test if anyone asks about SBOM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--sarif-file-output one costs people real time: they wire an SCA SARIF upload into CI and then wonder why the GitHub Security tab is empty. It is a Snyk Code flag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column is the most important point in the whole course, and it is the one where the tool loses. No static analyser reliably infers an application authorization model. Land it honestly — participants trust a trainer who says what the tool cannot do, and that trust carries the rest of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last line twice. Getting these confused is the single largest source of "but I ignored it and CI still fails".
And flag the second trap right after: org Security Policies are a DIFFERENT feature that applies to Open Source and Container, not to Snyk Code. Two traps, one sentence apart.
Consistent Ignores has been default-on for new customers since 19 June 2025. API and Group-level capabilities are Enterprise-only.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people get wrong.
One: --expiry defaults to 30 days. People assume permanence.
Two: not committing the .snyk file. The ignore then exists only on that developer's machine and CI still fails. Have someone in the room do it deliberately.
The complete flag set for ignore create is finding-id, ignore-type, reason, expiration, org, remote-repo-url. The first three are required; expiration accepts a date or "never" and is required non-interactively. It is interactive by default, so pass everything in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the old step 2 in this list — Snyk patches via snyk protect — is gone. snyk protect is deprecated. If you have older slides that teach patching Node projects, remove that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by naming the problem, because that is what makes the feature make sense. The gap it fills is specifically SAST: .snyk does not apply to Snyk Code, so the PR-approval pattern that works for Open Source covers nothing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about availability. If it is not already enabled for the participants' Group, they probably cannot turn it on today. Do not let anyone leave the room and promise it to a CISO.
Corrections from v2.0 of this deck: the CLI floor is v1.1297.1 not v1.299.0; the scope now includes Snyk Secrets; and the "Enterprise plan" requirement is not documented anywhere — drop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HIT THIS. express-jwt 0.1.3 to 8.x and jsonwebtoken 0.4.0 to 9.x are enormous jumps with real API changes, and lib/insecurity.ts will stop compiling. Do not warn them in advance. Let the build break, then make the point: a security upgrade is a code change, and the build and the tests are how you find out.
This is the most valuable five minutes in the course. Protect the time for it.
Also demo a Snyk Fix PR from the UI. Each carries a merge advice badge — Snyk's confidence it will not break you. Advice, not a guarantee. Two 2026 additions: obsolete Fix PRs auto-close by default, and breakability analysis is in EA via Snyk Preview.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for each one: snyk code test to confirm it is reported, edit, npm run build, npm run test:server &amp;&amp; npm run test:api, snyk code test to confirm it is gone.
EXPECT TESTS TO FAIL. Several tests in test/api/ and test/server/ assert that the vulnerability WORKS — they exercise the Juice Shop challenges. When the code is fixed, those tests should start failing. That is the signal the fix is real. Have participants update the test to assert secure behaviour instead.
data/static/codefixes/ holds upstream's curated before/after pairs — 35 files ending _correct.* are the reviewed fixes (no set exists for the b2bOrder RCE). Useful for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earns you credibility. A trainer who volunteers what the tool cannot do is trusted on everything else they said.
If someone asks "so why buy a scanner" — because it clears the 90% that IS mechanically detectable so your humans can spend their review time on the authorization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the terminology first: /snyk-fix is a slash command installed into an assistant. There is no snyk fix in the CLI.
Studio is five interconnected layers serving two use cases — Secure at Inception and Intelligent Remediation. The parts you touch are the MCP server, guardrail directives (hooks, deterministic, or rules, non-deterministic), and command directives.
Snyk does NOT offer a hosted remote MCP server. It runs locally because it needs to read your files.
Correction from v2.0: the installer is a two-step download-then-run, and GitHub Copilot hooks support is unconfirmed — Copilot gets commands, MCP and a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12 MCP tools: snyk_sca_scan, snyk_code_scan, snyk_iac_scan, snyk_container_scan, snyk_sbom_scan, snyk_aibom, snyk_trust, snyk_auth, snyk_logout, snyk_version, snyk_send_feedback, snyk_package_health_check.
Make reviewing the diff a non-negotiable part of the exercise, not a suggestion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quote these three numbers without the benchmark qualifier. Somebody in the room will eventually try to put them in a business case, and an unqualified number that turns out to be a single-model benchmark damages your credibility more than the number helped.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Correction from v2.0, and it matters: the scope is SCA only. The previous version of this deck said Open Source AND Code. It does not cover Snyk Code.
Also drop any "H2 2026" date for the cloud and async agents — that is not stated publicly.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AI section on this slide and on one sentence: all three are developer-in-the-loop today, and none of them merges anything. Say it clearly, because the first question from a nervous stakeholder is whether AI is now committing to 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Correction from v2.0: the status vocabulary is Success/Passed, Pending, Failed/Issues found, Error, Canceled. "Processing" and "Failure" came from a less authoritative page and are wrong.
Also worth saying: Snyk itself never blocks a merge. Blocking is your SCM branch protection requiring the Snyk status check. Two different systems — and it matters when you are debugging why a red check merged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when a fix is available" is the setting that buys developer trust. Blocking a merge on something a developer cannot act on is the fastest way to have the check disabled behind your back.
The ignores interaction is why ignore governance and gating are the same conversation — which is the bridge back to Part 6.
Snyk Code uses a separate "Minimal severity to fail PR check"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teaching points are in the right-hand comments. The SARIF one in particular saves people an afternoon: they wire an SCA SARIF upload and then wonder why the GitHub Security tab is empty.
If you want scans to report without failing while people learn, add continue-on-error: true — then remove it, because a gate that cannot fail is not a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ARE SHORT ON TIME: cut Labs 2 and 5, keep 1, 3, 4 and 6. Labs 4 and 6 are the ones participants remember, because in both cases something breaks and they have to fix it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three asks rather than a summary.
First: everyone installs the IDE extension on a REAL repository this week. The shortest feedback loop is the one that changes behaviour.
Second: everyone reviews their own team's ignore list and finds one entry with no reason or no expiry.
Third: whoever holds the org admin role takes the team-leader course, so the fail conditions these developers just met are set by someone who understands them.
Then collect feedback on what was missing. This deck is versioned — update it after every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thing to say out loud: the numbers on these slides drift. The classes of finding, the mechanisms, and the discipline of reading the diff do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3.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3.png"/><Relationship Id="rId5" Type="http://schemas.openxmlformats.org/officeDocument/2006/relationships/image" Target="../media/image-3-3.png"/><Relationship Id="rId6" Type="http://schemas.openxmlformats.org/officeDocument/2006/relationships/image" Target="../media/image-3-3.png"/><Relationship Id="rId7" Type="http://schemas.openxmlformats.org/officeDocument/2006/relationships/image" Target="../media/image-3-3.png"/><Relationship Id="rId8" Type="http://schemas.openxmlformats.org/officeDocument/2006/relationships/image" Target="../media/image-3-3.png"/><Relationship Id="rId9" Type="http://schemas.openxmlformats.org/officeDocument/2006/relationships/image" Target="../media/image-3-3.png"/><Relationship Id="rId10" Type="http://schemas.openxmlformats.org/officeDocument/2006/relationships/image" Target="../media/image-3-3.png"/><Relationship Id="rId11" Type="http://schemas.openxmlformats.org/officeDocument/2006/relationships/image" Target="../media/image-3-2.png"/><Relationship Id="rId12" Type="http://schemas.openxmlformats.org/officeDocument/2006/relationships/slideLayout" Target="../slideLayouts/slideLayout1.xml"/><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3.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3.png"/><Relationship Id="rId5" Type="http://schemas.openxmlformats.org/officeDocument/2006/relationships/image" Target="../media/image-5-3.png"/><Relationship Id="rId6" Type="http://schemas.openxmlformats.org/officeDocument/2006/relationships/image" Target="../media/image-5-3.png"/><Relationship Id="rId7" Type="http://schemas.openxmlformats.org/officeDocument/2006/relationships/image" Target="../media/image-5-3.png"/><Relationship Id="rId8" Type="http://schemas.openxmlformats.org/officeDocument/2006/relationships/image" Target="../media/image-5-3.png"/><Relationship Id="rId9" Type="http://schemas.openxmlformats.org/officeDocument/2006/relationships/image" Target="../media/image-5-2.png"/><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3.png"/><Relationship Id="rId5" Type="http://schemas.openxmlformats.org/officeDocument/2006/relationships/image" Target="../media/image-7-2.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3.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2.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3.png"/><Relationship Id="rId5" Type="http://schemas.openxmlformats.org/officeDocument/2006/relationships/image" Target="../media/image-13-3.png"/><Relationship Id="rId6" Type="http://schemas.openxmlformats.org/officeDocument/2006/relationships/image" Target="../media/image-13-3.png"/><Relationship Id="rId7" Type="http://schemas.openxmlformats.org/officeDocument/2006/relationships/image" Target="../media/image-13-2.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3.png"/><Relationship Id="rId5" Type="http://schemas.openxmlformats.org/officeDocument/2006/relationships/image" Target="../media/image-14-3.png"/><Relationship Id="rId6" Type="http://schemas.openxmlformats.org/officeDocument/2006/relationships/image" Target="../media/image-14-3.png"/><Relationship Id="rId7" Type="http://schemas.openxmlformats.org/officeDocument/2006/relationships/image" Target="../media/image-14-3.png"/><Relationship Id="rId8" Type="http://schemas.openxmlformats.org/officeDocument/2006/relationships/image" Target="../media/image-14-3.png"/><Relationship Id="rId9" Type="http://schemas.openxmlformats.org/officeDocument/2006/relationships/image" Target="../media/image-14-3.png"/><Relationship Id="rId10" Type="http://schemas.openxmlformats.org/officeDocument/2006/relationships/image" Target="../media/image-14-3.png"/><Relationship Id="rId11" Type="http://schemas.openxmlformats.org/officeDocument/2006/relationships/image" Target="../media/image-14-2.png"/><Relationship Id="rId12" Type="http://schemas.openxmlformats.org/officeDocument/2006/relationships/slideLayout" Target="../slideLayouts/slideLayout1.xml"/><Relationship Id="rId1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3.png"/><Relationship Id="rId5" Type="http://schemas.openxmlformats.org/officeDocument/2006/relationships/image" Target="../media/image-15-2.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3.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2.png"/><Relationship Id="rId4" Type="http://schemas.openxmlformats.org/officeDocument/2006/relationships/image" Target="../media/image-17-1.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1.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2.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3.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2.png"/><Relationship Id="rId4" Type="http://schemas.openxmlformats.org/officeDocument/2006/relationships/image" Target="../media/image-21-1.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3.png"/><Relationship Id="rId5" Type="http://schemas.openxmlformats.org/officeDocument/2006/relationships/image" Target="../media/image-22-2.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2.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3.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2.png"/><Relationship Id="rId4" Type="http://schemas.openxmlformats.org/officeDocument/2006/relationships/image" Target="../media/image-25-1.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2.png"/><Relationship Id="rId4" Type="http://schemas.openxmlformats.org/officeDocument/2006/relationships/image" Target="../media/image-26-1.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1.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4.png"/><Relationship Id="rId6" Type="http://schemas.openxmlformats.org/officeDocument/2006/relationships/image" Target="../media/image-28-4.png"/><Relationship Id="rId7" Type="http://schemas.openxmlformats.org/officeDocument/2006/relationships/image" Target="../media/image-28-3.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3.png"/><Relationship Id="rId6" Type="http://schemas.openxmlformats.org/officeDocument/2006/relationships/slideLayout" Target="../slideLayouts/slideLayout1.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3.png"/><Relationship Id="rId5" Type="http://schemas.openxmlformats.org/officeDocument/2006/relationships/image" Target="../media/image-30-2.png"/><Relationship Id="rId6" Type="http://schemas.openxmlformats.org/officeDocument/2006/relationships/slideLayout" Target="../slideLayouts/slideLayout1.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2.png"/><Relationship Id="rId4" Type="http://schemas.openxmlformats.org/officeDocument/2006/relationships/image" Target="../media/image-31-1.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2.png"/><Relationship Id="rId4" Type="http://schemas.openxmlformats.org/officeDocument/2006/relationships/slideLayout" Target="../slideLayouts/slideLayout1.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3.png"/><Relationship Id="rId5" Type="http://schemas.openxmlformats.org/officeDocument/2006/relationships/image" Target="../media/image-33-2.png"/><Relationship Id="rId6" Type="http://schemas.openxmlformats.org/officeDocument/2006/relationships/slideLayout" Target="../slideLayouts/slideLayout1.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1.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3.png"/><Relationship Id="rId6" Type="http://schemas.openxmlformats.org/officeDocument/2006/relationships/slideLayout" Target="../slideLayouts/slideLayout1.xml"/><Relationship Id="rId7"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2.png"/><Relationship Id="rId4" Type="http://schemas.openxmlformats.org/officeDocument/2006/relationships/image" Target="../media/image-36-1.png"/><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1.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2.png"/><Relationship Id="rId4" Type="http://schemas.openxmlformats.org/officeDocument/2006/relationships/slideLayout" Target="../slideLayouts/slideLayout1.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2.png"/><Relationship Id="rId4" Type="http://schemas.openxmlformats.org/officeDocument/2006/relationships/image" Target="../media/image-39-1.png"/><Relationship Id="rId5" Type="http://schemas.openxmlformats.org/officeDocument/2006/relationships/slideLayout" Target="../slideLayouts/slideLayout1.xml"/><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2.png"/><Relationship Id="rId4" Type="http://schemas.openxmlformats.org/officeDocument/2006/relationships/slideLayout" Target="../slideLayouts/slideLayout1.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4.png"/><Relationship Id="rId6" Type="http://schemas.openxmlformats.org/officeDocument/2006/relationships/image" Target="../media/image-41-4.png"/><Relationship Id="rId7" Type="http://schemas.openxmlformats.org/officeDocument/2006/relationships/image" Target="../media/image-41-3.png"/><Relationship Id="rId8" Type="http://schemas.openxmlformats.org/officeDocument/2006/relationships/slideLayout" Target="../slideLayouts/slideLayout1.xml"/><Relationship Id="rId9"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2.png"/><Relationship Id="rId4" Type="http://schemas.openxmlformats.org/officeDocument/2006/relationships/slideLayout" Target="../slideLayouts/slideLayout1.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1.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1.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3.png"/><Relationship Id="rId5" Type="http://schemas.openxmlformats.org/officeDocument/2006/relationships/image" Target="../media/image-45-2.png"/><Relationship Id="rId6" Type="http://schemas.openxmlformats.org/officeDocument/2006/relationships/slideLayout" Target="../slideLayouts/slideLayout1.xml"/><Relationship Id="rId7"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2.png"/><Relationship Id="rId4" Type="http://schemas.openxmlformats.org/officeDocument/2006/relationships/image" Target="../media/image-46-1.png"/><Relationship Id="rId5" Type="http://schemas.openxmlformats.org/officeDocument/2006/relationships/slideLayout" Target="../slideLayouts/slideLayout1.xml"/><Relationship Id="rId6"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3.png"/><Relationship Id="rId5" Type="http://schemas.openxmlformats.org/officeDocument/2006/relationships/image" Target="../media/image-47-3.png"/><Relationship Id="rId6" Type="http://schemas.openxmlformats.org/officeDocument/2006/relationships/image" Target="../media/image-47-3.png"/><Relationship Id="rId7" Type="http://schemas.openxmlformats.org/officeDocument/2006/relationships/image" Target="../media/image-47-3.png"/><Relationship Id="rId8" Type="http://schemas.openxmlformats.org/officeDocument/2006/relationships/image" Target="../media/image-47-3.png"/><Relationship Id="rId9" Type="http://schemas.openxmlformats.org/officeDocument/2006/relationships/image" Target="../media/image-47-2.png"/><Relationship Id="rId10" Type="http://schemas.openxmlformats.org/officeDocument/2006/relationships/slideLayout" Target="../slideLayouts/slideLayout1.xml"/><Relationship Id="rId11"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2.png"/><Relationship Id="rId4" Type="http://schemas.openxmlformats.org/officeDocument/2006/relationships/slideLayout" Target="../slideLayouts/slideLayout1.xml"/><Relationship Id="rId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4.png"/><Relationship Id="rId6" Type="http://schemas.openxmlformats.org/officeDocument/2006/relationships/slideLayout" Target="../slideLayouts/slideLayout1.xml"/><Relationship Id="rId7"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30328"/>
        </a:solidFill>
      </p:bgPr>
    </p:bg>
    <p:spTree>
      <p:nvGrpSpPr>
        <p:cNvPr id="1" name=""/>
        <p:cNvGrpSpPr/>
        <p:nvPr/>
      </p:nvGrpSpPr>
      <p:grpSpPr>
        <a:xfrm>
          <a:off x="0" y="0"/>
          <a:ext cx="0" cy="0"/>
          <a:chOff x="0" y="0"/>
          <a:chExt cx="0" cy="0"/>
        </a:xfrm>
      </p:grpSpPr>
      <p:pic>
        <p:nvPicPr>
          <p:cNvPr id="2" name="Image 0" descr="assets/ULC_Fabric_Gradient.png">    </p:cNvPr>
          <p:cNvPicPr>
            <a:picLocks noChangeAspect="1"/>
          </p:cNvPicPr>
          <p:nvPr/>
        </p:nvPicPr>
        <p:blipFill>
          <a:blip r:embed="rId1">
            <a:alphaModFix amt="68000"/>
          </a:blip>
          <a:stretch>
            <a:fillRect/>
          </a:stretch>
        </p:blipFill>
        <p:spPr>
          <a:xfrm>
            <a:off x="-320040" y="-320040"/>
            <a:ext cx="4114800" cy="4114800"/>
          </a:xfrm>
          <a:prstGeom prst="rect">
            <a:avLst/>
          </a:prstGeom>
        </p:spPr>
      </p:pic>
      <p:pic>
        <p:nvPicPr>
          <p:cNvPr id="3" name="Image 1" descr="assets/BRC_Fabric_Gradient.png">    </p:cNvPr>
          <p:cNvPicPr>
            <a:picLocks noChangeAspect="1"/>
          </p:cNvPicPr>
          <p:nvPr/>
        </p:nvPicPr>
        <p:blipFill>
          <a:blip r:embed="rId2">
            <a:alphaModFix amt="54000"/>
          </a:blip>
          <a:stretch>
            <a:fillRect/>
          </a:stretch>
        </p:blipFill>
        <p:spPr>
          <a:xfrm>
            <a:off x="8808415" y="2697480"/>
            <a:ext cx="3657600" cy="3657600"/>
          </a:xfrm>
          <a:prstGeom prst="rect">
            <a:avLst/>
          </a:prstGeom>
        </p:spPr>
      </p:pic>
      <p:sp>
        <p:nvSpPr>
          <p:cNvPr id="4" name="Shape 0"/>
          <p:cNvSpPr/>
          <p:nvPr/>
        </p:nvSpPr>
        <p:spPr>
          <a:xfrm>
            <a:off x="0" y="5989320"/>
            <a:ext cx="12191695" cy="868680"/>
          </a:xfrm>
          <a:prstGeom prst="rect">
            <a:avLst/>
          </a:prstGeom>
          <a:solidFill>
            <a:srgbClr val="030328"/>
          </a:solidFill>
          <a:ln/>
        </p:spPr>
      </p:sp>
      <p:pic>
        <p:nvPicPr>
          <p:cNvPr id="5" name="Image 2" descr="assets/logo-snyk-white.png">    </p:cNvPr>
          <p:cNvPicPr>
            <a:picLocks noChangeAspect="1"/>
          </p:cNvPicPr>
          <p:nvPr/>
        </p:nvPicPr>
        <p:blipFill>
          <a:blip r:embed="rId3"/>
          <a:stretch>
            <a:fillRect/>
          </a:stretch>
        </p:blipFill>
        <p:spPr>
          <a:xfrm>
            <a:off x="4952848" y="960120"/>
            <a:ext cx="2286000" cy="795528"/>
          </a:xfrm>
          <a:prstGeom prst="rect">
            <a:avLst/>
          </a:prstGeom>
        </p:spPr>
      </p:pic>
      <p:sp>
        <p:nvSpPr>
          <p:cNvPr id="6" name="Text 1"/>
          <p:cNvSpPr/>
          <p:nvPr/>
        </p:nvSpPr>
        <p:spPr>
          <a:xfrm>
            <a:off x="508406" y="2148840"/>
            <a:ext cx="11174882" cy="274320"/>
          </a:xfrm>
          <a:prstGeom prst="rect">
            <a:avLst/>
          </a:prstGeom>
          <a:noFill/>
          <a:ln/>
        </p:spPr>
        <p:txBody>
          <a:bodyPr wrap="square" lIns="0" tIns="0" rIns="0" bIns="0" rtlCol="0" anchor="ctr"/>
          <a:lstStyle/>
          <a:p>
            <a:pPr algn="ctr" indent="0" marL="0">
              <a:buNone/>
            </a:pPr>
            <a:r>
              <a:rPr lang="en-US" sz="1100" b="1" spc="300" kern="0" dirty="0">
                <a:solidFill>
                  <a:srgbClr val="8A8AA3"/>
                </a:solidFill>
                <a:latin typeface="Geist Mono" pitchFamily="34" charset="0"/>
                <a:ea typeface="Geist Mono" pitchFamily="34" charset="-122"/>
                <a:cs typeface="Geist Mono" pitchFamily="34" charset="-120"/>
              </a:rPr>
              <a:t>DEVELOPER ENABLEMENT · V3.0 · AUGUST 2026</a:t>
            </a:r>
            <a:endParaRPr lang="en-US" sz="1100" dirty="0"/>
          </a:p>
        </p:txBody>
      </p:sp>
      <p:sp>
        <p:nvSpPr>
          <p:cNvPr id="7" name="Text 2"/>
          <p:cNvSpPr/>
          <p:nvPr/>
        </p:nvSpPr>
        <p:spPr>
          <a:xfrm>
            <a:off x="1005840" y="2542032"/>
            <a:ext cx="10180015" cy="1600200"/>
          </a:xfrm>
          <a:prstGeom prst="rect">
            <a:avLst/>
          </a:prstGeom>
          <a:noFill/>
          <a:ln/>
        </p:spPr>
        <p:txBody>
          <a:bodyPr wrap="square" lIns="0" tIns="0" rIns="0" bIns="0" rtlCol="0" anchor="ctr"/>
          <a:lstStyle/>
          <a:p>
            <a:pPr algn="ctr" indent="0" marL="0">
              <a:lnSpc>
                <a:spcPts val="5400"/>
              </a:lnSpc>
              <a:buNone/>
            </a:pPr>
            <a:r>
              <a:rPr lang="en-US" sz="5200" b="1" spc="-160" kern="0" dirty="0">
                <a:solidFill>
                  <a:srgbClr val="FFFFFF"/>
                </a:solidFill>
                <a:latin typeface="Geist" pitchFamily="34" charset="0"/>
                <a:ea typeface="Geist" pitchFamily="34" charset="-122"/>
                <a:cs typeface="Geist" pitchFamily="34" charset="-120"/>
              </a:rPr>
              <a:t>Introduction to Snyk</a:t>
            </a:r>
            <a:endParaRPr lang="en-US" sz="5200" dirty="0"/>
          </a:p>
          <a:p>
            <a:pPr algn="ctr" indent="0" marL="0">
              <a:lnSpc>
                <a:spcPts val="5400"/>
              </a:lnSpc>
              <a:buNone/>
            </a:pPr>
            <a:r>
              <a:rPr lang="en-US" sz="5200" b="1" spc="-160" kern="0" dirty="0">
                <a:solidFill>
                  <a:srgbClr val="FFFFFF"/>
                </a:solidFill>
                <a:latin typeface="Geist" pitchFamily="34" charset="0"/>
                <a:ea typeface="Geist" pitchFamily="34" charset="-122"/>
                <a:cs typeface="Geist" pitchFamily="34" charset="-120"/>
              </a:rPr>
              <a:t>for Developers</a:t>
            </a:r>
            <a:endParaRPr lang="en-US" sz="5200" dirty="0"/>
          </a:p>
        </p:txBody>
      </p:sp>
      <p:pic>
        <p:nvPicPr>
          <p:cNvPr id="8" name="Image 3" descr="assets/grad_bar_h.png">    </p:cNvPr>
          <p:cNvPicPr>
            <a:picLocks noChangeAspect="1"/>
          </p:cNvPicPr>
          <p:nvPr/>
        </p:nvPicPr>
        <p:blipFill>
          <a:blip r:embed="rId4"/>
          <a:stretch>
            <a:fillRect/>
          </a:stretch>
        </p:blipFill>
        <p:spPr>
          <a:xfrm>
            <a:off x="4632808" y="4224528"/>
            <a:ext cx="2926080" cy="41148"/>
          </a:xfrm>
          <a:prstGeom prst="rect">
            <a:avLst/>
          </a:prstGeom>
        </p:spPr>
      </p:pic>
      <p:sp>
        <p:nvSpPr>
          <p:cNvPr id="9" name="Text 3"/>
          <p:cNvSpPr/>
          <p:nvPr/>
        </p:nvSpPr>
        <p:spPr>
          <a:xfrm>
            <a:off x="2148840" y="4498848"/>
            <a:ext cx="7894015" cy="822960"/>
          </a:xfrm>
          <a:prstGeom prst="rect">
            <a:avLst/>
          </a:prstGeom>
          <a:noFill/>
          <a:ln/>
        </p:spPr>
        <p:txBody>
          <a:bodyPr wrap="square" lIns="0" tIns="0" rIns="0" bIns="0" rtlCol="0" anchor="ctr"/>
          <a:lstStyle/>
          <a:p>
            <a:pPr algn="ctr" indent="0" marL="0">
              <a:lnSpc>
                <a:spcPts val="2200"/>
              </a:lnSpc>
              <a:buNone/>
            </a:pPr>
            <a:r>
              <a:rPr lang="en-US" sz="1400" dirty="0">
                <a:solidFill>
                  <a:srgbClr val="B8B8CC"/>
                </a:solidFill>
                <a:latin typeface="Geist" pitchFamily="34" charset="0"/>
                <a:ea typeface="Geist" pitchFamily="34" charset="-122"/>
                <a:cs typeface="Geist" pitchFamily="34" charset="-120"/>
              </a:rPr>
              <a:t>Hands-on with OWASP Juice Shop — Node.js and TypeScript. Find issues in the IDE, fix them with and without AI, and gate them at the pull request.</a:t>
            </a:r>
            <a:endParaRPr lang="en-US" sz="1400" dirty="0"/>
          </a:p>
        </p:txBody>
      </p:sp>
      <p:sp>
        <p:nvSpPr>
          <p:cNvPr id="10" name="Text 4"/>
          <p:cNvSpPr/>
          <p:nvPr/>
        </p:nvSpPr>
        <p:spPr>
          <a:xfrm>
            <a:off x="508406" y="5440680"/>
            <a:ext cx="11174882" cy="274320"/>
          </a:xfrm>
          <a:prstGeom prst="rect">
            <a:avLst/>
          </a:prstGeom>
          <a:noFill/>
          <a:ln/>
        </p:spPr>
        <p:txBody>
          <a:bodyPr wrap="square" lIns="0" tIns="0" rIns="0" bIns="0" rtlCol="0" anchor="ctr"/>
          <a:lstStyle/>
          <a:p>
            <a:pPr algn="ctr" indent="0" marL="0">
              <a:buNone/>
            </a:pPr>
            <a:r>
              <a:rPr lang="en-US" sz="1000" spc="140" kern="0" dirty="0">
                <a:solidFill>
                  <a:srgbClr val="5C5C78"/>
                </a:solidFill>
                <a:latin typeface="Geist Mono" pitchFamily="34" charset="0"/>
                <a:ea typeface="Geist Mono" pitchFamily="34" charset="-122"/>
                <a:cs typeface="Geist Mono" pitchFamily="34" charset="-120"/>
              </a:rPr>
              <a:t>juice-shop   ·   github.com/lmaeda/juice-shop   ·   branch: ai-agent-snyk-fix-training</a:t>
            </a:r>
            <a:endParaRPr lang="en-US" sz="1000" dirty="0"/>
          </a:p>
        </p:txBody>
      </p:sp>
      <p:sp>
        <p:nvSpPr>
          <p:cNvPr id="11" name="Shape 5"/>
          <p:cNvSpPr/>
          <p:nvPr/>
        </p:nvSpPr>
        <p:spPr>
          <a:xfrm>
            <a:off x="508406" y="6245352"/>
            <a:ext cx="11174882" cy="10973"/>
          </a:xfrm>
          <a:prstGeom prst="rect">
            <a:avLst/>
          </a:prstGeom>
          <a:solidFill>
            <a:srgbClr val="FFFFFF">
              <a:alpha val="12000"/>
            </a:srgbClr>
          </a:solidFill>
          <a:ln/>
        </p:spPr>
      </p:sp>
      <p:pic>
        <p:nvPicPr>
          <p:cNvPr id="12" name="Image 4" descr="assets/logo-snyk-white.png">    </p:cNvPr>
          <p:cNvPicPr>
            <a:picLocks noChangeAspect="1"/>
          </p:cNvPicPr>
          <p:nvPr/>
        </p:nvPicPr>
        <p:blipFill>
          <a:blip r:embed="rId5"/>
          <a:stretch>
            <a:fillRect/>
          </a:stretch>
        </p:blipFill>
        <p:spPr>
          <a:xfrm>
            <a:off x="508406" y="6336792"/>
            <a:ext cx="621792" cy="219456"/>
          </a:xfrm>
          <a:prstGeom prst="rect">
            <a:avLst/>
          </a:prstGeom>
        </p:spPr>
      </p:pic>
      <p:sp>
        <p:nvSpPr>
          <p:cNvPr id="13" name="Text 6"/>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Intro to Snyk for Developers</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COURSE OBJECTIVE</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11174882" cy="914400"/>
          </a:xfrm>
          <a:prstGeom prst="rect">
            <a:avLst/>
          </a:prstGeom>
          <a:noFill/>
          <a:ln/>
        </p:spPr>
        <p:txBody>
          <a:bodyPr wrap="square" lIns="0" tIns="0" rIns="0" bIns="0" rtlCol="0" anchor="t"/>
          <a:lstStyle/>
          <a:p>
            <a:pPr indent="0" marL="0">
              <a:lnSpc>
                <a:spcPts val="3300"/>
              </a:lnSpc>
              <a:buNone/>
            </a:pPr>
            <a:r>
              <a:rPr lang="en-US" sz="3200" b="1" spc="-100" kern="0" dirty="0">
                <a:solidFill>
                  <a:srgbClr val="FFFFFF"/>
                </a:solidFill>
                <a:latin typeface="Geist" pitchFamily="34" charset="0"/>
                <a:ea typeface="Geist" pitchFamily="34" charset="-122"/>
                <a:cs typeface="Geist" pitchFamily="34" charset="-120"/>
              </a:rPr>
              <a:t>What you'll be able to do by the end</a:t>
            </a:r>
            <a:endParaRPr lang="en-US" sz="3200" dirty="0"/>
          </a:p>
        </p:txBody>
      </p:sp>
      <p:sp>
        <p:nvSpPr>
          <p:cNvPr id="7" name="Text 3"/>
          <p:cNvSpPr/>
          <p:nvPr/>
        </p:nvSpPr>
        <p:spPr>
          <a:xfrm>
            <a:off x="508406" y="1847088"/>
            <a:ext cx="9326880" cy="457200"/>
          </a:xfrm>
          <a:prstGeom prst="rect">
            <a:avLst/>
          </a:prstGeom>
          <a:noFill/>
          <a:ln/>
        </p:spPr>
        <p:txBody>
          <a:bodyPr wrap="square" lIns="0" tIns="0" rIns="0" bIns="0" rtlCol="0" anchor="ctr"/>
          <a:lstStyle/>
          <a:p>
            <a:pPr indent="0" marL="0">
              <a:lnSpc>
                <a:spcPts val="2000"/>
              </a:lnSpc>
              <a:buNone/>
            </a:pPr>
            <a:r>
              <a:rPr lang="en-US" sz="1300" dirty="0">
                <a:solidFill>
                  <a:srgbClr val="8A8AA3"/>
                </a:solidFill>
                <a:latin typeface="Geist" pitchFamily="34" charset="0"/>
                <a:ea typeface="Geist" pitchFamily="34" charset="-122"/>
                <a:cs typeface="Geist" pitchFamily="34" charset="-120"/>
              </a:rPr>
              <a:t>Five verbs. Everything in this course maps to one of them.</a:t>
            </a:r>
            <a:endParaRPr lang="en-US" sz="1300" dirty="0"/>
          </a:p>
        </p:txBody>
      </p:sp>
      <p:sp>
        <p:nvSpPr>
          <p:cNvPr id="8" name="Text 4"/>
          <p:cNvSpPr/>
          <p:nvPr/>
        </p:nvSpPr>
        <p:spPr>
          <a:xfrm>
            <a:off x="563270" y="2487168"/>
            <a:ext cx="8778240" cy="3456432"/>
          </a:xfrm>
          <a:prstGeom prst="rect">
            <a:avLst/>
          </a:prstGeom>
          <a:noFill/>
          <a:ln/>
        </p:spPr>
        <p:txBody>
          <a:bodyPr wrap="square" lIns="0" tIns="0" rIns="0" bIns="0" rtlCol="0" anchor="t"/>
          <a:lstStyle/>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Scan — run Snyk Open Source, Snyk Code, IaC, Container and Secrets tests from the IDE, the CLI and CI, and read the results.</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Prioritize — use severity, Priority Score, reachability and fixability to decide what to work on first.</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Fix — remediate a dependency CVE and a source-code flaw, manually and with Snyk's AI fix paths.</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Govern — ignore an issue properly: the right mechanism, a real reason, an expiry, and an approval trail.</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Gate — read a Snyk PR check, understand fail conditions, and keep the pipeline honest.</a:t>
            </a:r>
            <a:endParaRPr lang="en-US" sz="1400" dirty="0"/>
          </a:p>
        </p:txBody>
      </p:sp>
      <p:sp>
        <p:nvSpPr>
          <p:cNvPr id="9" name="Shape 5"/>
          <p:cNvSpPr/>
          <p:nvPr/>
        </p:nvSpPr>
        <p:spPr>
          <a:xfrm>
            <a:off x="508406" y="6245352"/>
            <a:ext cx="11174882" cy="10973"/>
          </a:xfrm>
          <a:prstGeom prst="rect">
            <a:avLst/>
          </a:prstGeom>
          <a:solidFill>
            <a:srgbClr val="FFFFFF">
              <a:alpha val="12000"/>
            </a:srgbClr>
          </a:solidFill>
          <a:ln/>
        </p:spPr>
      </p:sp>
      <p:pic>
        <p:nvPicPr>
          <p:cNvPr id="10" name="Image 2" descr="assets/logo-snyk-white.png">    </p:cNvPr>
          <p:cNvPicPr>
            <a:picLocks noChangeAspect="1"/>
          </p:cNvPicPr>
          <p:nvPr/>
        </p:nvPicPr>
        <p:blipFill>
          <a:blip r:embed="rId3"/>
          <a:stretch>
            <a:fillRect/>
          </a:stretch>
        </p:blipFill>
        <p:spPr>
          <a:xfrm>
            <a:off x="508406" y="6336792"/>
            <a:ext cx="621792" cy="219456"/>
          </a:xfrm>
          <a:prstGeom prst="rect">
            <a:avLst/>
          </a:prstGeom>
        </p:spPr>
      </p:pic>
      <p:sp>
        <p:nvSpPr>
          <p:cNvPr id="11" name="Text 6"/>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Intro to Snyk for Developers</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AGENDA</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Seven parts, roughly three hours</a:t>
            </a:r>
            <a:endParaRPr lang="en-US" sz="3000" dirty="0"/>
          </a:p>
        </p:txBody>
      </p:sp>
      <p:sp>
        <p:nvSpPr>
          <p:cNvPr id="7" name="Text 3"/>
          <p:cNvSpPr/>
          <p:nvPr/>
        </p:nvSpPr>
        <p:spPr>
          <a:xfrm>
            <a:off x="508406" y="1783080"/>
            <a:ext cx="9692640" cy="411480"/>
          </a:xfrm>
          <a:prstGeom prst="rect">
            <a:avLst/>
          </a:prstGeom>
          <a:noFill/>
          <a:ln/>
        </p:spPr>
        <p:txBody>
          <a:bodyPr wrap="square" lIns="0" tIns="0" rIns="0" bIns="0" rtlCol="0" anchor="ctr"/>
          <a:lstStyle/>
          <a:p>
            <a:pPr indent="0" marL="0">
              <a:lnSpc>
                <a:spcPts val="1900"/>
              </a:lnSpc>
              <a:buNone/>
            </a:pPr>
            <a:r>
              <a:rPr lang="en-US" sz="1250" dirty="0">
                <a:solidFill>
                  <a:srgbClr val="8A8AA3"/>
                </a:solidFill>
                <a:latin typeface="Geist" pitchFamily="34" charset="0"/>
                <a:ea typeface="Geist" pitchFamily="34" charset="-122"/>
                <a:cs typeface="Geist" pitchFamily="34" charset="-120"/>
              </a:rPr>
              <a:t>Parts 3 to 7 are hands-on. Have your terminal and VS Code open.</a:t>
            </a:r>
            <a:endParaRPr lang="en-US" sz="1250" dirty="0"/>
          </a:p>
        </p:txBody>
      </p:sp>
      <p:sp>
        <p:nvSpPr>
          <p:cNvPr id="8" name="Shape 4"/>
          <p:cNvSpPr/>
          <p:nvPr/>
        </p:nvSpPr>
        <p:spPr>
          <a:xfrm>
            <a:off x="508406" y="2304288"/>
            <a:ext cx="2615413"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9" name="Image 2" descr="assets/grad_bar_v.png">    </p:cNvPr>
          <p:cNvPicPr>
            <a:picLocks noChangeAspect="1"/>
          </p:cNvPicPr>
          <p:nvPr/>
        </p:nvPicPr>
        <p:blipFill>
          <a:blip r:embed="rId3"/>
          <a:stretch>
            <a:fillRect/>
          </a:stretch>
        </p:blipFill>
        <p:spPr>
          <a:xfrm>
            <a:off x="508406" y="2432304"/>
            <a:ext cx="36576" cy="1453896"/>
          </a:xfrm>
          <a:prstGeom prst="rect">
            <a:avLst/>
          </a:prstGeom>
        </p:spPr>
      </p:pic>
      <p:sp>
        <p:nvSpPr>
          <p:cNvPr id="10" name="Text 5"/>
          <p:cNvSpPr/>
          <p:nvPr/>
        </p:nvSpPr>
        <p:spPr>
          <a:xfrm>
            <a:off x="727862" y="2441448"/>
            <a:ext cx="2213077"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01</a:t>
            </a:r>
            <a:endParaRPr lang="en-US" sz="850" dirty="0"/>
          </a:p>
        </p:txBody>
      </p:sp>
      <p:sp>
        <p:nvSpPr>
          <p:cNvPr id="11" name="Text 6"/>
          <p:cNvSpPr/>
          <p:nvPr/>
        </p:nvSpPr>
        <p:spPr>
          <a:xfrm>
            <a:off x="727862" y="2679192"/>
            <a:ext cx="2213077"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Snyk overview</a:t>
            </a:r>
            <a:endParaRPr lang="en-US" sz="1500" dirty="0"/>
          </a:p>
        </p:txBody>
      </p:sp>
      <p:sp>
        <p:nvSpPr>
          <p:cNvPr id="12" name="Text 7"/>
          <p:cNvSpPr/>
          <p:nvPr/>
        </p:nvSpPr>
        <p:spPr>
          <a:xfrm>
            <a:off x="727862" y="2985516"/>
            <a:ext cx="2213077"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What each product scans, and where Snyk sits in your SDLC.</a:t>
            </a:r>
            <a:endParaRPr lang="en-US" sz="1100" dirty="0"/>
          </a:p>
        </p:txBody>
      </p:sp>
      <p:sp>
        <p:nvSpPr>
          <p:cNvPr id="13" name="Shape 8"/>
          <p:cNvSpPr/>
          <p:nvPr/>
        </p:nvSpPr>
        <p:spPr>
          <a:xfrm>
            <a:off x="3361563" y="2304288"/>
            <a:ext cx="2615413"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14" name="Image 3" descr="assets/grad_bar_v.png">    </p:cNvPr>
          <p:cNvPicPr>
            <a:picLocks noChangeAspect="1"/>
          </p:cNvPicPr>
          <p:nvPr/>
        </p:nvPicPr>
        <p:blipFill>
          <a:blip r:embed="rId4"/>
          <a:stretch>
            <a:fillRect/>
          </a:stretch>
        </p:blipFill>
        <p:spPr>
          <a:xfrm>
            <a:off x="3361563" y="2432304"/>
            <a:ext cx="36576" cy="1453896"/>
          </a:xfrm>
          <a:prstGeom prst="rect">
            <a:avLst/>
          </a:prstGeom>
        </p:spPr>
      </p:pic>
      <p:sp>
        <p:nvSpPr>
          <p:cNvPr id="15" name="Text 9"/>
          <p:cNvSpPr/>
          <p:nvPr/>
        </p:nvSpPr>
        <p:spPr>
          <a:xfrm>
            <a:off x="3581019" y="2441448"/>
            <a:ext cx="2213077"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02</a:t>
            </a:r>
            <a:endParaRPr lang="en-US" sz="850" dirty="0"/>
          </a:p>
        </p:txBody>
      </p:sp>
      <p:sp>
        <p:nvSpPr>
          <p:cNvPr id="16" name="Text 10"/>
          <p:cNvSpPr/>
          <p:nvPr/>
        </p:nvSpPr>
        <p:spPr>
          <a:xfrm>
            <a:off x="3581019" y="2679192"/>
            <a:ext cx="2213077"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The Snyk app</a:t>
            </a:r>
            <a:endParaRPr lang="en-US" sz="1500" dirty="0"/>
          </a:p>
        </p:txBody>
      </p:sp>
      <p:sp>
        <p:nvSpPr>
          <p:cNvPr id="17" name="Text 11"/>
          <p:cNvSpPr/>
          <p:nvPr/>
        </p:nvSpPr>
        <p:spPr>
          <a:xfrm>
            <a:off x="3581019" y="2985516"/>
            <a:ext cx="2213077"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Targets, Projects, issue cards, Priority Score, direct vs transitive.</a:t>
            </a:r>
            <a:endParaRPr lang="en-US" sz="1100" dirty="0"/>
          </a:p>
        </p:txBody>
      </p:sp>
      <p:sp>
        <p:nvSpPr>
          <p:cNvPr id="18" name="Shape 12"/>
          <p:cNvSpPr/>
          <p:nvPr/>
        </p:nvSpPr>
        <p:spPr>
          <a:xfrm>
            <a:off x="6214720" y="2304288"/>
            <a:ext cx="2615413"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19" name="Image 4" descr="assets/grad_bar_v.png">    </p:cNvPr>
          <p:cNvPicPr>
            <a:picLocks noChangeAspect="1"/>
          </p:cNvPicPr>
          <p:nvPr/>
        </p:nvPicPr>
        <p:blipFill>
          <a:blip r:embed="rId5"/>
          <a:stretch>
            <a:fillRect/>
          </a:stretch>
        </p:blipFill>
        <p:spPr>
          <a:xfrm>
            <a:off x="6214720" y="2432304"/>
            <a:ext cx="36576" cy="1453896"/>
          </a:xfrm>
          <a:prstGeom prst="rect">
            <a:avLst/>
          </a:prstGeom>
        </p:spPr>
      </p:pic>
      <p:sp>
        <p:nvSpPr>
          <p:cNvPr id="20" name="Text 13"/>
          <p:cNvSpPr/>
          <p:nvPr/>
        </p:nvSpPr>
        <p:spPr>
          <a:xfrm>
            <a:off x="6434176" y="2441448"/>
            <a:ext cx="2213077"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03</a:t>
            </a:r>
            <a:endParaRPr lang="en-US" sz="850" dirty="0"/>
          </a:p>
        </p:txBody>
      </p:sp>
      <p:sp>
        <p:nvSpPr>
          <p:cNvPr id="21" name="Text 14"/>
          <p:cNvSpPr/>
          <p:nvPr/>
        </p:nvSpPr>
        <p:spPr>
          <a:xfrm>
            <a:off x="6434176" y="2679192"/>
            <a:ext cx="2213077"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Git flow + GitHub</a:t>
            </a:r>
            <a:endParaRPr lang="en-US" sz="1500" dirty="0"/>
          </a:p>
        </p:txBody>
      </p:sp>
      <p:sp>
        <p:nvSpPr>
          <p:cNvPr id="22" name="Text 15"/>
          <p:cNvSpPr/>
          <p:nvPr/>
        </p:nvSpPr>
        <p:spPr>
          <a:xfrm>
            <a:off x="6434176" y="2985516"/>
            <a:ext cx="2213077"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Branch, import the repo, wire up the integration.</a:t>
            </a:r>
            <a:endParaRPr lang="en-US" sz="1100" dirty="0"/>
          </a:p>
        </p:txBody>
      </p:sp>
      <p:sp>
        <p:nvSpPr>
          <p:cNvPr id="23" name="Shape 16"/>
          <p:cNvSpPr/>
          <p:nvPr/>
        </p:nvSpPr>
        <p:spPr>
          <a:xfrm>
            <a:off x="9067876" y="2304288"/>
            <a:ext cx="2615413"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24" name="Image 5" descr="assets/grad_bar_v.png">    </p:cNvPr>
          <p:cNvPicPr>
            <a:picLocks noChangeAspect="1"/>
          </p:cNvPicPr>
          <p:nvPr/>
        </p:nvPicPr>
        <p:blipFill>
          <a:blip r:embed="rId6"/>
          <a:stretch>
            <a:fillRect/>
          </a:stretch>
        </p:blipFill>
        <p:spPr>
          <a:xfrm>
            <a:off x="9067876" y="2432304"/>
            <a:ext cx="36576" cy="1453896"/>
          </a:xfrm>
          <a:prstGeom prst="rect">
            <a:avLst/>
          </a:prstGeom>
        </p:spPr>
      </p:pic>
      <p:sp>
        <p:nvSpPr>
          <p:cNvPr id="25" name="Text 17"/>
          <p:cNvSpPr/>
          <p:nvPr/>
        </p:nvSpPr>
        <p:spPr>
          <a:xfrm>
            <a:off x="9287332" y="2441448"/>
            <a:ext cx="2213077"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04</a:t>
            </a:r>
            <a:endParaRPr lang="en-US" sz="850" dirty="0"/>
          </a:p>
        </p:txBody>
      </p:sp>
      <p:sp>
        <p:nvSpPr>
          <p:cNvPr id="26" name="Text 18"/>
          <p:cNvSpPr/>
          <p:nvPr/>
        </p:nvSpPr>
        <p:spPr>
          <a:xfrm>
            <a:off x="9287332" y="2679192"/>
            <a:ext cx="2213077"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Snyk in the IDE</a:t>
            </a:r>
            <a:endParaRPr lang="en-US" sz="1500" dirty="0"/>
          </a:p>
        </p:txBody>
      </p:sp>
      <p:sp>
        <p:nvSpPr>
          <p:cNvPr id="27" name="Text 19"/>
          <p:cNvSpPr/>
          <p:nvPr/>
        </p:nvSpPr>
        <p:spPr>
          <a:xfrm>
            <a:off x="9287332" y="2985516"/>
            <a:ext cx="2213077"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VS Code extension, data flow, Agent Fix.</a:t>
            </a:r>
            <a:endParaRPr lang="en-US" sz="1100" dirty="0"/>
          </a:p>
        </p:txBody>
      </p:sp>
      <p:sp>
        <p:nvSpPr>
          <p:cNvPr id="28" name="Shape 20"/>
          <p:cNvSpPr/>
          <p:nvPr/>
        </p:nvSpPr>
        <p:spPr>
          <a:xfrm>
            <a:off x="508406" y="4251960"/>
            <a:ext cx="2615413"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29" name="Image 6" descr="assets/grad_bar_v.png">    </p:cNvPr>
          <p:cNvPicPr>
            <a:picLocks noChangeAspect="1"/>
          </p:cNvPicPr>
          <p:nvPr/>
        </p:nvPicPr>
        <p:blipFill>
          <a:blip r:embed="rId7"/>
          <a:stretch>
            <a:fillRect/>
          </a:stretch>
        </p:blipFill>
        <p:spPr>
          <a:xfrm>
            <a:off x="508406" y="4379976"/>
            <a:ext cx="36576" cy="1453896"/>
          </a:xfrm>
          <a:prstGeom prst="rect">
            <a:avLst/>
          </a:prstGeom>
        </p:spPr>
      </p:pic>
      <p:sp>
        <p:nvSpPr>
          <p:cNvPr id="30" name="Text 21"/>
          <p:cNvSpPr/>
          <p:nvPr/>
        </p:nvSpPr>
        <p:spPr>
          <a:xfrm>
            <a:off x="727862" y="4389120"/>
            <a:ext cx="2213077"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05</a:t>
            </a:r>
            <a:endParaRPr lang="en-US" sz="850" dirty="0"/>
          </a:p>
        </p:txBody>
      </p:sp>
      <p:sp>
        <p:nvSpPr>
          <p:cNvPr id="31" name="Text 22"/>
          <p:cNvSpPr/>
          <p:nvPr/>
        </p:nvSpPr>
        <p:spPr>
          <a:xfrm>
            <a:off x="727862" y="4626864"/>
            <a:ext cx="2213077"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Snyk in the CLI</a:t>
            </a:r>
            <a:endParaRPr lang="en-US" sz="1500" dirty="0"/>
          </a:p>
        </p:txBody>
      </p:sp>
      <p:sp>
        <p:nvSpPr>
          <p:cNvPr id="32" name="Text 23"/>
          <p:cNvSpPr/>
          <p:nvPr/>
        </p:nvSpPr>
        <p:spPr>
          <a:xfrm>
            <a:off x="727862" y="4933188"/>
            <a:ext cx="2213077"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Install, auth, test, monitor, build the app.</a:t>
            </a:r>
            <a:endParaRPr lang="en-US" sz="1100" dirty="0"/>
          </a:p>
        </p:txBody>
      </p:sp>
      <p:sp>
        <p:nvSpPr>
          <p:cNvPr id="33" name="Shape 24"/>
          <p:cNvSpPr/>
          <p:nvPr/>
        </p:nvSpPr>
        <p:spPr>
          <a:xfrm>
            <a:off x="3361563" y="4251960"/>
            <a:ext cx="2615413"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34" name="Image 7" descr="assets/grad_bar_v.png">    </p:cNvPr>
          <p:cNvPicPr>
            <a:picLocks noChangeAspect="1"/>
          </p:cNvPicPr>
          <p:nvPr/>
        </p:nvPicPr>
        <p:blipFill>
          <a:blip r:embed="rId8"/>
          <a:stretch>
            <a:fillRect/>
          </a:stretch>
        </p:blipFill>
        <p:spPr>
          <a:xfrm>
            <a:off x="3361563" y="4379976"/>
            <a:ext cx="36576" cy="1453896"/>
          </a:xfrm>
          <a:prstGeom prst="rect">
            <a:avLst/>
          </a:prstGeom>
        </p:spPr>
      </p:pic>
      <p:sp>
        <p:nvSpPr>
          <p:cNvPr id="35" name="Text 25"/>
          <p:cNvSpPr/>
          <p:nvPr/>
        </p:nvSpPr>
        <p:spPr>
          <a:xfrm>
            <a:off x="3581019" y="4389120"/>
            <a:ext cx="2213077"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06</a:t>
            </a:r>
            <a:endParaRPr lang="en-US" sz="850" dirty="0"/>
          </a:p>
        </p:txBody>
      </p:sp>
      <p:sp>
        <p:nvSpPr>
          <p:cNvPr id="36" name="Text 26"/>
          <p:cNvSpPr/>
          <p:nvPr/>
        </p:nvSpPr>
        <p:spPr>
          <a:xfrm>
            <a:off x="3581019" y="4626864"/>
            <a:ext cx="2213077"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Ignores + approvals</a:t>
            </a:r>
            <a:endParaRPr lang="en-US" sz="1500" dirty="0"/>
          </a:p>
        </p:txBody>
      </p:sp>
      <p:sp>
        <p:nvSpPr>
          <p:cNvPr id="37" name="Text 27"/>
          <p:cNvSpPr/>
          <p:nvPr/>
        </p:nvSpPr>
        <p:spPr>
          <a:xfrm>
            <a:off x="3581019" y="4933188"/>
            <a:ext cx="2213077"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Two mechanisms, and the approval workflow that makes them safe.</a:t>
            </a:r>
            <a:endParaRPr lang="en-US" sz="1100" dirty="0"/>
          </a:p>
        </p:txBody>
      </p:sp>
      <p:sp>
        <p:nvSpPr>
          <p:cNvPr id="38" name="Shape 28"/>
          <p:cNvSpPr/>
          <p:nvPr/>
        </p:nvSpPr>
        <p:spPr>
          <a:xfrm>
            <a:off x="6214720" y="4251960"/>
            <a:ext cx="2615413"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39" name="Image 8" descr="assets/grad_bar_v.png">    </p:cNvPr>
          <p:cNvPicPr>
            <a:picLocks noChangeAspect="1"/>
          </p:cNvPicPr>
          <p:nvPr/>
        </p:nvPicPr>
        <p:blipFill>
          <a:blip r:embed="rId9"/>
          <a:stretch>
            <a:fillRect/>
          </a:stretch>
        </p:blipFill>
        <p:spPr>
          <a:xfrm>
            <a:off x="6214720" y="4379976"/>
            <a:ext cx="36576" cy="1453896"/>
          </a:xfrm>
          <a:prstGeom prst="rect">
            <a:avLst/>
          </a:prstGeom>
        </p:spPr>
      </p:pic>
      <p:sp>
        <p:nvSpPr>
          <p:cNvPr id="40" name="Text 29"/>
          <p:cNvSpPr/>
          <p:nvPr/>
        </p:nvSpPr>
        <p:spPr>
          <a:xfrm>
            <a:off x="6434176" y="4389120"/>
            <a:ext cx="2213077"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07</a:t>
            </a:r>
            <a:endParaRPr lang="en-US" sz="850" dirty="0"/>
          </a:p>
        </p:txBody>
      </p:sp>
      <p:sp>
        <p:nvSpPr>
          <p:cNvPr id="41" name="Text 30"/>
          <p:cNvSpPr/>
          <p:nvPr/>
        </p:nvSpPr>
        <p:spPr>
          <a:xfrm>
            <a:off x="6434176" y="4626864"/>
            <a:ext cx="2213077"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Fix + PR checks</a:t>
            </a:r>
            <a:endParaRPr lang="en-US" sz="1500" dirty="0"/>
          </a:p>
        </p:txBody>
      </p:sp>
      <p:sp>
        <p:nvSpPr>
          <p:cNvPr id="42" name="Text 31"/>
          <p:cNvSpPr/>
          <p:nvPr/>
        </p:nvSpPr>
        <p:spPr>
          <a:xfrm>
            <a:off x="6434176" y="4933188"/>
            <a:ext cx="2213077"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/snyk-fix, the Remediation Agent, and the gate.</a:t>
            </a:r>
            <a:endParaRPr lang="en-US" sz="1100" dirty="0"/>
          </a:p>
        </p:txBody>
      </p:sp>
      <p:sp>
        <p:nvSpPr>
          <p:cNvPr id="43" name="Shape 32"/>
          <p:cNvSpPr/>
          <p:nvPr/>
        </p:nvSpPr>
        <p:spPr>
          <a:xfrm>
            <a:off x="9067876" y="4251960"/>
            <a:ext cx="2615413"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44" name="Image 9" descr="assets/grad_bar_v.png">    </p:cNvPr>
          <p:cNvPicPr>
            <a:picLocks noChangeAspect="1"/>
          </p:cNvPicPr>
          <p:nvPr/>
        </p:nvPicPr>
        <p:blipFill>
          <a:blip r:embed="rId10"/>
          <a:stretch>
            <a:fillRect/>
          </a:stretch>
        </p:blipFill>
        <p:spPr>
          <a:xfrm>
            <a:off x="9067876" y="4379976"/>
            <a:ext cx="36576" cy="1453896"/>
          </a:xfrm>
          <a:prstGeom prst="rect">
            <a:avLst/>
          </a:prstGeom>
        </p:spPr>
      </p:pic>
      <p:sp>
        <p:nvSpPr>
          <p:cNvPr id="45" name="Text 33"/>
          <p:cNvSpPr/>
          <p:nvPr/>
        </p:nvSpPr>
        <p:spPr>
          <a:xfrm>
            <a:off x="9287332" y="4389120"/>
            <a:ext cx="2213077"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LABS</a:t>
            </a:r>
            <a:endParaRPr lang="en-US" sz="850" dirty="0"/>
          </a:p>
        </p:txBody>
      </p:sp>
      <p:sp>
        <p:nvSpPr>
          <p:cNvPr id="46" name="Text 34"/>
          <p:cNvSpPr/>
          <p:nvPr/>
        </p:nvSpPr>
        <p:spPr>
          <a:xfrm>
            <a:off x="9287332" y="4626864"/>
            <a:ext cx="2213077"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Six exercises</a:t>
            </a:r>
            <a:endParaRPr lang="en-US" sz="1500" dirty="0"/>
          </a:p>
        </p:txBody>
      </p:sp>
      <p:sp>
        <p:nvSpPr>
          <p:cNvPr id="47" name="Text 35"/>
          <p:cNvSpPr/>
          <p:nvPr/>
        </p:nvSpPr>
        <p:spPr>
          <a:xfrm>
            <a:off x="9287332" y="4933188"/>
            <a:ext cx="2213077"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Full steps in DEVELOPER_TRAINING.md in the repo root.</a:t>
            </a:r>
            <a:endParaRPr lang="en-US" sz="1100" dirty="0"/>
          </a:p>
        </p:txBody>
      </p:sp>
      <p:sp>
        <p:nvSpPr>
          <p:cNvPr id="48" name="Shape 36"/>
          <p:cNvSpPr/>
          <p:nvPr/>
        </p:nvSpPr>
        <p:spPr>
          <a:xfrm>
            <a:off x="508406" y="6245352"/>
            <a:ext cx="11174882" cy="10973"/>
          </a:xfrm>
          <a:prstGeom prst="rect">
            <a:avLst/>
          </a:prstGeom>
          <a:solidFill>
            <a:srgbClr val="FFFFFF">
              <a:alpha val="12000"/>
            </a:srgbClr>
          </a:solidFill>
          <a:ln/>
        </p:spPr>
      </p:sp>
      <p:pic>
        <p:nvPicPr>
          <p:cNvPr id="49" name="Image 10" descr="assets/logo-snyk-white.png">    </p:cNvPr>
          <p:cNvPicPr>
            <a:picLocks noChangeAspect="1"/>
          </p:cNvPicPr>
          <p:nvPr/>
        </p:nvPicPr>
        <p:blipFill>
          <a:blip r:embed="rId11"/>
          <a:stretch>
            <a:fillRect/>
          </a:stretch>
        </p:blipFill>
        <p:spPr>
          <a:xfrm>
            <a:off x="508406" y="6336792"/>
            <a:ext cx="621792" cy="219456"/>
          </a:xfrm>
          <a:prstGeom prst="rect">
            <a:avLst/>
          </a:prstGeom>
        </p:spPr>
      </p:pic>
      <p:sp>
        <p:nvSpPr>
          <p:cNvPr id="50" name="Text 37"/>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Intro to Snyk for Developers</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30328"/>
        </a:solidFill>
      </p:bgPr>
    </p:bg>
    <p:spTree>
      <p:nvGrpSpPr>
        <p:cNvPr id="1" name=""/>
        <p:cNvGrpSpPr/>
        <p:nvPr/>
      </p:nvGrpSpPr>
      <p:grpSpPr>
        <a:xfrm>
          <a:off x="0" y="0"/>
          <a:ext cx="0" cy="0"/>
          <a:chOff x="0" y="0"/>
          <a:chExt cx="0" cy="0"/>
        </a:xfrm>
      </p:grpSpPr>
      <p:pic>
        <p:nvPicPr>
          <p:cNvPr id="2" name="Image 0" descr="assets/ULC_Fabric_Gradient.png">    </p:cNvPr>
          <p:cNvPicPr>
            <a:picLocks noChangeAspect="1"/>
          </p:cNvPicPr>
          <p:nvPr/>
        </p:nvPicPr>
        <p:blipFill>
          <a:blip r:embed="rId1">
            <a:alphaModFix amt="68000"/>
          </a:blip>
          <a:stretch>
            <a:fillRect/>
          </a:stretch>
        </p:blipFill>
        <p:spPr>
          <a:xfrm>
            <a:off x="-320040" y="-320040"/>
            <a:ext cx="4114800" cy="4114800"/>
          </a:xfrm>
          <a:prstGeom prst="rect">
            <a:avLst/>
          </a:prstGeom>
        </p:spPr>
      </p:pic>
      <p:pic>
        <p:nvPicPr>
          <p:cNvPr id="3" name="Image 1" descr="assets/BRC_Fabric_Gradient.png">    </p:cNvPr>
          <p:cNvPicPr>
            <a:picLocks noChangeAspect="1"/>
          </p:cNvPicPr>
          <p:nvPr/>
        </p:nvPicPr>
        <p:blipFill>
          <a:blip r:embed="rId2">
            <a:alphaModFix amt="54000"/>
          </a:blip>
          <a:stretch>
            <a:fillRect/>
          </a:stretch>
        </p:blipFill>
        <p:spPr>
          <a:xfrm>
            <a:off x="8808415" y="2697480"/>
            <a:ext cx="3657600" cy="3657600"/>
          </a:xfrm>
          <a:prstGeom prst="rect">
            <a:avLst/>
          </a:prstGeom>
        </p:spPr>
      </p:pic>
      <p:sp>
        <p:nvSpPr>
          <p:cNvPr id="4" name="Shape 0"/>
          <p:cNvSpPr/>
          <p:nvPr/>
        </p:nvSpPr>
        <p:spPr>
          <a:xfrm>
            <a:off x="0" y="5989320"/>
            <a:ext cx="12191695" cy="868680"/>
          </a:xfrm>
          <a:prstGeom prst="rect">
            <a:avLst/>
          </a:prstGeom>
          <a:solidFill>
            <a:srgbClr val="030328"/>
          </a:solidFill>
          <a:ln/>
        </p:spPr>
      </p:sp>
      <p:sp>
        <p:nvSpPr>
          <p:cNvPr id="5"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PART ONE</a:t>
            </a:r>
            <a:endParaRPr lang="en-US" sz="1050" dirty="0"/>
          </a:p>
        </p:txBody>
      </p:sp>
      <p:pic>
        <p:nvPicPr>
          <p:cNvPr id="6" name="Image 2" descr="assets/logo-snyk-white.png">    </p:cNvPr>
          <p:cNvPicPr>
            <a:picLocks noChangeAspect="1"/>
          </p:cNvPicPr>
          <p:nvPr/>
        </p:nvPicPr>
        <p:blipFill>
          <a:blip r:embed="rId3"/>
          <a:stretch>
            <a:fillRect/>
          </a:stretch>
        </p:blipFill>
        <p:spPr>
          <a:xfrm>
            <a:off x="10796321" y="435254"/>
            <a:ext cx="886968" cy="310896"/>
          </a:xfrm>
          <a:prstGeom prst="rect">
            <a:avLst/>
          </a:prstGeom>
        </p:spPr>
      </p:pic>
      <p:pic>
        <p:nvPicPr>
          <p:cNvPr id="7" name="Image 3" descr="assets/grad_bar_v.png">    </p:cNvPr>
          <p:cNvPicPr>
            <a:picLocks noChangeAspect="1"/>
          </p:cNvPicPr>
          <p:nvPr/>
        </p:nvPicPr>
        <p:blipFill>
          <a:blip r:embed="rId4"/>
          <a:stretch>
            <a:fillRect/>
          </a:stretch>
        </p:blipFill>
        <p:spPr>
          <a:xfrm>
            <a:off x="508406" y="2240280"/>
            <a:ext cx="50292" cy="1691640"/>
          </a:xfrm>
          <a:prstGeom prst="rect">
            <a:avLst/>
          </a:prstGeom>
        </p:spPr>
      </p:pic>
      <p:sp>
        <p:nvSpPr>
          <p:cNvPr id="8" name="Text 2"/>
          <p:cNvSpPr/>
          <p:nvPr/>
        </p:nvSpPr>
        <p:spPr>
          <a:xfrm>
            <a:off x="819302" y="2148840"/>
            <a:ext cx="1828800" cy="640080"/>
          </a:xfrm>
          <a:prstGeom prst="rect">
            <a:avLst/>
          </a:prstGeom>
          <a:noFill/>
          <a:ln/>
        </p:spPr>
        <p:txBody>
          <a:bodyPr wrap="square" lIns="0" tIns="0" rIns="0" bIns="0" rtlCol="0" anchor="ctr"/>
          <a:lstStyle/>
          <a:p>
            <a:pPr indent="0" marL="0">
              <a:buNone/>
            </a:pPr>
            <a:r>
              <a:rPr lang="en-US" sz="2200" b="1" spc="100" kern="0" dirty="0">
                <a:solidFill>
                  <a:srgbClr val="8A8AA3"/>
                </a:solidFill>
                <a:latin typeface="Geist Mono" pitchFamily="34" charset="0"/>
                <a:ea typeface="Geist Mono" pitchFamily="34" charset="-122"/>
                <a:cs typeface="Geist Mono" pitchFamily="34" charset="-120"/>
              </a:rPr>
              <a:t>01</a:t>
            </a:r>
            <a:endParaRPr lang="en-US" sz="2200" dirty="0"/>
          </a:p>
        </p:txBody>
      </p:sp>
      <p:sp>
        <p:nvSpPr>
          <p:cNvPr id="9" name="Text 3"/>
          <p:cNvSpPr/>
          <p:nvPr/>
        </p:nvSpPr>
        <p:spPr>
          <a:xfrm>
            <a:off x="819302" y="2697480"/>
            <a:ext cx="10077602" cy="1280160"/>
          </a:xfrm>
          <a:prstGeom prst="rect">
            <a:avLst/>
          </a:prstGeom>
          <a:noFill/>
          <a:ln/>
        </p:spPr>
        <p:txBody>
          <a:bodyPr wrap="square" lIns="0" tIns="0" rIns="0" bIns="0" rtlCol="0" anchor="ctr"/>
          <a:lstStyle/>
          <a:p>
            <a:pPr indent="0" marL="0">
              <a:lnSpc>
                <a:spcPts val="4800"/>
              </a:lnSpc>
              <a:buNone/>
            </a:pPr>
            <a:r>
              <a:rPr lang="en-US" sz="4600" b="1" spc="-150" kern="0" dirty="0">
                <a:solidFill>
                  <a:srgbClr val="FFFFFF"/>
                </a:solidFill>
                <a:latin typeface="Geist" pitchFamily="34" charset="0"/>
                <a:ea typeface="Geist" pitchFamily="34" charset="-122"/>
                <a:cs typeface="Geist" pitchFamily="34" charset="-120"/>
              </a:rPr>
              <a:t>Snyk overview</a:t>
            </a:r>
            <a:endParaRPr lang="en-US" sz="4600" dirty="0"/>
          </a:p>
        </p:txBody>
      </p:sp>
      <p:sp>
        <p:nvSpPr>
          <p:cNvPr id="10" name="Text 4"/>
          <p:cNvSpPr/>
          <p:nvPr/>
        </p:nvSpPr>
        <p:spPr>
          <a:xfrm>
            <a:off x="819302" y="4041648"/>
            <a:ext cx="6949440" cy="731520"/>
          </a:xfrm>
          <a:prstGeom prst="rect">
            <a:avLst/>
          </a:prstGeom>
          <a:noFill/>
          <a:ln/>
        </p:spPr>
        <p:txBody>
          <a:bodyPr wrap="square" lIns="0" tIns="0" rIns="0" bIns="0" rtlCol="0" anchor="ctr"/>
          <a:lstStyle/>
          <a:p>
            <a:pPr indent="0" marL="0">
              <a:lnSpc>
                <a:spcPts val="2200"/>
              </a:lnSpc>
              <a:buNone/>
            </a:pPr>
            <a:r>
              <a:rPr lang="en-US" sz="1400" dirty="0">
                <a:solidFill>
                  <a:srgbClr val="B8B8CC"/>
                </a:solidFill>
                <a:latin typeface="Geist" pitchFamily="34" charset="0"/>
                <a:ea typeface="Geist" pitchFamily="34" charset="-122"/>
                <a:cs typeface="Geist" pitchFamily="34" charset="-120"/>
              </a:rPr>
              <a:t>Where Snyk fits, and which product answers which question.</a:t>
            </a:r>
            <a:endParaRPr lang="en-US" sz="1400" dirty="0"/>
          </a:p>
        </p:txBody>
      </p:sp>
      <p:sp>
        <p:nvSpPr>
          <p:cNvPr id="11" name="Shape 5"/>
          <p:cNvSpPr/>
          <p:nvPr/>
        </p:nvSpPr>
        <p:spPr>
          <a:xfrm>
            <a:off x="508406" y="6245352"/>
            <a:ext cx="11174882" cy="10973"/>
          </a:xfrm>
          <a:prstGeom prst="rect">
            <a:avLst/>
          </a:prstGeom>
          <a:solidFill>
            <a:srgbClr val="FFFFFF">
              <a:alpha val="12000"/>
            </a:srgbClr>
          </a:solidFill>
          <a:ln/>
        </p:spPr>
      </p:sp>
      <p:pic>
        <p:nvPicPr>
          <p:cNvPr id="12" name="Image 4" descr="assets/logo-snyk-white.png">    </p:cNvPr>
          <p:cNvPicPr>
            <a:picLocks noChangeAspect="1"/>
          </p:cNvPicPr>
          <p:nvPr/>
        </p:nvPicPr>
        <p:blipFill>
          <a:blip r:embed="rId5"/>
          <a:stretch>
            <a:fillRect/>
          </a:stretch>
        </p:blipFill>
        <p:spPr>
          <a:xfrm>
            <a:off x="508406" y="6336792"/>
            <a:ext cx="621792" cy="219456"/>
          </a:xfrm>
          <a:prstGeom prst="rect">
            <a:avLst/>
          </a:prstGeom>
        </p:spPr>
      </p:pic>
      <p:sp>
        <p:nvSpPr>
          <p:cNvPr id="13" name="Text 6"/>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Snyk overview</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THE PLATFORM</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One platform, six questions</a:t>
            </a:r>
            <a:endParaRPr lang="en-US" sz="3000" dirty="0"/>
          </a:p>
        </p:txBody>
      </p:sp>
      <p:sp>
        <p:nvSpPr>
          <p:cNvPr id="7" name="Text 3"/>
          <p:cNvSpPr/>
          <p:nvPr/>
        </p:nvSpPr>
        <p:spPr>
          <a:xfrm>
            <a:off x="508406" y="1783080"/>
            <a:ext cx="9692640" cy="411480"/>
          </a:xfrm>
          <a:prstGeom prst="rect">
            <a:avLst/>
          </a:prstGeom>
          <a:noFill/>
          <a:ln/>
        </p:spPr>
        <p:txBody>
          <a:bodyPr wrap="square" lIns="0" tIns="0" rIns="0" bIns="0" rtlCol="0" anchor="ctr"/>
          <a:lstStyle/>
          <a:p>
            <a:pPr indent="0" marL="0">
              <a:lnSpc>
                <a:spcPts val="1900"/>
              </a:lnSpc>
              <a:buNone/>
            </a:pPr>
            <a:r>
              <a:rPr lang="en-US" sz="1250" dirty="0">
                <a:solidFill>
                  <a:srgbClr val="8A8AA3"/>
                </a:solidFill>
                <a:latin typeface="Geist" pitchFamily="34" charset="0"/>
                <a:ea typeface="Geist" pitchFamily="34" charset="-122"/>
                <a:cs typeface="Geist" pitchFamily="34" charset="-120"/>
              </a:rPr>
              <a:t>This repo exercises the first two heavily and touches every one of the rest.</a:t>
            </a:r>
            <a:endParaRPr lang="en-US" sz="1250" dirty="0"/>
          </a:p>
        </p:txBody>
      </p:sp>
      <p:sp>
        <p:nvSpPr>
          <p:cNvPr id="8" name="Shape 4"/>
          <p:cNvSpPr/>
          <p:nvPr/>
        </p:nvSpPr>
        <p:spPr>
          <a:xfrm>
            <a:off x="508406" y="2304288"/>
            <a:ext cx="3566465"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9" name="Image 2" descr="assets/grad_bar_v.png">    </p:cNvPr>
          <p:cNvPicPr>
            <a:picLocks noChangeAspect="1"/>
          </p:cNvPicPr>
          <p:nvPr/>
        </p:nvPicPr>
        <p:blipFill>
          <a:blip r:embed="rId3"/>
          <a:stretch>
            <a:fillRect/>
          </a:stretch>
        </p:blipFill>
        <p:spPr>
          <a:xfrm>
            <a:off x="508406" y="2432304"/>
            <a:ext cx="36576" cy="1453896"/>
          </a:xfrm>
          <a:prstGeom prst="rect">
            <a:avLst/>
          </a:prstGeom>
        </p:spPr>
      </p:pic>
      <p:sp>
        <p:nvSpPr>
          <p:cNvPr id="10" name="Text 5"/>
          <p:cNvSpPr/>
          <p:nvPr/>
        </p:nvSpPr>
        <p:spPr>
          <a:xfrm>
            <a:off x="727862" y="2441448"/>
            <a:ext cx="3164129"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SCA</a:t>
            </a:r>
            <a:endParaRPr lang="en-US" sz="850" dirty="0"/>
          </a:p>
        </p:txBody>
      </p:sp>
      <p:sp>
        <p:nvSpPr>
          <p:cNvPr id="11" name="Text 6"/>
          <p:cNvSpPr/>
          <p:nvPr/>
        </p:nvSpPr>
        <p:spPr>
          <a:xfrm>
            <a:off x="727862" y="2679192"/>
            <a:ext cx="3164129"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Snyk Open Source</a:t>
            </a:r>
            <a:endParaRPr lang="en-US" sz="1500" dirty="0"/>
          </a:p>
        </p:txBody>
      </p:sp>
      <p:sp>
        <p:nvSpPr>
          <p:cNvPr id="12" name="Text 7"/>
          <p:cNvSpPr/>
          <p:nvPr/>
        </p:nvSpPr>
        <p:spPr>
          <a:xfrm>
            <a:off x="727862" y="2985516"/>
            <a:ext cx="3164129"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Are my dependencies vulnerable? Reads package.json and frontend/package.json, resolves the full tree.</a:t>
            </a:r>
            <a:endParaRPr lang="en-US" sz="1100" dirty="0"/>
          </a:p>
        </p:txBody>
      </p:sp>
      <p:sp>
        <p:nvSpPr>
          <p:cNvPr id="13" name="Shape 8"/>
          <p:cNvSpPr/>
          <p:nvPr/>
        </p:nvSpPr>
        <p:spPr>
          <a:xfrm>
            <a:off x="4312615" y="2304288"/>
            <a:ext cx="3566465"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14" name="Image 3" descr="assets/grad_bar_v.png">    </p:cNvPr>
          <p:cNvPicPr>
            <a:picLocks noChangeAspect="1"/>
          </p:cNvPicPr>
          <p:nvPr/>
        </p:nvPicPr>
        <p:blipFill>
          <a:blip r:embed="rId4"/>
          <a:stretch>
            <a:fillRect/>
          </a:stretch>
        </p:blipFill>
        <p:spPr>
          <a:xfrm>
            <a:off x="4312615" y="2432304"/>
            <a:ext cx="36576" cy="1453896"/>
          </a:xfrm>
          <a:prstGeom prst="rect">
            <a:avLst/>
          </a:prstGeom>
        </p:spPr>
      </p:pic>
      <p:sp>
        <p:nvSpPr>
          <p:cNvPr id="15" name="Text 9"/>
          <p:cNvSpPr/>
          <p:nvPr/>
        </p:nvSpPr>
        <p:spPr>
          <a:xfrm>
            <a:off x="4532071" y="2441448"/>
            <a:ext cx="3164129"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SAST</a:t>
            </a:r>
            <a:endParaRPr lang="en-US" sz="850" dirty="0"/>
          </a:p>
        </p:txBody>
      </p:sp>
      <p:sp>
        <p:nvSpPr>
          <p:cNvPr id="16" name="Text 10"/>
          <p:cNvSpPr/>
          <p:nvPr/>
        </p:nvSpPr>
        <p:spPr>
          <a:xfrm>
            <a:off x="4532071" y="2679192"/>
            <a:ext cx="3164129"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Snyk Code</a:t>
            </a:r>
            <a:endParaRPr lang="en-US" sz="1500" dirty="0"/>
          </a:p>
        </p:txBody>
      </p:sp>
      <p:sp>
        <p:nvSpPr>
          <p:cNvPr id="17" name="Text 11"/>
          <p:cNvSpPr/>
          <p:nvPr/>
        </p:nvSpPr>
        <p:spPr>
          <a:xfrm>
            <a:off x="4532071" y="2985516"/>
            <a:ext cx="3164129"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Is the code I wrote vulnerable? Data-flow tracing on first-party TypeScript, with interfile analysis.</a:t>
            </a:r>
            <a:endParaRPr lang="en-US" sz="1100" dirty="0"/>
          </a:p>
        </p:txBody>
      </p:sp>
      <p:sp>
        <p:nvSpPr>
          <p:cNvPr id="18" name="Shape 12"/>
          <p:cNvSpPr/>
          <p:nvPr/>
        </p:nvSpPr>
        <p:spPr>
          <a:xfrm>
            <a:off x="8116824" y="2304288"/>
            <a:ext cx="3566465"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19" name="Image 4" descr="assets/grad_bar_v.png">    </p:cNvPr>
          <p:cNvPicPr>
            <a:picLocks noChangeAspect="1"/>
          </p:cNvPicPr>
          <p:nvPr/>
        </p:nvPicPr>
        <p:blipFill>
          <a:blip r:embed="rId5"/>
          <a:stretch>
            <a:fillRect/>
          </a:stretch>
        </p:blipFill>
        <p:spPr>
          <a:xfrm>
            <a:off x="8116824" y="2432304"/>
            <a:ext cx="36576" cy="1453896"/>
          </a:xfrm>
          <a:prstGeom prst="rect">
            <a:avLst/>
          </a:prstGeom>
        </p:spPr>
      </p:pic>
      <p:sp>
        <p:nvSpPr>
          <p:cNvPr id="20" name="Text 13"/>
          <p:cNvSpPr/>
          <p:nvPr/>
        </p:nvSpPr>
        <p:spPr>
          <a:xfrm>
            <a:off x="8336280" y="2441448"/>
            <a:ext cx="3164129"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SECRETS</a:t>
            </a:r>
            <a:endParaRPr lang="en-US" sz="850" dirty="0"/>
          </a:p>
        </p:txBody>
      </p:sp>
      <p:sp>
        <p:nvSpPr>
          <p:cNvPr id="21" name="Text 14"/>
          <p:cNvSpPr/>
          <p:nvPr/>
        </p:nvSpPr>
        <p:spPr>
          <a:xfrm>
            <a:off x="8336280" y="2679192"/>
            <a:ext cx="3164129"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Snyk Secrets</a:t>
            </a:r>
            <a:endParaRPr lang="en-US" sz="1500" dirty="0"/>
          </a:p>
        </p:txBody>
      </p:sp>
      <p:sp>
        <p:nvSpPr>
          <p:cNvPr id="22" name="Text 15"/>
          <p:cNvSpPr/>
          <p:nvPr/>
        </p:nvSpPr>
        <p:spPr>
          <a:xfrm>
            <a:off x="8336280" y="2985516"/>
            <a:ext cx="3164129"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Did we commit a key? GA since July 2026 — and this repo has a private key in lib/insecurity.ts.</a:t>
            </a:r>
            <a:endParaRPr lang="en-US" sz="1100" dirty="0"/>
          </a:p>
        </p:txBody>
      </p:sp>
      <p:sp>
        <p:nvSpPr>
          <p:cNvPr id="23" name="Shape 16"/>
          <p:cNvSpPr/>
          <p:nvPr/>
        </p:nvSpPr>
        <p:spPr>
          <a:xfrm>
            <a:off x="508406" y="4251960"/>
            <a:ext cx="3566465"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24" name="Image 5" descr="assets/grad_bar_v.png">    </p:cNvPr>
          <p:cNvPicPr>
            <a:picLocks noChangeAspect="1"/>
          </p:cNvPicPr>
          <p:nvPr/>
        </p:nvPicPr>
        <p:blipFill>
          <a:blip r:embed="rId6"/>
          <a:stretch>
            <a:fillRect/>
          </a:stretch>
        </p:blipFill>
        <p:spPr>
          <a:xfrm>
            <a:off x="508406" y="4379976"/>
            <a:ext cx="36576" cy="1453896"/>
          </a:xfrm>
          <a:prstGeom prst="rect">
            <a:avLst/>
          </a:prstGeom>
        </p:spPr>
      </p:pic>
      <p:sp>
        <p:nvSpPr>
          <p:cNvPr id="25" name="Text 17"/>
          <p:cNvSpPr/>
          <p:nvPr/>
        </p:nvSpPr>
        <p:spPr>
          <a:xfrm>
            <a:off x="727862" y="4389120"/>
            <a:ext cx="3164129"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CONTAINER</a:t>
            </a:r>
            <a:endParaRPr lang="en-US" sz="850" dirty="0"/>
          </a:p>
        </p:txBody>
      </p:sp>
      <p:sp>
        <p:nvSpPr>
          <p:cNvPr id="26" name="Text 18"/>
          <p:cNvSpPr/>
          <p:nvPr/>
        </p:nvSpPr>
        <p:spPr>
          <a:xfrm>
            <a:off x="727862" y="4626864"/>
            <a:ext cx="3164129"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Snyk Container</a:t>
            </a:r>
            <a:endParaRPr lang="en-US" sz="1500" dirty="0"/>
          </a:p>
        </p:txBody>
      </p:sp>
      <p:sp>
        <p:nvSpPr>
          <p:cNvPr id="27" name="Text 19"/>
          <p:cNvSpPr/>
          <p:nvPr/>
        </p:nvSpPr>
        <p:spPr>
          <a:xfrm>
            <a:off x="727862" y="4933188"/>
            <a:ext cx="3164129"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Is my base image vulnerable? Two Dockerfiles here — one hardened, one on Node 20.</a:t>
            </a:r>
            <a:endParaRPr lang="en-US" sz="1100" dirty="0"/>
          </a:p>
        </p:txBody>
      </p:sp>
      <p:sp>
        <p:nvSpPr>
          <p:cNvPr id="28" name="Shape 20"/>
          <p:cNvSpPr/>
          <p:nvPr/>
        </p:nvSpPr>
        <p:spPr>
          <a:xfrm>
            <a:off x="4312615" y="4251960"/>
            <a:ext cx="3566465"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29" name="Image 6" descr="assets/grad_bar_v.png">    </p:cNvPr>
          <p:cNvPicPr>
            <a:picLocks noChangeAspect="1"/>
          </p:cNvPicPr>
          <p:nvPr/>
        </p:nvPicPr>
        <p:blipFill>
          <a:blip r:embed="rId7"/>
          <a:stretch>
            <a:fillRect/>
          </a:stretch>
        </p:blipFill>
        <p:spPr>
          <a:xfrm>
            <a:off x="4312615" y="4379976"/>
            <a:ext cx="36576" cy="1453896"/>
          </a:xfrm>
          <a:prstGeom prst="rect">
            <a:avLst/>
          </a:prstGeom>
        </p:spPr>
      </p:pic>
      <p:sp>
        <p:nvSpPr>
          <p:cNvPr id="30" name="Text 21"/>
          <p:cNvSpPr/>
          <p:nvPr/>
        </p:nvSpPr>
        <p:spPr>
          <a:xfrm>
            <a:off x="4532071" y="4389120"/>
            <a:ext cx="3164129"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IAC</a:t>
            </a:r>
            <a:endParaRPr lang="en-US" sz="850" dirty="0"/>
          </a:p>
        </p:txBody>
      </p:sp>
      <p:sp>
        <p:nvSpPr>
          <p:cNvPr id="31" name="Text 22"/>
          <p:cNvSpPr/>
          <p:nvPr/>
        </p:nvSpPr>
        <p:spPr>
          <a:xfrm>
            <a:off x="4532071" y="4626864"/>
            <a:ext cx="3164129"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Snyk IaC</a:t>
            </a:r>
            <a:endParaRPr lang="en-US" sz="1500" dirty="0"/>
          </a:p>
        </p:txBody>
      </p:sp>
      <p:sp>
        <p:nvSpPr>
          <p:cNvPr id="32" name="Text 23"/>
          <p:cNvSpPr/>
          <p:nvPr/>
        </p:nvSpPr>
        <p:spPr>
          <a:xfrm>
            <a:off x="4532071" y="4933188"/>
            <a:ext cx="3164129"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Is my infrastructure misconfigured? terraform/ and infrastructure/terraform/ are intentionally wrong.</a:t>
            </a:r>
            <a:endParaRPr lang="en-US" sz="1100" dirty="0"/>
          </a:p>
        </p:txBody>
      </p:sp>
      <p:sp>
        <p:nvSpPr>
          <p:cNvPr id="33" name="Shape 24"/>
          <p:cNvSpPr/>
          <p:nvPr/>
        </p:nvSpPr>
        <p:spPr>
          <a:xfrm>
            <a:off x="8116824" y="4251960"/>
            <a:ext cx="3566465"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34" name="Image 7" descr="assets/grad_bar_v.png">    </p:cNvPr>
          <p:cNvPicPr>
            <a:picLocks noChangeAspect="1"/>
          </p:cNvPicPr>
          <p:nvPr/>
        </p:nvPicPr>
        <p:blipFill>
          <a:blip r:embed="rId8"/>
          <a:stretch>
            <a:fillRect/>
          </a:stretch>
        </p:blipFill>
        <p:spPr>
          <a:xfrm>
            <a:off x="8116824" y="4379976"/>
            <a:ext cx="36576" cy="1453896"/>
          </a:xfrm>
          <a:prstGeom prst="rect">
            <a:avLst/>
          </a:prstGeom>
        </p:spPr>
      </p:pic>
      <p:sp>
        <p:nvSpPr>
          <p:cNvPr id="35" name="Text 25"/>
          <p:cNvSpPr/>
          <p:nvPr/>
        </p:nvSpPr>
        <p:spPr>
          <a:xfrm>
            <a:off x="8336280" y="4389120"/>
            <a:ext cx="3164129"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AI</a:t>
            </a:r>
            <a:endParaRPr lang="en-US" sz="850" dirty="0"/>
          </a:p>
        </p:txBody>
      </p:sp>
      <p:sp>
        <p:nvSpPr>
          <p:cNvPr id="36" name="Text 26"/>
          <p:cNvSpPr/>
          <p:nvPr/>
        </p:nvSpPr>
        <p:spPr>
          <a:xfrm>
            <a:off x="8336280" y="4626864"/>
            <a:ext cx="3164129"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Snyk Evo / Studio</a:t>
            </a:r>
            <a:endParaRPr lang="en-US" sz="1500" dirty="0"/>
          </a:p>
        </p:txBody>
      </p:sp>
      <p:sp>
        <p:nvSpPr>
          <p:cNvPr id="37" name="Text 27"/>
          <p:cNvSpPr/>
          <p:nvPr/>
        </p:nvSpPr>
        <p:spPr>
          <a:xfrm>
            <a:off x="8336280" y="4933188"/>
            <a:ext cx="3164129"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Is the code my agent just wrote safe? Guardrails and remediation inside your AI coding assistant.</a:t>
            </a:r>
            <a:endParaRPr lang="en-US" sz="1100" dirty="0"/>
          </a:p>
        </p:txBody>
      </p:sp>
      <p:sp>
        <p:nvSpPr>
          <p:cNvPr id="38" name="Shape 28"/>
          <p:cNvSpPr/>
          <p:nvPr/>
        </p:nvSpPr>
        <p:spPr>
          <a:xfrm>
            <a:off x="508406" y="6245352"/>
            <a:ext cx="11174882" cy="10973"/>
          </a:xfrm>
          <a:prstGeom prst="rect">
            <a:avLst/>
          </a:prstGeom>
          <a:solidFill>
            <a:srgbClr val="FFFFFF">
              <a:alpha val="12000"/>
            </a:srgbClr>
          </a:solidFill>
          <a:ln/>
        </p:spPr>
      </p:sp>
      <p:pic>
        <p:nvPicPr>
          <p:cNvPr id="39" name="Image 8" descr="assets/logo-snyk-white.png">    </p:cNvPr>
          <p:cNvPicPr>
            <a:picLocks noChangeAspect="1"/>
          </p:cNvPicPr>
          <p:nvPr/>
        </p:nvPicPr>
        <p:blipFill>
          <a:blip r:embed="rId9"/>
          <a:stretch>
            <a:fillRect/>
          </a:stretch>
        </p:blipFill>
        <p:spPr>
          <a:xfrm>
            <a:off x="508406" y="6336792"/>
            <a:ext cx="621792" cy="219456"/>
          </a:xfrm>
          <a:prstGeom prst="rect">
            <a:avLst/>
          </a:prstGeom>
        </p:spPr>
      </p:pic>
      <p:sp>
        <p:nvSpPr>
          <p:cNvPr id="40" name="Text 29"/>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Snyk overview</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30328"/>
        </a:solidFill>
      </p:bgPr>
    </p:bg>
    <p:spTree>
      <p:nvGrpSpPr>
        <p:cNvPr id="1" name=""/>
        <p:cNvGrpSpPr/>
        <p:nvPr/>
      </p:nvGrpSpPr>
      <p:grpSpPr>
        <a:xfrm>
          <a:off x="0" y="0"/>
          <a:ext cx="0" cy="0"/>
          <a:chOff x="0" y="0"/>
          <a:chExt cx="0" cy="0"/>
        </a:xfrm>
      </p:grpSpPr>
      <p:sp>
        <p:nvSpPr>
          <p:cNvPr id="2" name="Shape 0"/>
          <p:cNvSpPr/>
          <p:nvPr/>
        </p:nvSpPr>
        <p:spPr>
          <a:xfrm>
            <a:off x="0" y="5989320"/>
            <a:ext cx="12191695" cy="868680"/>
          </a:xfrm>
          <a:prstGeom prst="rect">
            <a:avLst/>
          </a:prstGeom>
          <a:solidFill>
            <a:srgbClr val="030328"/>
          </a:solidFill>
          <a:ln/>
        </p:spPr>
      </p:sp>
      <p:sp>
        <p:nvSpPr>
          <p:cNvPr id="3"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ACROSS THE SDLC</a:t>
            </a:r>
            <a:endParaRPr lang="en-US" sz="1050" dirty="0"/>
          </a:p>
        </p:txBody>
      </p:sp>
      <p:pic>
        <p:nvPicPr>
          <p:cNvPr id="4" name="Image 0" descr="assets/logo-snyk-white.png">    </p:cNvPr>
          <p:cNvPicPr>
            <a:picLocks noChangeAspect="1"/>
          </p:cNvPicPr>
          <p:nvPr/>
        </p:nvPicPr>
        <p:blipFill>
          <a:blip r:embed="rId1"/>
          <a:stretch>
            <a:fillRect/>
          </a:stretch>
        </p:blipFill>
        <p:spPr>
          <a:xfrm>
            <a:off x="10796321" y="435254"/>
            <a:ext cx="886968" cy="310896"/>
          </a:xfrm>
          <a:prstGeom prst="rect">
            <a:avLst/>
          </a:prstGeom>
        </p:spPr>
      </p:pic>
      <p:sp>
        <p:nvSpPr>
          <p:cNvPr id="5"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Five places to catch the same bug</a:t>
            </a:r>
            <a:endParaRPr lang="en-US" sz="3000" dirty="0"/>
          </a:p>
        </p:txBody>
      </p:sp>
      <p:sp>
        <p:nvSpPr>
          <p:cNvPr id="6" name="Text 3"/>
          <p:cNvSpPr/>
          <p:nvPr/>
        </p:nvSpPr>
        <p:spPr>
          <a:xfrm>
            <a:off x="508406" y="1755648"/>
            <a:ext cx="10424160" cy="384048"/>
          </a:xfrm>
          <a:prstGeom prst="rect">
            <a:avLst/>
          </a:prstGeom>
          <a:noFill/>
          <a:ln/>
        </p:spPr>
        <p:txBody>
          <a:bodyPr wrap="square" lIns="0" tIns="0" rIns="0" bIns="0" rtlCol="0" anchor="ctr"/>
          <a:lstStyle/>
          <a:p>
            <a:pPr indent="0" marL="0">
              <a:lnSpc>
                <a:spcPts val="1900"/>
              </a:lnSpc>
              <a:buNone/>
            </a:pPr>
            <a:r>
              <a:rPr lang="en-US" sz="1250" dirty="0">
                <a:solidFill>
                  <a:srgbClr val="8A8AA3"/>
                </a:solidFill>
                <a:latin typeface="Geist" pitchFamily="34" charset="0"/>
                <a:ea typeface="Geist" pitchFamily="34" charset="-122"/>
                <a:cs typeface="Geist" pitchFamily="34" charset="-120"/>
              </a:rPr>
              <a:t>The earlier the row, the cheaper the fix. That is the whole argument for shifting left — everything else is detail.</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8406" y="2258568"/>
          <a:ext cx="11174882" cy="914400"/>
        </p:xfrm>
        <a:graphic>
          <a:graphicData uri="http://schemas.openxmlformats.org/drawingml/2006/table">
            <a:tbl>
              <a:tblPr/>
              <a:tblGrid>
                <a:gridCol w="2194560"/>
                <a:gridCol w="2560320"/>
                <a:gridCol w="4206240"/>
                <a:gridCol w="2212848"/>
              </a:tblGrid>
              <a:tr h="603504">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Stage</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Surface</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What it does</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Cost of the catch</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Code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IDE extension</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scan on save, fix inline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minutes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Commit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Snyk CLI + pre-commit hook</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test, fix, monitor locally</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minutes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Pull request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PR checks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gate the merge, inline comments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hours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Build</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CI/CD (snyk test)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fail the build, publish a snapshot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hours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Production</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recurring tests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alert on newly disclosed CVEs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days to weeks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bl>
          </a:graphicData>
        </a:graphic>
      </p:graphicFrame>
      <p:sp>
        <p:nvSpPr>
          <p:cNvPr id="8" name="Shape 4"/>
          <p:cNvSpPr/>
          <p:nvPr/>
        </p:nvSpPr>
        <p:spPr>
          <a:xfrm>
            <a:off x="508406" y="6245352"/>
            <a:ext cx="11174882" cy="10973"/>
          </a:xfrm>
          <a:prstGeom prst="rect">
            <a:avLst/>
          </a:prstGeom>
          <a:solidFill>
            <a:srgbClr val="FFFFFF">
              <a:alpha val="12000"/>
            </a:srgbClr>
          </a:solidFill>
          <a:ln/>
        </p:spPr>
      </p:sp>
      <p:pic>
        <p:nvPicPr>
          <p:cNvPr id="9" name="Image 1" descr="assets/logo-snyk-white.png">    </p:cNvPr>
          <p:cNvPicPr>
            <a:picLocks noChangeAspect="1"/>
          </p:cNvPicPr>
          <p:nvPr/>
        </p:nvPicPr>
        <p:blipFill>
          <a:blip r:embed="rId2"/>
          <a:stretch>
            <a:fillRect/>
          </a:stretch>
        </p:blipFill>
        <p:spPr>
          <a:xfrm>
            <a:off x="508406" y="6336792"/>
            <a:ext cx="621792" cy="219456"/>
          </a:xfrm>
          <a:prstGeom prst="rect">
            <a:avLst/>
          </a:prstGeom>
        </p:spPr>
      </p:pic>
      <p:sp>
        <p:nvSpPr>
          <p:cNvPr id="10" name="Text 5"/>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Snyk overview</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YOUR TRAINING TARGET</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One stack, a lot of real vulnerabilities</a:t>
            </a:r>
            <a:endParaRPr lang="en-US" sz="3000" dirty="0"/>
          </a:p>
        </p:txBody>
      </p:sp>
      <p:sp>
        <p:nvSpPr>
          <p:cNvPr id="7" name="Shape 3"/>
          <p:cNvSpPr/>
          <p:nvPr/>
        </p:nvSpPr>
        <p:spPr>
          <a:xfrm>
            <a:off x="508406" y="1993392"/>
            <a:ext cx="5468569" cy="3968496"/>
          </a:xfrm>
          <a:prstGeom prst="roundRect">
            <a:avLst>
              <a:gd name="adj" fmla="val 1613"/>
            </a:avLst>
          </a:prstGeom>
          <a:solidFill>
            <a:srgbClr val="6F00DD">
              <a:alpha val="8000"/>
            </a:srgbClr>
          </a:solidFill>
          <a:ln w="9525">
            <a:solidFill>
              <a:srgbClr val="FFFFFF">
                <a:alpha val="14000"/>
              </a:srgbClr>
            </a:solidFill>
            <a:prstDash val="solid"/>
          </a:ln>
        </p:spPr>
      </p:sp>
      <p:pic>
        <p:nvPicPr>
          <p:cNvPr id="8" name="Image 2" descr="assets/grad_bar_v.png">    </p:cNvPr>
          <p:cNvPicPr>
            <a:picLocks noChangeAspect="1"/>
          </p:cNvPicPr>
          <p:nvPr/>
        </p:nvPicPr>
        <p:blipFill>
          <a:blip r:embed="rId3"/>
          <a:stretch>
            <a:fillRect/>
          </a:stretch>
        </p:blipFill>
        <p:spPr>
          <a:xfrm>
            <a:off x="508406" y="2121408"/>
            <a:ext cx="36576" cy="3712464"/>
          </a:xfrm>
          <a:prstGeom prst="rect">
            <a:avLst/>
          </a:prstGeom>
        </p:spPr>
      </p:pic>
      <p:sp>
        <p:nvSpPr>
          <p:cNvPr id="9" name="Text 4"/>
          <p:cNvSpPr/>
          <p:nvPr/>
        </p:nvSpPr>
        <p:spPr>
          <a:xfrm>
            <a:off x="727862" y="2130552"/>
            <a:ext cx="5066233"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APPLICATION</a:t>
            </a:r>
            <a:endParaRPr lang="en-US" sz="850" dirty="0"/>
          </a:p>
        </p:txBody>
      </p:sp>
      <p:sp>
        <p:nvSpPr>
          <p:cNvPr id="10" name="Text 5"/>
          <p:cNvSpPr/>
          <p:nvPr/>
        </p:nvSpPr>
        <p:spPr>
          <a:xfrm>
            <a:off x="727862" y="2368296"/>
            <a:ext cx="5066233"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Node.js / TypeScript</a:t>
            </a:r>
            <a:endParaRPr lang="en-US" sz="1500" dirty="0"/>
          </a:p>
        </p:txBody>
      </p:sp>
      <p:sp>
        <p:nvSpPr>
          <p:cNvPr id="11" name="Text 6"/>
          <p:cNvSpPr/>
          <p:nvPr/>
        </p:nvSpPr>
        <p:spPr>
          <a:xfrm>
            <a:off x="727862" y="2674620"/>
            <a:ext cx="5066233" cy="3159252"/>
          </a:xfrm>
          <a:prstGeom prst="rect">
            <a:avLst/>
          </a:prstGeom>
          <a:noFill/>
          <a:ln/>
        </p:spPr>
        <p:txBody>
          <a:bodyPr wrap="square" lIns="0" tIns="0" rIns="0" bIns="0" rtlCol="0" anchor="t"/>
          <a:lstStyle/>
          <a:p>
            <a:pPr indent="0" marL="0">
              <a:lnSpc>
                <a:spcPts val="1600"/>
              </a:lnSpc>
              <a:buNone/>
            </a:pPr>
            <a:r>
              <a:rPr lang="en-US" sz="1150" dirty="0">
                <a:solidFill>
                  <a:srgbClr val="B8B8CC"/>
                </a:solidFill>
                <a:latin typeface="Geist" pitchFamily="34" charset="0"/>
                <a:ea typeface="Geist" pitchFamily="34" charset="-122"/>
                <a:cs typeface="Geist" pitchFamily="34" charset="-120"/>
              </a:rPr>
              <a:t>OWASP Juice Shop — the flagship insecure web app. Angular frontend, Express/TypeScript server, SQLite via Sequelize, MarsDB.</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Node 22 to 26.  npm install · npm start → localhost:3000</a:t>
            </a:r>
            <a:endParaRPr lang="en-US" sz="1150" dirty="0"/>
          </a:p>
        </p:txBody>
      </p:sp>
      <p:sp>
        <p:nvSpPr>
          <p:cNvPr id="12" name="Shape 7"/>
          <p:cNvSpPr/>
          <p:nvPr/>
        </p:nvSpPr>
        <p:spPr>
          <a:xfrm>
            <a:off x="6214720" y="1993392"/>
            <a:ext cx="5468569" cy="3968496"/>
          </a:xfrm>
          <a:prstGeom prst="roundRect">
            <a:avLst>
              <a:gd name="adj" fmla="val 1613"/>
            </a:avLst>
          </a:prstGeom>
          <a:solidFill>
            <a:srgbClr val="6F00DD">
              <a:alpha val="8000"/>
            </a:srgbClr>
          </a:solidFill>
          <a:ln w="9525">
            <a:solidFill>
              <a:srgbClr val="FFFFFF">
                <a:alpha val="14000"/>
              </a:srgbClr>
            </a:solidFill>
            <a:prstDash val="solid"/>
          </a:ln>
        </p:spPr>
      </p:sp>
      <p:pic>
        <p:nvPicPr>
          <p:cNvPr id="13" name="Image 3" descr="assets/grad_bar_v.png">    </p:cNvPr>
          <p:cNvPicPr>
            <a:picLocks noChangeAspect="1"/>
          </p:cNvPicPr>
          <p:nvPr/>
        </p:nvPicPr>
        <p:blipFill>
          <a:blip r:embed="rId4"/>
          <a:stretch>
            <a:fillRect/>
          </a:stretch>
        </p:blipFill>
        <p:spPr>
          <a:xfrm>
            <a:off x="6214720" y="2121408"/>
            <a:ext cx="36576" cy="3712464"/>
          </a:xfrm>
          <a:prstGeom prst="rect">
            <a:avLst/>
          </a:prstGeom>
        </p:spPr>
      </p:pic>
      <p:sp>
        <p:nvSpPr>
          <p:cNvPr id="14" name="Text 8"/>
          <p:cNvSpPr/>
          <p:nvPr/>
        </p:nvSpPr>
        <p:spPr>
          <a:xfrm>
            <a:off x="6434176" y="2130552"/>
            <a:ext cx="5066233"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WHY THIS REPO</a:t>
            </a:r>
            <a:endParaRPr lang="en-US" sz="850" dirty="0"/>
          </a:p>
        </p:txBody>
      </p:sp>
      <p:sp>
        <p:nvSpPr>
          <p:cNvPr id="15" name="Text 9"/>
          <p:cNvSpPr/>
          <p:nvPr/>
        </p:nvSpPr>
        <p:spPr>
          <a:xfrm>
            <a:off x="6434176" y="2368296"/>
            <a:ext cx="5066233"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Everything is genuinely there</a:t>
            </a:r>
            <a:endParaRPr lang="en-US" sz="1500" dirty="0"/>
          </a:p>
        </p:txBody>
      </p:sp>
      <p:sp>
        <p:nvSpPr>
          <p:cNvPr id="16" name="Text 10"/>
          <p:cNvSpPr/>
          <p:nvPr/>
        </p:nvSpPr>
        <p:spPr>
          <a:xfrm>
            <a:off x="6434176" y="2674620"/>
            <a:ext cx="5066233" cy="3159252"/>
          </a:xfrm>
          <a:prstGeom prst="rect">
            <a:avLst/>
          </a:prstGeom>
          <a:noFill/>
          <a:ln/>
        </p:spPr>
        <p:txBody>
          <a:bodyPr wrap="square" lIns="0" tIns="0" rIns="0" bIns="0" rtlCol="0" anchor="t"/>
          <a:lstStyle/>
          <a:p>
            <a:pPr indent="0" marL="0">
              <a:lnSpc>
                <a:spcPts val="1600"/>
              </a:lnSpc>
              <a:buNone/>
            </a:pPr>
            <a:r>
              <a:rPr lang="en-US" sz="1150" dirty="0">
                <a:solidFill>
                  <a:srgbClr val="B8B8CC"/>
                </a:solidFill>
                <a:latin typeface="Geist" pitchFamily="34" charset="0"/>
                <a:ea typeface="Geist" pitchFamily="34" charset="-122"/>
                <a:cs typeface="Geist" pitchFamily="34" charset="-120"/>
              </a:rPr>
              <a:t>Ancient pinned deps (express-jwt 0.1.3, jsonwebtoken 0.4.0, sanitize-html 1.4.2). Real SAST flaws in routes/ and lib/. Insecure Terraform. Two Dockerfiles.</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No .snyk file and no Snyk CI workflow — you create both.</a:t>
            </a:r>
            <a:endParaRPr lang="en-US" sz="1150" dirty="0"/>
          </a:p>
        </p:txBody>
      </p:sp>
      <p:sp>
        <p:nvSpPr>
          <p:cNvPr id="17" name="Shape 11"/>
          <p:cNvSpPr/>
          <p:nvPr/>
        </p:nvSpPr>
        <p:spPr>
          <a:xfrm>
            <a:off x="508406" y="6245352"/>
            <a:ext cx="11174882" cy="10973"/>
          </a:xfrm>
          <a:prstGeom prst="rect">
            <a:avLst/>
          </a:prstGeom>
          <a:solidFill>
            <a:srgbClr val="FFFFFF">
              <a:alpha val="12000"/>
            </a:srgbClr>
          </a:solidFill>
          <a:ln/>
        </p:spPr>
      </p:sp>
      <p:pic>
        <p:nvPicPr>
          <p:cNvPr id="18" name="Image 4" descr="assets/logo-snyk-white.png">    </p:cNvPr>
          <p:cNvPicPr>
            <a:picLocks noChangeAspect="1"/>
          </p:cNvPicPr>
          <p:nvPr/>
        </p:nvPicPr>
        <p:blipFill>
          <a:blip r:embed="rId5"/>
          <a:stretch>
            <a:fillRect/>
          </a:stretch>
        </p:blipFill>
        <p:spPr>
          <a:xfrm>
            <a:off x="508406" y="6336792"/>
            <a:ext cx="621792" cy="219456"/>
          </a:xfrm>
          <a:prstGeom prst="rect">
            <a:avLst/>
          </a:prstGeom>
        </p:spPr>
      </p:pic>
      <p:sp>
        <p:nvSpPr>
          <p:cNvPr id="19" name="Text 12"/>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Snyk overview</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30328"/>
        </a:solidFill>
      </p:bgPr>
    </p:bg>
    <p:spTree>
      <p:nvGrpSpPr>
        <p:cNvPr id="1" name=""/>
        <p:cNvGrpSpPr/>
        <p:nvPr/>
      </p:nvGrpSpPr>
      <p:grpSpPr>
        <a:xfrm>
          <a:off x="0" y="0"/>
          <a:ext cx="0" cy="0"/>
          <a:chOff x="0" y="0"/>
          <a:chExt cx="0" cy="0"/>
        </a:xfrm>
      </p:grpSpPr>
      <p:sp>
        <p:nvSpPr>
          <p:cNvPr id="2" name="Shape 0"/>
          <p:cNvSpPr/>
          <p:nvPr/>
        </p:nvSpPr>
        <p:spPr>
          <a:xfrm>
            <a:off x="0" y="5989320"/>
            <a:ext cx="12191695" cy="868680"/>
          </a:xfrm>
          <a:prstGeom prst="rect">
            <a:avLst/>
          </a:prstGeom>
          <a:solidFill>
            <a:srgbClr val="030328"/>
          </a:solidFill>
          <a:ln/>
        </p:spPr>
      </p:sp>
      <p:sp>
        <p:nvSpPr>
          <p:cNvPr id="3"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PREREQUISITES</a:t>
            </a:r>
            <a:endParaRPr lang="en-US" sz="1050" dirty="0"/>
          </a:p>
        </p:txBody>
      </p:sp>
      <p:pic>
        <p:nvPicPr>
          <p:cNvPr id="4" name="Image 0" descr="assets/logo-snyk-white.png">    </p:cNvPr>
          <p:cNvPicPr>
            <a:picLocks noChangeAspect="1"/>
          </p:cNvPicPr>
          <p:nvPr/>
        </p:nvPicPr>
        <p:blipFill>
          <a:blip r:embed="rId1"/>
          <a:stretch>
            <a:fillRect/>
          </a:stretch>
        </p:blipFill>
        <p:spPr>
          <a:xfrm>
            <a:off x="10796321" y="435254"/>
            <a:ext cx="886968" cy="310896"/>
          </a:xfrm>
          <a:prstGeom prst="rect">
            <a:avLst/>
          </a:prstGeom>
        </p:spPr>
      </p:pic>
      <p:sp>
        <p:nvSpPr>
          <p:cNvPr id="5"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Have these installed before we start</a:t>
            </a:r>
            <a:endParaRPr lang="en-US" sz="3000" dirty="0"/>
          </a:p>
        </p:txBody>
      </p:sp>
      <p:sp>
        <p:nvSpPr>
          <p:cNvPr id="6" name="Text 3"/>
          <p:cNvSpPr/>
          <p:nvPr/>
        </p:nvSpPr>
        <p:spPr>
          <a:xfrm>
            <a:off x="508406" y="1755648"/>
            <a:ext cx="10424160" cy="384048"/>
          </a:xfrm>
          <a:prstGeom prst="rect">
            <a:avLst/>
          </a:prstGeom>
          <a:noFill/>
          <a:ln/>
        </p:spPr>
        <p:txBody>
          <a:bodyPr wrap="square" lIns="0" tIns="0" rIns="0" bIns="0" rtlCol="0" anchor="ctr"/>
          <a:lstStyle/>
          <a:p>
            <a:pPr indent="0" marL="0">
              <a:lnSpc>
                <a:spcPts val="1900"/>
              </a:lnSpc>
              <a:buNone/>
            </a:pPr>
            <a:r>
              <a:rPr lang="en-US" sz="1250" dirty="0">
                <a:solidFill>
                  <a:srgbClr val="8A8AA3"/>
                </a:solidFill>
                <a:latin typeface="Geist" pitchFamily="34" charset="0"/>
                <a:ea typeface="Geist" pitchFamily="34" charset="-122"/>
                <a:cs typeface="Geist" pitchFamily="34" charset="-120"/>
              </a:rPr>
              <a:t>One line runs the lot:  node -v &amp;&amp; npm -v &amp;&amp; git --version &amp;&amp; snyk --version</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8406" y="2231136"/>
          <a:ext cx="11174882" cy="914400"/>
        </p:xfrm>
        <a:graphic>
          <a:graphicData uri="http://schemas.openxmlformats.org/drawingml/2006/table">
            <a:tbl>
              <a:tblPr/>
              <a:tblGrid>
                <a:gridCol w="2468880"/>
                <a:gridCol w="2286000"/>
                <a:gridCol w="3931920"/>
                <a:gridCol w="2487168"/>
              </a:tblGrid>
              <a:tr h="530352">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Tool</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Version</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Install</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Verify</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r>
              <a:tr h="530352">
                <a:tc>
                  <a:txBody>
                    <a:bodyPr/>
                    <a:lstStyle/>
                    <a:p>
                      <a:pPr indent="0" marL="0">
                        <a:buNone/>
                      </a:pPr>
                      <a:r>
                        <a:rPr lang="en-US" sz="1100" b="1" dirty="0">
                          <a:solidFill>
                            <a:srgbClr val="FFFFFF"/>
                          </a:solidFill>
                          <a:latin typeface="Geist" pitchFamily="34" charset="0"/>
                          <a:ea typeface="Geist" pitchFamily="34" charset="-122"/>
                          <a:cs typeface="Geist" pitchFamily="34" charset="-120"/>
                        </a:rPr>
                        <a:t>Node.js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22 – 26 (required)</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nvm install 24</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node --version</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530352">
                <a:tc>
                  <a:txBody>
                    <a:bodyPr/>
                    <a:lstStyle/>
                    <a:p>
                      <a:pPr indent="0" marL="0">
                        <a:buNone/>
                      </a:pPr>
                      <a:r>
                        <a:rPr lang="en-US" sz="1100" b="1" dirty="0">
                          <a:solidFill>
                            <a:srgbClr val="FFFFFF"/>
                          </a:solidFill>
                          <a:latin typeface="Geist" pitchFamily="34" charset="0"/>
                          <a:ea typeface="Geist" pitchFamily="34" charset="-122"/>
                          <a:cs typeface="Geist" pitchFamily="34" charset="-120"/>
                        </a:rPr>
                        <a:t>Snyk CLI</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v1.1297.1 or later</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npm install -g snyk@latest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snyk --version</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r h="530352">
                <a:tc>
                  <a:txBody>
                    <a:bodyPr/>
                    <a:lstStyle/>
                    <a:p>
                      <a:pPr indent="0" marL="0">
                        <a:buNone/>
                      </a:pPr>
                      <a:r>
                        <a:rPr lang="en-US" sz="1100" b="1" dirty="0">
                          <a:solidFill>
                            <a:srgbClr val="FFFFFF"/>
                          </a:solidFill>
                          <a:latin typeface="Geist" pitchFamily="34" charset="0"/>
                          <a:ea typeface="Geist" pitchFamily="34" charset="-122"/>
                          <a:cs typeface="Geist" pitchFamily="34" charset="-120"/>
                        </a:rPr>
                        <a:t>Git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2.30+</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git --version</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530352">
                <a:tc>
                  <a:txBody>
                    <a:bodyPr/>
                    <a:lstStyle/>
                    <a:p>
                      <a:pPr indent="0" marL="0">
                        <a:buNone/>
                      </a:pPr>
                      <a:r>
                        <a:rPr lang="en-US" sz="1100" b="1" dirty="0">
                          <a:solidFill>
                            <a:srgbClr val="FFFFFF"/>
                          </a:solidFill>
                          <a:latin typeface="Geist" pitchFamily="34" charset="0"/>
                          <a:ea typeface="Geist" pitchFamily="34" charset="-122"/>
                          <a:cs typeface="Geist" pitchFamily="34" charset="-120"/>
                        </a:rPr>
                        <a:t>VS Code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current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 Snyk Security extension</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r h="530352">
                <a:tc>
                  <a:txBody>
                    <a:bodyPr/>
                    <a:lstStyle/>
                    <a:p>
                      <a:pPr indent="0" marL="0">
                        <a:buNone/>
                      </a:pPr>
                      <a:r>
                        <a:rPr lang="en-US" sz="1100" b="1" dirty="0">
                          <a:solidFill>
                            <a:srgbClr val="FFFFFF"/>
                          </a:solidFill>
                          <a:latin typeface="Geist" pitchFamily="34" charset="0"/>
                          <a:ea typeface="Geist" pitchFamily="34" charset="-122"/>
                          <a:cs typeface="Geist" pitchFamily="34" charset="-120"/>
                        </a:rPr>
                        <a:t>Snyk account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org access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app.snyk.io</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snyk auth</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530352">
                <a:tc>
                  <a:txBody>
                    <a:bodyPr/>
                    <a:lstStyle/>
                    <a:p>
                      <a:pPr indent="0" marL="0">
                        <a:buNone/>
                      </a:pPr>
                      <a:r>
                        <a:rPr lang="en-US" sz="1100" b="1" dirty="0">
                          <a:solidFill>
                            <a:srgbClr val="FFFFFF"/>
                          </a:solidFill>
                          <a:latin typeface="Geist" pitchFamily="34" charset="0"/>
                          <a:ea typeface="Geist" pitchFamily="34" charset="-122"/>
                          <a:cs typeface="Geist" pitchFamily="34" charset="-120"/>
                        </a:rPr>
                        <a:t>.NET SDK</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8 — OPTIONAL</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only for the companion .NET repo</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dotnet --list-sdks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bl>
          </a:graphicData>
        </a:graphic>
      </p:graphicFrame>
      <p:sp>
        <p:nvSpPr>
          <p:cNvPr id="8" name="Shape 4"/>
          <p:cNvSpPr/>
          <p:nvPr/>
        </p:nvSpPr>
        <p:spPr>
          <a:xfrm>
            <a:off x="508406" y="6245352"/>
            <a:ext cx="11174882" cy="10973"/>
          </a:xfrm>
          <a:prstGeom prst="rect">
            <a:avLst/>
          </a:prstGeom>
          <a:solidFill>
            <a:srgbClr val="FFFFFF">
              <a:alpha val="12000"/>
            </a:srgbClr>
          </a:solidFill>
          <a:ln/>
        </p:spPr>
      </p:sp>
      <p:pic>
        <p:nvPicPr>
          <p:cNvPr id="9" name="Image 1" descr="assets/logo-snyk-white.png">    </p:cNvPr>
          <p:cNvPicPr>
            <a:picLocks noChangeAspect="1"/>
          </p:cNvPicPr>
          <p:nvPr/>
        </p:nvPicPr>
        <p:blipFill>
          <a:blip r:embed="rId2"/>
          <a:stretch>
            <a:fillRect/>
          </a:stretch>
        </p:blipFill>
        <p:spPr>
          <a:xfrm>
            <a:off x="508406" y="6336792"/>
            <a:ext cx="621792" cy="219456"/>
          </a:xfrm>
          <a:prstGeom prst="rect">
            <a:avLst/>
          </a:prstGeom>
        </p:spPr>
      </p:pic>
      <p:sp>
        <p:nvSpPr>
          <p:cNvPr id="10" name="Text 5"/>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Snyk overview</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30328"/>
        </a:solidFill>
      </p:bgPr>
    </p:bg>
    <p:spTree>
      <p:nvGrpSpPr>
        <p:cNvPr id="1" name=""/>
        <p:cNvGrpSpPr/>
        <p:nvPr/>
      </p:nvGrpSpPr>
      <p:grpSpPr>
        <a:xfrm>
          <a:off x="0" y="0"/>
          <a:ext cx="0" cy="0"/>
          <a:chOff x="0" y="0"/>
          <a:chExt cx="0" cy="0"/>
        </a:xfrm>
      </p:grpSpPr>
      <p:pic>
        <p:nvPicPr>
          <p:cNvPr id="2" name="Image 0" descr="assets/ULC_Fabric_Gradient.png">    </p:cNvPr>
          <p:cNvPicPr>
            <a:picLocks noChangeAspect="1"/>
          </p:cNvPicPr>
          <p:nvPr/>
        </p:nvPicPr>
        <p:blipFill>
          <a:blip r:embed="rId1">
            <a:alphaModFix amt="68000"/>
          </a:blip>
          <a:stretch>
            <a:fillRect/>
          </a:stretch>
        </p:blipFill>
        <p:spPr>
          <a:xfrm>
            <a:off x="-320040" y="-320040"/>
            <a:ext cx="4114800" cy="4114800"/>
          </a:xfrm>
          <a:prstGeom prst="rect">
            <a:avLst/>
          </a:prstGeom>
        </p:spPr>
      </p:pic>
      <p:pic>
        <p:nvPicPr>
          <p:cNvPr id="3" name="Image 1" descr="assets/BRC_Fabric_Gradient.png">    </p:cNvPr>
          <p:cNvPicPr>
            <a:picLocks noChangeAspect="1"/>
          </p:cNvPicPr>
          <p:nvPr/>
        </p:nvPicPr>
        <p:blipFill>
          <a:blip r:embed="rId2">
            <a:alphaModFix amt="54000"/>
          </a:blip>
          <a:stretch>
            <a:fillRect/>
          </a:stretch>
        </p:blipFill>
        <p:spPr>
          <a:xfrm>
            <a:off x="8808415" y="2697480"/>
            <a:ext cx="3657600" cy="3657600"/>
          </a:xfrm>
          <a:prstGeom prst="rect">
            <a:avLst/>
          </a:prstGeom>
        </p:spPr>
      </p:pic>
      <p:sp>
        <p:nvSpPr>
          <p:cNvPr id="4" name="Shape 0"/>
          <p:cNvSpPr/>
          <p:nvPr/>
        </p:nvSpPr>
        <p:spPr>
          <a:xfrm>
            <a:off x="0" y="5989320"/>
            <a:ext cx="12191695" cy="868680"/>
          </a:xfrm>
          <a:prstGeom prst="rect">
            <a:avLst/>
          </a:prstGeom>
          <a:solidFill>
            <a:srgbClr val="030328"/>
          </a:solidFill>
          <a:ln/>
        </p:spPr>
      </p:sp>
      <p:sp>
        <p:nvSpPr>
          <p:cNvPr id="5"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PART TWO</a:t>
            </a:r>
            <a:endParaRPr lang="en-US" sz="1050" dirty="0"/>
          </a:p>
        </p:txBody>
      </p:sp>
      <p:pic>
        <p:nvPicPr>
          <p:cNvPr id="6" name="Image 2" descr="assets/logo-snyk-white.png">    </p:cNvPr>
          <p:cNvPicPr>
            <a:picLocks noChangeAspect="1"/>
          </p:cNvPicPr>
          <p:nvPr/>
        </p:nvPicPr>
        <p:blipFill>
          <a:blip r:embed="rId3"/>
          <a:stretch>
            <a:fillRect/>
          </a:stretch>
        </p:blipFill>
        <p:spPr>
          <a:xfrm>
            <a:off x="10796321" y="435254"/>
            <a:ext cx="886968" cy="310896"/>
          </a:xfrm>
          <a:prstGeom prst="rect">
            <a:avLst/>
          </a:prstGeom>
        </p:spPr>
      </p:pic>
      <p:pic>
        <p:nvPicPr>
          <p:cNvPr id="7" name="Image 3" descr="assets/grad_bar_v.png">    </p:cNvPr>
          <p:cNvPicPr>
            <a:picLocks noChangeAspect="1"/>
          </p:cNvPicPr>
          <p:nvPr/>
        </p:nvPicPr>
        <p:blipFill>
          <a:blip r:embed="rId4"/>
          <a:stretch>
            <a:fillRect/>
          </a:stretch>
        </p:blipFill>
        <p:spPr>
          <a:xfrm>
            <a:off x="508406" y="2240280"/>
            <a:ext cx="50292" cy="1691640"/>
          </a:xfrm>
          <a:prstGeom prst="rect">
            <a:avLst/>
          </a:prstGeom>
        </p:spPr>
      </p:pic>
      <p:sp>
        <p:nvSpPr>
          <p:cNvPr id="8" name="Text 2"/>
          <p:cNvSpPr/>
          <p:nvPr/>
        </p:nvSpPr>
        <p:spPr>
          <a:xfrm>
            <a:off x="819302" y="2148840"/>
            <a:ext cx="1828800" cy="640080"/>
          </a:xfrm>
          <a:prstGeom prst="rect">
            <a:avLst/>
          </a:prstGeom>
          <a:noFill/>
          <a:ln/>
        </p:spPr>
        <p:txBody>
          <a:bodyPr wrap="square" lIns="0" tIns="0" rIns="0" bIns="0" rtlCol="0" anchor="ctr"/>
          <a:lstStyle/>
          <a:p>
            <a:pPr indent="0" marL="0">
              <a:buNone/>
            </a:pPr>
            <a:r>
              <a:rPr lang="en-US" sz="2200" b="1" spc="100" kern="0" dirty="0">
                <a:solidFill>
                  <a:srgbClr val="8A8AA3"/>
                </a:solidFill>
                <a:latin typeface="Geist Mono" pitchFamily="34" charset="0"/>
                <a:ea typeface="Geist Mono" pitchFamily="34" charset="-122"/>
                <a:cs typeface="Geist Mono" pitchFamily="34" charset="-120"/>
              </a:rPr>
              <a:t>02</a:t>
            </a:r>
            <a:endParaRPr lang="en-US" sz="2200" dirty="0"/>
          </a:p>
        </p:txBody>
      </p:sp>
      <p:sp>
        <p:nvSpPr>
          <p:cNvPr id="9" name="Text 3"/>
          <p:cNvSpPr/>
          <p:nvPr/>
        </p:nvSpPr>
        <p:spPr>
          <a:xfrm>
            <a:off x="819302" y="2697480"/>
            <a:ext cx="10077602" cy="1280160"/>
          </a:xfrm>
          <a:prstGeom prst="rect">
            <a:avLst/>
          </a:prstGeom>
          <a:noFill/>
          <a:ln/>
        </p:spPr>
        <p:txBody>
          <a:bodyPr wrap="square" lIns="0" tIns="0" rIns="0" bIns="0" rtlCol="0" anchor="ctr"/>
          <a:lstStyle/>
          <a:p>
            <a:pPr indent="0" marL="0">
              <a:lnSpc>
                <a:spcPts val="4800"/>
              </a:lnSpc>
              <a:buNone/>
            </a:pPr>
            <a:r>
              <a:rPr lang="en-US" sz="4600" b="1" spc="-150" kern="0" dirty="0">
                <a:solidFill>
                  <a:srgbClr val="FFFFFF"/>
                </a:solidFill>
                <a:latin typeface="Geist" pitchFamily="34" charset="0"/>
                <a:ea typeface="Geist" pitchFamily="34" charset="-122"/>
                <a:cs typeface="Geist" pitchFamily="34" charset="-120"/>
              </a:rPr>
              <a:t>The Snyk app</a:t>
            </a:r>
            <a:endParaRPr lang="en-US" sz="4600" dirty="0"/>
          </a:p>
        </p:txBody>
      </p:sp>
      <p:sp>
        <p:nvSpPr>
          <p:cNvPr id="10" name="Text 4"/>
          <p:cNvSpPr/>
          <p:nvPr/>
        </p:nvSpPr>
        <p:spPr>
          <a:xfrm>
            <a:off x="819302" y="4041648"/>
            <a:ext cx="6949440" cy="731520"/>
          </a:xfrm>
          <a:prstGeom prst="rect">
            <a:avLst/>
          </a:prstGeom>
          <a:noFill/>
          <a:ln/>
        </p:spPr>
        <p:txBody>
          <a:bodyPr wrap="square" lIns="0" tIns="0" rIns="0" bIns="0" rtlCol="0" anchor="ctr"/>
          <a:lstStyle/>
          <a:p>
            <a:pPr indent="0" marL="0">
              <a:lnSpc>
                <a:spcPts val="2200"/>
              </a:lnSpc>
              <a:buNone/>
            </a:pPr>
            <a:r>
              <a:rPr lang="en-US" sz="1400" dirty="0">
                <a:solidFill>
                  <a:srgbClr val="B8B8CC"/>
                </a:solidFill>
                <a:latin typeface="Geist" pitchFamily="34" charset="0"/>
                <a:ea typeface="Geist" pitchFamily="34" charset="-122"/>
                <a:cs typeface="Geist" pitchFamily="34" charset="-120"/>
              </a:rPr>
              <a:t>Targets, Projects, and how to read an issue card.</a:t>
            </a:r>
            <a:endParaRPr lang="en-US" sz="1400" dirty="0"/>
          </a:p>
        </p:txBody>
      </p:sp>
      <p:sp>
        <p:nvSpPr>
          <p:cNvPr id="11" name="Shape 5"/>
          <p:cNvSpPr/>
          <p:nvPr/>
        </p:nvSpPr>
        <p:spPr>
          <a:xfrm>
            <a:off x="508406" y="6245352"/>
            <a:ext cx="11174882" cy="10973"/>
          </a:xfrm>
          <a:prstGeom prst="rect">
            <a:avLst/>
          </a:prstGeom>
          <a:solidFill>
            <a:srgbClr val="FFFFFF">
              <a:alpha val="12000"/>
            </a:srgbClr>
          </a:solidFill>
          <a:ln/>
        </p:spPr>
      </p:sp>
      <p:pic>
        <p:nvPicPr>
          <p:cNvPr id="12" name="Image 4" descr="assets/logo-snyk-white.png">    </p:cNvPr>
          <p:cNvPicPr>
            <a:picLocks noChangeAspect="1"/>
          </p:cNvPicPr>
          <p:nvPr/>
        </p:nvPicPr>
        <p:blipFill>
          <a:blip r:embed="rId5"/>
          <a:stretch>
            <a:fillRect/>
          </a:stretch>
        </p:blipFill>
        <p:spPr>
          <a:xfrm>
            <a:off x="508406" y="6336792"/>
            <a:ext cx="621792" cy="219456"/>
          </a:xfrm>
          <a:prstGeom prst="rect">
            <a:avLst/>
          </a:prstGeom>
        </p:spPr>
      </p:pic>
      <p:sp>
        <p:nvSpPr>
          <p:cNvPr id="13" name="Text 6"/>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The Snyk app</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LOG IN</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11174882" cy="914400"/>
          </a:xfrm>
          <a:prstGeom prst="rect">
            <a:avLst/>
          </a:prstGeom>
          <a:noFill/>
          <a:ln/>
        </p:spPr>
        <p:txBody>
          <a:bodyPr wrap="square" lIns="0" tIns="0" rIns="0" bIns="0" rtlCol="0" anchor="t"/>
          <a:lstStyle/>
          <a:p>
            <a:pPr indent="0" marL="0">
              <a:lnSpc>
                <a:spcPts val="3300"/>
              </a:lnSpc>
              <a:buNone/>
            </a:pPr>
            <a:r>
              <a:rPr lang="en-US" sz="3200" b="1" spc="-100" kern="0" dirty="0">
                <a:solidFill>
                  <a:srgbClr val="FFFFFF"/>
                </a:solidFill>
                <a:latin typeface="Geist" pitchFamily="34" charset="0"/>
                <a:ea typeface="Geist" pitchFamily="34" charset="-122"/>
                <a:cs typeface="Geist" pitchFamily="34" charset="-120"/>
              </a:rPr>
              <a:t>Use the right door</a:t>
            </a:r>
            <a:endParaRPr lang="en-US" sz="3200" dirty="0"/>
          </a:p>
        </p:txBody>
      </p:sp>
      <p:sp>
        <p:nvSpPr>
          <p:cNvPr id="7" name="Text 3"/>
          <p:cNvSpPr/>
          <p:nvPr/>
        </p:nvSpPr>
        <p:spPr>
          <a:xfrm>
            <a:off x="508406" y="1847088"/>
            <a:ext cx="9326880" cy="457200"/>
          </a:xfrm>
          <a:prstGeom prst="rect">
            <a:avLst/>
          </a:prstGeom>
          <a:noFill/>
          <a:ln/>
        </p:spPr>
        <p:txBody>
          <a:bodyPr wrap="square" lIns="0" tIns="0" rIns="0" bIns="0" rtlCol="0" anchor="ctr"/>
          <a:lstStyle/>
          <a:p>
            <a:pPr indent="0" marL="0">
              <a:lnSpc>
                <a:spcPts val="2000"/>
              </a:lnSpc>
              <a:buNone/>
            </a:pPr>
            <a:r>
              <a:rPr lang="en-US" sz="1300" dirty="0">
                <a:solidFill>
                  <a:srgbClr val="8A8AA3"/>
                </a:solidFill>
                <a:latin typeface="Geist" pitchFamily="34" charset="0"/>
                <a:ea typeface="Geist" pitchFamily="34" charset="-122"/>
                <a:cs typeface="Geist" pitchFamily="34" charset="-120"/>
              </a:rPr>
              <a:t>More support tickets start here than anywhere else in this course.</a:t>
            </a:r>
            <a:endParaRPr lang="en-US" sz="1300" dirty="0"/>
          </a:p>
        </p:txBody>
      </p:sp>
      <p:sp>
        <p:nvSpPr>
          <p:cNvPr id="8" name="Text 4"/>
          <p:cNvSpPr/>
          <p:nvPr/>
        </p:nvSpPr>
        <p:spPr>
          <a:xfrm>
            <a:off x="563270" y="2487168"/>
            <a:ext cx="8778240" cy="3456432"/>
          </a:xfrm>
          <a:prstGeom prst="rect">
            <a:avLst/>
          </a:prstGeom>
          <a:noFill/>
          <a:ln/>
        </p:spPr>
        <p:txBody>
          <a:bodyPr wrap="square" lIns="0" tIns="0" rIns="0" bIns="0" rtlCol="0" anchor="t"/>
          <a:lstStyle/>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SSO — if your company uses single sign-on, use the SSO link. Logging in with a different provider silently creates a new free account and you will not be in your org. There is no error to tell you.</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Region — app.snyk.io is the default. On EU or another region, go to app.eu.snyk.io/login directly. The Log in button on snyk.io does not redirect you there.</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The CLI must match — snyk config set endpoint=https://api.eu.snyk.io before snyk auth, or your scans land in a different tenant from your colleagues'.</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No dashboard? — if you see a list of organizations instead of a dashboard, you have not been invited to one yet. Ask your admin, or use Request access.</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Snyk 2.0 navigation is in EA — a Tenant/Group/Org scope selector, and the Organization Dashboard is gone. If a colleague's screenshots do not match yours, that is why.</a:t>
            </a:r>
            <a:endParaRPr lang="en-US" sz="1400" dirty="0"/>
          </a:p>
        </p:txBody>
      </p:sp>
      <p:sp>
        <p:nvSpPr>
          <p:cNvPr id="9" name="Shape 5"/>
          <p:cNvSpPr/>
          <p:nvPr/>
        </p:nvSpPr>
        <p:spPr>
          <a:xfrm>
            <a:off x="508406" y="6245352"/>
            <a:ext cx="11174882" cy="10973"/>
          </a:xfrm>
          <a:prstGeom prst="rect">
            <a:avLst/>
          </a:prstGeom>
          <a:solidFill>
            <a:srgbClr val="FFFFFF">
              <a:alpha val="12000"/>
            </a:srgbClr>
          </a:solidFill>
          <a:ln/>
        </p:spPr>
      </p:sp>
      <p:pic>
        <p:nvPicPr>
          <p:cNvPr id="10" name="Image 2" descr="assets/logo-snyk-white.png">    </p:cNvPr>
          <p:cNvPicPr>
            <a:picLocks noChangeAspect="1"/>
          </p:cNvPicPr>
          <p:nvPr/>
        </p:nvPicPr>
        <p:blipFill>
          <a:blip r:embed="rId3"/>
          <a:stretch>
            <a:fillRect/>
          </a:stretch>
        </p:blipFill>
        <p:spPr>
          <a:xfrm>
            <a:off x="508406" y="6336792"/>
            <a:ext cx="621792" cy="219456"/>
          </a:xfrm>
          <a:prstGeom prst="rect">
            <a:avLst/>
          </a:prstGeom>
        </p:spPr>
      </p:pic>
      <p:sp>
        <p:nvSpPr>
          <p:cNvPr id="11" name="Text 6"/>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The Snyk app</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30328"/>
        </a:solidFill>
      </p:bgPr>
    </p:bg>
    <p:spTree>
      <p:nvGrpSpPr>
        <p:cNvPr id="1" name=""/>
        <p:cNvGrpSpPr/>
        <p:nvPr/>
      </p:nvGrpSpPr>
      <p:grpSpPr>
        <a:xfrm>
          <a:off x="0" y="0"/>
          <a:ext cx="0" cy="0"/>
          <a:chOff x="0" y="0"/>
          <a:chExt cx="0" cy="0"/>
        </a:xfrm>
      </p:grpSpPr>
      <p:sp>
        <p:nvSpPr>
          <p:cNvPr id="2" name="Shape 0"/>
          <p:cNvSpPr/>
          <p:nvPr/>
        </p:nvSpPr>
        <p:spPr>
          <a:xfrm>
            <a:off x="0" y="5989320"/>
            <a:ext cx="12191695" cy="868680"/>
          </a:xfrm>
          <a:prstGeom prst="rect">
            <a:avLst/>
          </a:prstGeom>
          <a:solidFill>
            <a:srgbClr val="030328"/>
          </a:solidFill>
          <a:ln/>
        </p:spPr>
      </p:sp>
      <p:sp>
        <p:nvSpPr>
          <p:cNvPr id="3"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WHAT IS A PROJECT?</a:t>
            </a:r>
            <a:endParaRPr lang="en-US" sz="1050" dirty="0"/>
          </a:p>
        </p:txBody>
      </p:sp>
      <p:pic>
        <p:nvPicPr>
          <p:cNvPr id="4" name="Image 0" descr="assets/logo-snyk-white.png">    </p:cNvPr>
          <p:cNvPicPr>
            <a:picLocks noChangeAspect="1"/>
          </p:cNvPicPr>
          <p:nvPr/>
        </p:nvPicPr>
        <p:blipFill>
          <a:blip r:embed="rId1"/>
          <a:stretch>
            <a:fillRect/>
          </a:stretch>
        </p:blipFill>
        <p:spPr>
          <a:xfrm>
            <a:off x="10796321" y="435254"/>
            <a:ext cx="886968" cy="310896"/>
          </a:xfrm>
          <a:prstGeom prst="rect">
            <a:avLst/>
          </a:prstGeom>
        </p:spPr>
      </p:pic>
      <p:sp>
        <p:nvSpPr>
          <p:cNvPr id="5"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Targets, Projects, and what gets scanned</a:t>
            </a:r>
            <a:endParaRPr lang="en-US" sz="3000" dirty="0"/>
          </a:p>
        </p:txBody>
      </p:sp>
      <p:sp>
        <p:nvSpPr>
          <p:cNvPr id="6" name="Text 3"/>
          <p:cNvSpPr/>
          <p:nvPr/>
        </p:nvSpPr>
        <p:spPr>
          <a:xfrm>
            <a:off x="508406" y="1755648"/>
            <a:ext cx="10424160" cy="384048"/>
          </a:xfrm>
          <a:prstGeom prst="rect">
            <a:avLst/>
          </a:prstGeom>
          <a:noFill/>
          <a:ln/>
        </p:spPr>
        <p:txBody>
          <a:bodyPr wrap="square" lIns="0" tIns="0" rIns="0" bIns="0" rtlCol="0" anchor="ctr"/>
          <a:lstStyle/>
          <a:p>
            <a:pPr indent="0" marL="0">
              <a:lnSpc>
                <a:spcPts val="1900"/>
              </a:lnSpc>
              <a:buNone/>
            </a:pPr>
            <a:r>
              <a:rPr lang="en-US" sz="1250" dirty="0">
                <a:solidFill>
                  <a:srgbClr val="8A8AA3"/>
                </a:solidFill>
                <a:latin typeface="Geist" pitchFamily="34" charset="0"/>
                <a:ea typeface="Geist" pitchFamily="34" charset="-122"/>
                <a:cs typeface="Geist" pitchFamily="34" charset="-120"/>
              </a:rPr>
              <a:t>One GitHub repository is one Target and easily a dozen Projects. This catches people out when the same repo appears six times.</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8406" y="2439619"/>
          <a:ext cx="11174882" cy="914400"/>
        </p:xfrm>
        <a:graphic>
          <a:graphicData uri="http://schemas.openxmlformats.org/drawingml/2006/table">
            <a:tbl>
              <a:tblPr/>
              <a:tblGrid>
                <a:gridCol w="3108960"/>
                <a:gridCol w="5852160"/>
                <a:gridCol w="2212848"/>
              </a:tblGrid>
              <a:tr h="603504">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Product</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What Snyk reads</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One Project per</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Snyk Open Source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manifest + build config, to resolve the dependency tree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manifest file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Snyk Code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repository code, cached for a one-time analysis; keeps file, line, column</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code root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Snyk Container</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the FROM statement in a Dockerfile — not the same as scanning a built image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Dockerfile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Snyk IaC</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infrastructure files, for side-by-side review; the file is not retained</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IaC file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bl>
          </a:graphicData>
        </a:graphic>
      </p:graphicFrame>
      <p:sp>
        <p:nvSpPr>
          <p:cNvPr id="8" name="Shape 4"/>
          <p:cNvSpPr/>
          <p:nvPr/>
        </p:nvSpPr>
        <p:spPr>
          <a:xfrm>
            <a:off x="508406" y="6245352"/>
            <a:ext cx="11174882" cy="10973"/>
          </a:xfrm>
          <a:prstGeom prst="rect">
            <a:avLst/>
          </a:prstGeom>
          <a:solidFill>
            <a:srgbClr val="FFFFFF">
              <a:alpha val="12000"/>
            </a:srgbClr>
          </a:solidFill>
          <a:ln/>
        </p:spPr>
      </p:sp>
      <p:pic>
        <p:nvPicPr>
          <p:cNvPr id="9" name="Image 1" descr="assets/logo-snyk-white.png">    </p:cNvPr>
          <p:cNvPicPr>
            <a:picLocks noChangeAspect="1"/>
          </p:cNvPicPr>
          <p:nvPr/>
        </p:nvPicPr>
        <p:blipFill>
          <a:blip r:embed="rId2"/>
          <a:stretch>
            <a:fillRect/>
          </a:stretch>
        </p:blipFill>
        <p:spPr>
          <a:xfrm>
            <a:off x="508406" y="6336792"/>
            <a:ext cx="621792" cy="219456"/>
          </a:xfrm>
          <a:prstGeom prst="rect">
            <a:avLst/>
          </a:prstGeom>
        </p:spPr>
      </p:pic>
      <p:sp>
        <p:nvSpPr>
          <p:cNvPr id="10" name="Text 5"/>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The Snyk app</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30328"/>
        </a:solidFill>
      </p:bgPr>
    </p:bg>
    <p:spTree>
      <p:nvGrpSpPr>
        <p:cNvPr id="1" name=""/>
        <p:cNvGrpSpPr/>
        <p:nvPr/>
      </p:nvGrpSpPr>
      <p:grpSpPr>
        <a:xfrm>
          <a:off x="0" y="0"/>
          <a:ext cx="0" cy="0"/>
          <a:chOff x="0" y="0"/>
          <a:chExt cx="0" cy="0"/>
        </a:xfrm>
      </p:grpSpPr>
      <p:sp>
        <p:nvSpPr>
          <p:cNvPr id="2" name="Shape 0"/>
          <p:cNvSpPr/>
          <p:nvPr/>
        </p:nvSpPr>
        <p:spPr>
          <a:xfrm>
            <a:off x="0" y="5989320"/>
            <a:ext cx="12191695" cy="868680"/>
          </a:xfrm>
          <a:prstGeom prst="rect">
            <a:avLst/>
          </a:prstGeom>
          <a:solidFill>
            <a:srgbClr val="030328"/>
          </a:solidFill>
          <a:ln/>
        </p:spPr>
      </p:sp>
      <p:sp>
        <p:nvSpPr>
          <p:cNvPr id="3"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THIS REPO IN SNYK</a:t>
            </a:r>
            <a:endParaRPr lang="en-US" sz="1050" dirty="0"/>
          </a:p>
        </p:txBody>
      </p:sp>
      <p:pic>
        <p:nvPicPr>
          <p:cNvPr id="4" name="Image 0" descr="assets/logo-snyk-white.png">    </p:cNvPr>
          <p:cNvPicPr>
            <a:picLocks noChangeAspect="1"/>
          </p:cNvPicPr>
          <p:nvPr/>
        </p:nvPicPr>
        <p:blipFill>
          <a:blip r:embed="rId1"/>
          <a:stretch>
            <a:fillRect/>
          </a:stretch>
        </p:blipFill>
        <p:spPr>
          <a:xfrm>
            <a:off x="10796321" y="435254"/>
            <a:ext cx="886968" cy="310896"/>
          </a:xfrm>
          <a:prstGeom prst="rect">
            <a:avLst/>
          </a:prstGeom>
        </p:spPr>
      </p:pic>
      <p:sp>
        <p:nvSpPr>
          <p:cNvPr id="5"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What you should see after import</a:t>
            </a:r>
            <a:endParaRPr lang="en-US" sz="3000" dirty="0"/>
          </a:p>
        </p:txBody>
      </p:sp>
      <p:sp>
        <p:nvSpPr>
          <p:cNvPr id="6" name="Text 3"/>
          <p:cNvSpPr/>
          <p:nvPr/>
        </p:nvSpPr>
        <p:spPr>
          <a:xfrm>
            <a:off x="508406" y="1755648"/>
            <a:ext cx="10424160" cy="384048"/>
          </a:xfrm>
          <a:prstGeom prst="rect">
            <a:avLst/>
          </a:prstGeom>
          <a:noFill/>
          <a:ln/>
        </p:spPr>
        <p:txBody>
          <a:bodyPr wrap="square" lIns="0" tIns="0" rIns="0" bIns="0" rtlCol="0" anchor="ctr"/>
          <a:lstStyle/>
          <a:p>
            <a:pPr indent="0" marL="0">
              <a:lnSpc>
                <a:spcPts val="1900"/>
              </a:lnSpc>
              <a:buNone/>
            </a:pPr>
            <a:r>
              <a:rPr lang="en-US" sz="1250" dirty="0">
                <a:solidFill>
                  <a:srgbClr val="8A8AA3"/>
                </a:solidFill>
                <a:latin typeface="Geist" pitchFamily="34" charset="0"/>
                <a:ea typeface="Geist" pitchFamily="34" charset="-122"/>
                <a:cs typeface="Geist" pitchFamily="34" charset="-120"/>
              </a:rPr>
              <a:t>If a Project is missing, a product is disabled for your org or those files were excluded at import. Ask your admin — it is not a bug.</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8406" y="2231136"/>
          <a:ext cx="11174882" cy="914400"/>
        </p:xfrm>
        <a:graphic>
          <a:graphicData uri="http://schemas.openxmlformats.org/drawingml/2006/table">
            <a:tbl>
              <a:tblPr/>
              <a:tblGrid>
                <a:gridCol w="4023360"/>
                <a:gridCol w="2926080"/>
                <a:gridCol w="4224528"/>
              </a:tblGrid>
              <a:tr h="530352">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Project</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Product</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Why it's there</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r>
              <a:tr h="530352">
                <a:tc>
                  <a:txBody>
                    <a:bodyPr/>
                    <a:lstStyle/>
                    <a:p>
                      <a:pPr indent="0" marL="0">
                        <a:buNone/>
                      </a:pPr>
                      <a:r>
                        <a:rPr lang="en-US" sz="1100" b="1" dirty="0">
                          <a:solidFill>
                            <a:srgbClr val="FFFFFF"/>
                          </a:solidFill>
                          <a:latin typeface="Geist" pitchFamily="34" charset="0"/>
                          <a:ea typeface="Geist" pitchFamily="34" charset="-122"/>
                          <a:cs typeface="Geist" pitchFamily="34" charset="-120"/>
                        </a:rPr>
                        <a:t>package.json</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Open Source (npm)</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server dependencies, including the pinned ancients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530352">
                <a:tc>
                  <a:txBody>
                    <a:bodyPr/>
                    <a:lstStyle/>
                    <a:p>
                      <a:pPr indent="0" marL="0">
                        <a:buNone/>
                      </a:pPr>
                      <a:r>
                        <a:rPr lang="en-US" sz="1100" b="1" dirty="0">
                          <a:solidFill>
                            <a:srgbClr val="FFFFFF"/>
                          </a:solidFill>
                          <a:latin typeface="Geist" pitchFamily="34" charset="0"/>
                          <a:ea typeface="Geist" pitchFamily="34" charset="-122"/>
                          <a:cs typeface="Geist" pitchFamily="34" charset="-120"/>
                        </a:rPr>
                        <a:t>frontend/package.json</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Open Source (npm)</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Angular dependencies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r h="530352">
                <a:tc>
                  <a:txBody>
                    <a:bodyPr/>
                    <a:lstStyle/>
                    <a:p>
                      <a:pPr indent="0" marL="0">
                        <a:buNone/>
                      </a:pPr>
                      <a:r>
                        <a:rPr lang="en-US" sz="1100" b="1" dirty="0">
                          <a:solidFill>
                            <a:srgbClr val="FFFFFF"/>
                          </a:solidFill>
                          <a:latin typeface="Geist" pitchFamily="34" charset="0"/>
                          <a:ea typeface="Geist" pitchFamily="34" charset="-122"/>
                          <a:cs typeface="Geist" pitchFamily="34" charset="-120"/>
                        </a:rPr>
                        <a:t>code analysis (whole repo)</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Snyk Code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the .ts flaws in routes/ and lib/</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530352">
                <a:tc>
                  <a:txBody>
                    <a:bodyPr/>
                    <a:lstStyle/>
                    <a:p>
                      <a:pPr indent="0" marL="0">
                        <a:buNone/>
                      </a:pPr>
                      <a:r>
                        <a:rPr lang="en-US" sz="1100" b="1" dirty="0">
                          <a:solidFill>
                            <a:srgbClr val="FFFFFF"/>
                          </a:solidFill>
                          <a:latin typeface="Geist" pitchFamily="34" charset="0"/>
                          <a:ea typeface="Geist" pitchFamily="34" charset="-122"/>
                          <a:cs typeface="Geist" pitchFamily="34" charset="-120"/>
                        </a:rPr>
                        <a:t>Dockerfile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Container</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node:24 builder → distroless runtime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r h="530352">
                <a:tc>
                  <a:txBody>
                    <a:bodyPr/>
                    <a:lstStyle/>
                    <a:p>
                      <a:pPr indent="0" marL="0">
                        <a:buNone/>
                      </a:pPr>
                      <a:r>
                        <a:rPr lang="en-US" sz="1100" b="1" dirty="0">
                          <a:solidFill>
                            <a:srgbClr val="FFFFFF"/>
                          </a:solidFill>
                          <a:latin typeface="Geist" pitchFamily="34" charset="0"/>
                          <a:ea typeface="Geist" pitchFamily="34" charset="-122"/>
                          <a:cs typeface="Geist" pitchFamily="34" charset="-120"/>
                        </a:rPr>
                        <a:t>infrastructure/Dockerfile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Container</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node:20.19.2 multi-stage; -slim runtime. Older base, well-written</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530352">
                <a:tc>
                  <a:txBody>
                    <a:bodyPr/>
                    <a:lstStyle/>
                    <a:p>
                      <a:pPr indent="0" marL="0">
                        <a:buNone/>
                      </a:pPr>
                      <a:r>
                        <a:rPr lang="en-US" sz="1100" b="1" dirty="0">
                          <a:solidFill>
                            <a:srgbClr val="FFFFFF"/>
                          </a:solidFill>
                          <a:latin typeface="Geist" pitchFamily="34" charset="0"/>
                          <a:ea typeface="Geist" pitchFamily="34" charset="-122"/>
                          <a:cs typeface="Geist" pitchFamily="34" charset="-120"/>
                        </a:rPr>
                        <a:t>terraform/*.tf</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Snyk IaC</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intentionally insecure AWS infrastructure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bl>
          </a:graphicData>
        </a:graphic>
      </p:graphicFrame>
      <p:sp>
        <p:nvSpPr>
          <p:cNvPr id="8" name="Shape 4"/>
          <p:cNvSpPr/>
          <p:nvPr/>
        </p:nvSpPr>
        <p:spPr>
          <a:xfrm>
            <a:off x="508406" y="6245352"/>
            <a:ext cx="11174882" cy="10973"/>
          </a:xfrm>
          <a:prstGeom prst="rect">
            <a:avLst/>
          </a:prstGeom>
          <a:solidFill>
            <a:srgbClr val="FFFFFF">
              <a:alpha val="12000"/>
            </a:srgbClr>
          </a:solidFill>
          <a:ln/>
        </p:spPr>
      </p:sp>
      <p:pic>
        <p:nvPicPr>
          <p:cNvPr id="9" name="Image 1" descr="assets/logo-snyk-white.png">    </p:cNvPr>
          <p:cNvPicPr>
            <a:picLocks noChangeAspect="1"/>
          </p:cNvPicPr>
          <p:nvPr/>
        </p:nvPicPr>
        <p:blipFill>
          <a:blip r:embed="rId2"/>
          <a:stretch>
            <a:fillRect/>
          </a:stretch>
        </p:blipFill>
        <p:spPr>
          <a:xfrm>
            <a:off x="508406" y="6336792"/>
            <a:ext cx="621792" cy="219456"/>
          </a:xfrm>
          <a:prstGeom prst="rect">
            <a:avLst/>
          </a:prstGeom>
        </p:spPr>
      </p:pic>
      <p:sp>
        <p:nvSpPr>
          <p:cNvPr id="10" name="Text 5"/>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The Snyk app</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DETAILED RISK ASSESSMENT</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Anatomy of an issue card</a:t>
            </a:r>
            <a:endParaRPr lang="en-US" sz="3000" dirty="0"/>
          </a:p>
        </p:txBody>
      </p:sp>
      <p:sp>
        <p:nvSpPr>
          <p:cNvPr id="7" name="Text 3"/>
          <p:cNvSpPr/>
          <p:nvPr/>
        </p:nvSpPr>
        <p:spPr>
          <a:xfrm>
            <a:off x="508406" y="1783080"/>
            <a:ext cx="9692640" cy="411480"/>
          </a:xfrm>
          <a:prstGeom prst="rect">
            <a:avLst/>
          </a:prstGeom>
          <a:noFill/>
          <a:ln/>
        </p:spPr>
        <p:txBody>
          <a:bodyPr wrap="square" lIns="0" tIns="0" rIns="0" bIns="0" rtlCol="0" anchor="ctr"/>
          <a:lstStyle/>
          <a:p>
            <a:pPr indent="0" marL="0">
              <a:lnSpc>
                <a:spcPts val="1900"/>
              </a:lnSpc>
              <a:buNone/>
            </a:pPr>
            <a:r>
              <a:rPr lang="en-US" sz="1250" dirty="0">
                <a:solidFill>
                  <a:srgbClr val="8A8AA3"/>
                </a:solidFill>
                <a:latin typeface="Geist" pitchFamily="34" charset="0"/>
                <a:ea typeface="Geist" pitchFamily="34" charset="-122"/>
                <a:cs typeface="Geist" pitchFamily="34" charset="-120"/>
              </a:rPr>
              <a:t>The card changes shape by product, language and your org's settings — but these four zones are always there.</a:t>
            </a:r>
            <a:endParaRPr lang="en-US" sz="1250" dirty="0"/>
          </a:p>
        </p:txBody>
      </p:sp>
      <p:sp>
        <p:nvSpPr>
          <p:cNvPr id="8" name="Shape 4"/>
          <p:cNvSpPr/>
          <p:nvPr/>
        </p:nvSpPr>
        <p:spPr>
          <a:xfrm>
            <a:off x="508406" y="2304288"/>
            <a:ext cx="2615413" cy="3657600"/>
          </a:xfrm>
          <a:prstGeom prst="roundRect">
            <a:avLst>
              <a:gd name="adj" fmla="val 2447"/>
            </a:avLst>
          </a:prstGeom>
          <a:solidFill>
            <a:srgbClr val="6F00DD">
              <a:alpha val="8000"/>
            </a:srgbClr>
          </a:solidFill>
          <a:ln w="9525">
            <a:solidFill>
              <a:srgbClr val="FFFFFF">
                <a:alpha val="14000"/>
              </a:srgbClr>
            </a:solidFill>
            <a:prstDash val="solid"/>
          </a:ln>
        </p:spPr>
      </p:sp>
      <p:pic>
        <p:nvPicPr>
          <p:cNvPr id="9" name="Image 2" descr="assets/grad_bar_v.png">    </p:cNvPr>
          <p:cNvPicPr>
            <a:picLocks noChangeAspect="1"/>
          </p:cNvPicPr>
          <p:nvPr/>
        </p:nvPicPr>
        <p:blipFill>
          <a:blip r:embed="rId3"/>
          <a:stretch>
            <a:fillRect/>
          </a:stretch>
        </p:blipFill>
        <p:spPr>
          <a:xfrm>
            <a:off x="508406" y="2432304"/>
            <a:ext cx="36576" cy="3401568"/>
          </a:xfrm>
          <a:prstGeom prst="rect">
            <a:avLst/>
          </a:prstGeom>
        </p:spPr>
      </p:pic>
      <p:sp>
        <p:nvSpPr>
          <p:cNvPr id="10" name="Text 5"/>
          <p:cNvSpPr/>
          <p:nvPr/>
        </p:nvSpPr>
        <p:spPr>
          <a:xfrm>
            <a:off x="727862" y="2441448"/>
            <a:ext cx="2213077"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01</a:t>
            </a:r>
            <a:endParaRPr lang="en-US" sz="850" dirty="0"/>
          </a:p>
        </p:txBody>
      </p:sp>
      <p:sp>
        <p:nvSpPr>
          <p:cNvPr id="11" name="Text 6"/>
          <p:cNvSpPr/>
          <p:nvPr/>
        </p:nvSpPr>
        <p:spPr>
          <a:xfrm>
            <a:off x="727862" y="2679192"/>
            <a:ext cx="2213077"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Details &amp; links</a:t>
            </a:r>
            <a:endParaRPr lang="en-US" sz="1500" dirty="0"/>
          </a:p>
        </p:txBody>
      </p:sp>
      <p:sp>
        <p:nvSpPr>
          <p:cNvPr id="12" name="Text 7"/>
          <p:cNvSpPr/>
          <p:nvPr/>
        </p:nvSpPr>
        <p:spPr>
          <a:xfrm>
            <a:off x="727862" y="2985516"/>
            <a:ext cx="2213077" cy="2848356"/>
          </a:xfrm>
          <a:prstGeom prst="rect">
            <a:avLst/>
          </a:prstGeom>
          <a:noFill/>
          <a:ln/>
        </p:spPr>
        <p:txBody>
          <a:bodyPr wrap="square" lIns="0" tIns="0" rIns="0" bIns="0" rtlCol="0" anchor="t"/>
          <a:lstStyle/>
          <a:p>
            <a:pPr indent="0" marL="0">
              <a:lnSpc>
                <a:spcPts val="1600"/>
              </a:lnSpc>
              <a:buNone/>
            </a:pPr>
            <a:r>
              <a:rPr lang="en-US" sz="1150" dirty="0">
                <a:solidFill>
                  <a:srgbClr val="B8B8CC"/>
                </a:solidFill>
                <a:latin typeface="Geist" pitchFamily="34" charset="0"/>
                <a:ea typeface="Geist" pitchFamily="34" charset="-122"/>
                <a:cs typeface="Geist" pitchFamily="34" charset="-120"/>
              </a:rPr>
              <a:t>Severity, CWE, CVE, CVSS, and the Snyk Vulnerability Database report. Start here when deciding whether you care.</a:t>
            </a:r>
            <a:endParaRPr lang="en-US" sz="1150" dirty="0"/>
          </a:p>
        </p:txBody>
      </p:sp>
      <p:sp>
        <p:nvSpPr>
          <p:cNvPr id="13" name="Shape 8"/>
          <p:cNvSpPr/>
          <p:nvPr/>
        </p:nvSpPr>
        <p:spPr>
          <a:xfrm>
            <a:off x="3361563" y="2304288"/>
            <a:ext cx="2615413" cy="3657600"/>
          </a:xfrm>
          <a:prstGeom prst="roundRect">
            <a:avLst>
              <a:gd name="adj" fmla="val 2447"/>
            </a:avLst>
          </a:prstGeom>
          <a:solidFill>
            <a:srgbClr val="6F00DD">
              <a:alpha val="8000"/>
            </a:srgbClr>
          </a:solidFill>
          <a:ln w="9525">
            <a:solidFill>
              <a:srgbClr val="FFFFFF">
                <a:alpha val="14000"/>
              </a:srgbClr>
            </a:solidFill>
            <a:prstDash val="solid"/>
          </a:ln>
        </p:spPr>
      </p:sp>
      <p:pic>
        <p:nvPicPr>
          <p:cNvPr id="14" name="Image 3" descr="assets/grad_bar_v.png">    </p:cNvPr>
          <p:cNvPicPr>
            <a:picLocks noChangeAspect="1"/>
          </p:cNvPicPr>
          <p:nvPr/>
        </p:nvPicPr>
        <p:blipFill>
          <a:blip r:embed="rId4"/>
          <a:stretch>
            <a:fillRect/>
          </a:stretch>
        </p:blipFill>
        <p:spPr>
          <a:xfrm>
            <a:off x="3361563" y="2432304"/>
            <a:ext cx="36576" cy="3401568"/>
          </a:xfrm>
          <a:prstGeom prst="rect">
            <a:avLst/>
          </a:prstGeom>
        </p:spPr>
      </p:pic>
      <p:sp>
        <p:nvSpPr>
          <p:cNvPr id="15" name="Text 9"/>
          <p:cNvSpPr/>
          <p:nvPr/>
        </p:nvSpPr>
        <p:spPr>
          <a:xfrm>
            <a:off x="3581019" y="2441448"/>
            <a:ext cx="2213077"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02</a:t>
            </a:r>
            <a:endParaRPr lang="en-US" sz="850" dirty="0"/>
          </a:p>
        </p:txBody>
      </p:sp>
      <p:sp>
        <p:nvSpPr>
          <p:cNvPr id="16" name="Text 10"/>
          <p:cNvSpPr/>
          <p:nvPr/>
        </p:nvSpPr>
        <p:spPr>
          <a:xfrm>
            <a:off x="3581019" y="2679192"/>
            <a:ext cx="2213077"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Priority Score</a:t>
            </a:r>
            <a:endParaRPr lang="en-US" sz="1500" dirty="0"/>
          </a:p>
        </p:txBody>
      </p:sp>
      <p:sp>
        <p:nvSpPr>
          <p:cNvPr id="17" name="Text 11"/>
          <p:cNvSpPr/>
          <p:nvPr/>
        </p:nvSpPr>
        <p:spPr>
          <a:xfrm>
            <a:off x="3581019" y="2985516"/>
            <a:ext cx="2213077" cy="2848356"/>
          </a:xfrm>
          <a:prstGeom prst="rect">
            <a:avLst/>
          </a:prstGeom>
          <a:noFill/>
          <a:ln/>
        </p:spPr>
        <p:txBody>
          <a:bodyPr wrap="square" lIns="0" tIns="0" rIns="0" bIns="0" rtlCol="0" anchor="t"/>
          <a:lstStyle/>
          <a:p>
            <a:pPr indent="0" marL="0">
              <a:lnSpc>
                <a:spcPts val="1600"/>
              </a:lnSpc>
              <a:buNone/>
            </a:pPr>
            <a:r>
              <a:rPr lang="en-US" sz="1150" dirty="0">
                <a:solidFill>
                  <a:srgbClr val="B8B8CC"/>
                </a:solidFill>
                <a:latin typeface="Geist" pitchFamily="34" charset="0"/>
                <a:ea typeface="Geist" pitchFamily="34" charset="-122"/>
                <a:cs typeface="Geist" pitchFamily="34" charset="-120"/>
              </a:rPr>
              <a:t>0 to 1000. Half base severity, half context — so two identical CVEs in different places score differently.</a:t>
            </a:r>
            <a:endParaRPr lang="en-US" sz="1150" dirty="0"/>
          </a:p>
        </p:txBody>
      </p:sp>
      <p:sp>
        <p:nvSpPr>
          <p:cNvPr id="18" name="Shape 12"/>
          <p:cNvSpPr/>
          <p:nvPr/>
        </p:nvSpPr>
        <p:spPr>
          <a:xfrm>
            <a:off x="6214720" y="2304288"/>
            <a:ext cx="2615413" cy="3657600"/>
          </a:xfrm>
          <a:prstGeom prst="roundRect">
            <a:avLst>
              <a:gd name="adj" fmla="val 2447"/>
            </a:avLst>
          </a:prstGeom>
          <a:solidFill>
            <a:srgbClr val="6F00DD">
              <a:alpha val="8000"/>
            </a:srgbClr>
          </a:solidFill>
          <a:ln w="9525">
            <a:solidFill>
              <a:srgbClr val="FFFFFF">
                <a:alpha val="14000"/>
              </a:srgbClr>
            </a:solidFill>
            <a:prstDash val="solid"/>
          </a:ln>
        </p:spPr>
      </p:sp>
      <p:pic>
        <p:nvPicPr>
          <p:cNvPr id="19" name="Image 4" descr="assets/grad_bar_v.png">    </p:cNvPr>
          <p:cNvPicPr>
            <a:picLocks noChangeAspect="1"/>
          </p:cNvPicPr>
          <p:nvPr/>
        </p:nvPicPr>
        <p:blipFill>
          <a:blip r:embed="rId5"/>
          <a:stretch>
            <a:fillRect/>
          </a:stretch>
        </p:blipFill>
        <p:spPr>
          <a:xfrm>
            <a:off x="6214720" y="2432304"/>
            <a:ext cx="36576" cy="3401568"/>
          </a:xfrm>
          <a:prstGeom prst="rect">
            <a:avLst/>
          </a:prstGeom>
        </p:spPr>
      </p:pic>
      <p:sp>
        <p:nvSpPr>
          <p:cNvPr id="20" name="Text 13"/>
          <p:cNvSpPr/>
          <p:nvPr/>
        </p:nvSpPr>
        <p:spPr>
          <a:xfrm>
            <a:off x="6434176" y="2441448"/>
            <a:ext cx="2213077"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03</a:t>
            </a:r>
            <a:endParaRPr lang="en-US" sz="850" dirty="0"/>
          </a:p>
        </p:txBody>
      </p:sp>
      <p:sp>
        <p:nvSpPr>
          <p:cNvPr id="21" name="Text 14"/>
          <p:cNvSpPr/>
          <p:nvPr/>
        </p:nvSpPr>
        <p:spPr>
          <a:xfrm>
            <a:off x="6434176" y="2679192"/>
            <a:ext cx="2213077"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Location &amp; fix</a:t>
            </a:r>
            <a:endParaRPr lang="en-US" sz="1500" dirty="0"/>
          </a:p>
        </p:txBody>
      </p:sp>
      <p:sp>
        <p:nvSpPr>
          <p:cNvPr id="22" name="Text 15"/>
          <p:cNvSpPr/>
          <p:nvPr/>
        </p:nvSpPr>
        <p:spPr>
          <a:xfrm>
            <a:off x="6434176" y="2985516"/>
            <a:ext cx="2213077" cy="2848356"/>
          </a:xfrm>
          <a:prstGeom prst="rect">
            <a:avLst/>
          </a:prstGeom>
          <a:noFill/>
          <a:ln/>
        </p:spPr>
        <p:txBody>
          <a:bodyPr wrap="square" lIns="0" tIns="0" rIns="0" bIns="0" rtlCol="0" anchor="t"/>
          <a:lstStyle/>
          <a:p>
            <a:pPr indent="0" marL="0">
              <a:lnSpc>
                <a:spcPts val="1600"/>
              </a:lnSpc>
              <a:buNone/>
            </a:pPr>
            <a:r>
              <a:rPr lang="en-US" sz="1150" dirty="0">
                <a:solidFill>
                  <a:srgbClr val="B8B8CC"/>
                </a:solidFill>
                <a:latin typeface="Geist" pitchFamily="34" charset="0"/>
                <a:ea typeface="Geist" pitchFamily="34" charset="-122"/>
                <a:cs typeface="Geist" pitchFamily="34" charset="-120"/>
              </a:rPr>
              <a:t>Introduced through / fixed in for a dependency; the source-to-sink data flow for code.</a:t>
            </a:r>
            <a:endParaRPr lang="en-US" sz="1150" dirty="0"/>
          </a:p>
        </p:txBody>
      </p:sp>
      <p:sp>
        <p:nvSpPr>
          <p:cNvPr id="23" name="Shape 16"/>
          <p:cNvSpPr/>
          <p:nvPr/>
        </p:nvSpPr>
        <p:spPr>
          <a:xfrm>
            <a:off x="9067876" y="2304288"/>
            <a:ext cx="2615413" cy="3657600"/>
          </a:xfrm>
          <a:prstGeom prst="roundRect">
            <a:avLst>
              <a:gd name="adj" fmla="val 2447"/>
            </a:avLst>
          </a:prstGeom>
          <a:solidFill>
            <a:srgbClr val="6F00DD">
              <a:alpha val="8000"/>
            </a:srgbClr>
          </a:solidFill>
          <a:ln w="9525">
            <a:solidFill>
              <a:srgbClr val="FFFFFF">
                <a:alpha val="14000"/>
              </a:srgbClr>
            </a:solidFill>
            <a:prstDash val="solid"/>
          </a:ln>
        </p:spPr>
      </p:sp>
      <p:pic>
        <p:nvPicPr>
          <p:cNvPr id="24" name="Image 5" descr="assets/grad_bar_v.png">    </p:cNvPr>
          <p:cNvPicPr>
            <a:picLocks noChangeAspect="1"/>
          </p:cNvPicPr>
          <p:nvPr/>
        </p:nvPicPr>
        <p:blipFill>
          <a:blip r:embed="rId6"/>
          <a:stretch>
            <a:fillRect/>
          </a:stretch>
        </p:blipFill>
        <p:spPr>
          <a:xfrm>
            <a:off x="9067876" y="2432304"/>
            <a:ext cx="36576" cy="3401568"/>
          </a:xfrm>
          <a:prstGeom prst="rect">
            <a:avLst/>
          </a:prstGeom>
        </p:spPr>
      </p:pic>
      <p:sp>
        <p:nvSpPr>
          <p:cNvPr id="25" name="Text 17"/>
          <p:cNvSpPr/>
          <p:nvPr/>
        </p:nvSpPr>
        <p:spPr>
          <a:xfrm>
            <a:off x="9287332" y="2441448"/>
            <a:ext cx="2213077"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04</a:t>
            </a:r>
            <a:endParaRPr lang="en-US" sz="850" dirty="0"/>
          </a:p>
        </p:txBody>
      </p:sp>
      <p:sp>
        <p:nvSpPr>
          <p:cNvPr id="26" name="Text 18"/>
          <p:cNvSpPr/>
          <p:nvPr/>
        </p:nvSpPr>
        <p:spPr>
          <a:xfrm>
            <a:off x="9287332" y="2679192"/>
            <a:ext cx="2213077"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Take action</a:t>
            </a:r>
            <a:endParaRPr lang="en-US" sz="1500" dirty="0"/>
          </a:p>
        </p:txBody>
      </p:sp>
      <p:sp>
        <p:nvSpPr>
          <p:cNvPr id="27" name="Text 19"/>
          <p:cNvSpPr/>
          <p:nvPr/>
        </p:nvSpPr>
        <p:spPr>
          <a:xfrm>
            <a:off x="9287332" y="2985516"/>
            <a:ext cx="2213077" cy="2848356"/>
          </a:xfrm>
          <a:prstGeom prst="rect">
            <a:avLst/>
          </a:prstGeom>
          <a:noFill/>
          <a:ln/>
        </p:spPr>
        <p:txBody>
          <a:bodyPr wrap="square" lIns="0" tIns="0" rIns="0" bIns="0" rtlCol="0" anchor="t"/>
          <a:lstStyle/>
          <a:p>
            <a:pPr indent="0" marL="0">
              <a:lnSpc>
                <a:spcPts val="1600"/>
              </a:lnSpc>
              <a:buNone/>
            </a:pPr>
            <a:r>
              <a:rPr lang="en-US" sz="1150" dirty="0">
                <a:solidFill>
                  <a:srgbClr val="B8B8CC"/>
                </a:solidFill>
                <a:latin typeface="Geist" pitchFamily="34" charset="0"/>
                <a:ea typeface="Geist" pitchFamily="34" charset="-122"/>
                <a:cs typeface="Geist" pitchFamily="34" charset="-120"/>
              </a:rPr>
              <a:t>Open a Fix PR, create a Jira ticket, or ignore — with a reason and an expiry.</a:t>
            </a:r>
            <a:endParaRPr lang="en-US" sz="1150" dirty="0"/>
          </a:p>
        </p:txBody>
      </p:sp>
      <p:sp>
        <p:nvSpPr>
          <p:cNvPr id="28" name="Shape 20"/>
          <p:cNvSpPr/>
          <p:nvPr/>
        </p:nvSpPr>
        <p:spPr>
          <a:xfrm>
            <a:off x="508406" y="6245352"/>
            <a:ext cx="11174882" cy="10973"/>
          </a:xfrm>
          <a:prstGeom prst="rect">
            <a:avLst/>
          </a:prstGeom>
          <a:solidFill>
            <a:srgbClr val="FFFFFF">
              <a:alpha val="12000"/>
            </a:srgbClr>
          </a:solidFill>
          <a:ln/>
        </p:spPr>
      </p:sp>
      <p:pic>
        <p:nvPicPr>
          <p:cNvPr id="29" name="Image 6" descr="assets/logo-snyk-white.png">    </p:cNvPr>
          <p:cNvPicPr>
            <a:picLocks noChangeAspect="1"/>
          </p:cNvPicPr>
          <p:nvPr/>
        </p:nvPicPr>
        <p:blipFill>
          <a:blip r:embed="rId7"/>
          <a:stretch>
            <a:fillRect/>
          </a:stretch>
        </p:blipFill>
        <p:spPr>
          <a:xfrm>
            <a:off x="508406" y="6336792"/>
            <a:ext cx="621792" cy="219456"/>
          </a:xfrm>
          <a:prstGeom prst="rect">
            <a:avLst/>
          </a:prstGeom>
        </p:spPr>
      </p:pic>
      <p:sp>
        <p:nvSpPr>
          <p:cNvPr id="30" name="Text 21"/>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The Snyk app</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PRIORITY SCORE</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Seven factors, one number</a:t>
            </a:r>
            <a:endParaRPr lang="en-US" sz="3000" dirty="0"/>
          </a:p>
        </p:txBody>
      </p:sp>
      <p:sp>
        <p:nvSpPr>
          <p:cNvPr id="7" name="Text 3"/>
          <p:cNvSpPr/>
          <p:nvPr/>
        </p:nvSpPr>
        <p:spPr>
          <a:xfrm>
            <a:off x="508406" y="1783080"/>
            <a:ext cx="9692640" cy="411480"/>
          </a:xfrm>
          <a:prstGeom prst="rect">
            <a:avLst/>
          </a:prstGeom>
          <a:noFill/>
          <a:ln/>
        </p:spPr>
        <p:txBody>
          <a:bodyPr wrap="square" lIns="0" tIns="0" rIns="0" bIns="0" rtlCol="0" anchor="ctr"/>
          <a:lstStyle/>
          <a:p>
            <a:pPr indent="0" marL="0">
              <a:lnSpc>
                <a:spcPts val="1900"/>
              </a:lnSpc>
              <a:buNone/>
            </a:pPr>
            <a:r>
              <a:rPr lang="en-US" sz="1250" dirty="0">
                <a:solidFill>
                  <a:srgbClr val="8A8AA3"/>
                </a:solidFill>
                <a:latin typeface="Geist" pitchFamily="34" charset="0"/>
                <a:ea typeface="Geist" pitchFamily="34" charset="-122"/>
                <a:cs typeface="Geist" pitchFamily="34" charset="-120"/>
              </a:rPr>
              <a:t>Use it as a sort order, not as gospel. You still know your application better than the score does.</a:t>
            </a:r>
            <a:endParaRPr lang="en-US" sz="1250" dirty="0"/>
          </a:p>
        </p:txBody>
      </p:sp>
      <p:sp>
        <p:nvSpPr>
          <p:cNvPr id="8" name="Shape 4"/>
          <p:cNvSpPr/>
          <p:nvPr/>
        </p:nvSpPr>
        <p:spPr>
          <a:xfrm>
            <a:off x="508406" y="2304288"/>
            <a:ext cx="2615413"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9" name="Image 2" descr="assets/grad_bar_v.png">    </p:cNvPr>
          <p:cNvPicPr>
            <a:picLocks noChangeAspect="1"/>
          </p:cNvPicPr>
          <p:nvPr/>
        </p:nvPicPr>
        <p:blipFill>
          <a:blip r:embed="rId3"/>
          <a:stretch>
            <a:fillRect/>
          </a:stretch>
        </p:blipFill>
        <p:spPr>
          <a:xfrm>
            <a:off x="508406" y="2432304"/>
            <a:ext cx="36576" cy="1453896"/>
          </a:xfrm>
          <a:prstGeom prst="rect">
            <a:avLst/>
          </a:prstGeom>
        </p:spPr>
      </p:pic>
      <p:sp>
        <p:nvSpPr>
          <p:cNvPr id="10" name="Text 5"/>
          <p:cNvSpPr/>
          <p:nvPr/>
        </p:nvSpPr>
        <p:spPr>
          <a:xfrm>
            <a:off x="727862" y="2441448"/>
            <a:ext cx="2213077"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BASE</a:t>
            </a:r>
            <a:endParaRPr lang="en-US" sz="850" dirty="0"/>
          </a:p>
        </p:txBody>
      </p:sp>
      <p:sp>
        <p:nvSpPr>
          <p:cNvPr id="11" name="Text 6"/>
          <p:cNvSpPr/>
          <p:nvPr/>
        </p:nvSpPr>
        <p:spPr>
          <a:xfrm>
            <a:off x="727862" y="2679192"/>
            <a:ext cx="2213077"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Severity</a:t>
            </a:r>
            <a:endParaRPr lang="en-US" sz="1500" dirty="0"/>
          </a:p>
        </p:txBody>
      </p:sp>
      <p:sp>
        <p:nvSpPr>
          <p:cNvPr id="12" name="Text 7"/>
          <p:cNvSpPr/>
          <p:nvPr/>
        </p:nvSpPr>
        <p:spPr>
          <a:xfrm>
            <a:off x="727862" y="2985516"/>
            <a:ext cx="2213077"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CVSS for the issue. Half the 1000 points come from base severity.</a:t>
            </a:r>
            <a:endParaRPr lang="en-US" sz="1100" dirty="0"/>
          </a:p>
        </p:txBody>
      </p:sp>
      <p:sp>
        <p:nvSpPr>
          <p:cNvPr id="13" name="Shape 8"/>
          <p:cNvSpPr/>
          <p:nvPr/>
        </p:nvSpPr>
        <p:spPr>
          <a:xfrm>
            <a:off x="3361563" y="2304288"/>
            <a:ext cx="2615413"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14" name="Image 3" descr="assets/grad_bar_v.png">    </p:cNvPr>
          <p:cNvPicPr>
            <a:picLocks noChangeAspect="1"/>
          </p:cNvPicPr>
          <p:nvPr/>
        </p:nvPicPr>
        <p:blipFill>
          <a:blip r:embed="rId4"/>
          <a:stretch>
            <a:fillRect/>
          </a:stretch>
        </p:blipFill>
        <p:spPr>
          <a:xfrm>
            <a:off x="3361563" y="2432304"/>
            <a:ext cx="36576" cy="1453896"/>
          </a:xfrm>
          <a:prstGeom prst="rect">
            <a:avLst/>
          </a:prstGeom>
        </p:spPr>
      </p:pic>
      <p:sp>
        <p:nvSpPr>
          <p:cNvPr id="15" name="Text 9"/>
          <p:cNvSpPr/>
          <p:nvPr/>
        </p:nvSpPr>
        <p:spPr>
          <a:xfrm>
            <a:off x="3581019" y="2441448"/>
            <a:ext cx="2213077"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CONTEXT</a:t>
            </a:r>
            <a:endParaRPr lang="en-US" sz="850" dirty="0"/>
          </a:p>
        </p:txBody>
      </p:sp>
      <p:sp>
        <p:nvSpPr>
          <p:cNvPr id="16" name="Text 10"/>
          <p:cNvSpPr/>
          <p:nvPr/>
        </p:nvSpPr>
        <p:spPr>
          <a:xfrm>
            <a:off x="3581019" y="2679192"/>
            <a:ext cx="2213077"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Exploit maturity</a:t>
            </a:r>
            <a:endParaRPr lang="en-US" sz="1500" dirty="0"/>
          </a:p>
        </p:txBody>
      </p:sp>
      <p:sp>
        <p:nvSpPr>
          <p:cNvPr id="17" name="Text 11"/>
          <p:cNvSpPr/>
          <p:nvPr/>
        </p:nvSpPr>
        <p:spPr>
          <a:xfrm>
            <a:off x="3581019" y="2985516"/>
            <a:ext cx="2213077"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Snyk's security team tracks what is actually exploitable, and how far.</a:t>
            </a:r>
            <a:endParaRPr lang="en-US" sz="1100" dirty="0"/>
          </a:p>
        </p:txBody>
      </p:sp>
      <p:sp>
        <p:nvSpPr>
          <p:cNvPr id="18" name="Shape 12"/>
          <p:cNvSpPr/>
          <p:nvPr/>
        </p:nvSpPr>
        <p:spPr>
          <a:xfrm>
            <a:off x="6214720" y="2304288"/>
            <a:ext cx="2615413"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19" name="Image 4" descr="assets/grad_bar_v.png">    </p:cNvPr>
          <p:cNvPicPr>
            <a:picLocks noChangeAspect="1"/>
          </p:cNvPicPr>
          <p:nvPr/>
        </p:nvPicPr>
        <p:blipFill>
          <a:blip r:embed="rId5"/>
          <a:stretch>
            <a:fillRect/>
          </a:stretch>
        </p:blipFill>
        <p:spPr>
          <a:xfrm>
            <a:off x="6214720" y="2432304"/>
            <a:ext cx="36576" cy="1453896"/>
          </a:xfrm>
          <a:prstGeom prst="rect">
            <a:avLst/>
          </a:prstGeom>
        </p:spPr>
      </p:pic>
      <p:sp>
        <p:nvSpPr>
          <p:cNvPr id="20" name="Text 13"/>
          <p:cNvSpPr/>
          <p:nvPr/>
        </p:nvSpPr>
        <p:spPr>
          <a:xfrm>
            <a:off x="6434176" y="2441448"/>
            <a:ext cx="2213077"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CONTEXT</a:t>
            </a:r>
            <a:endParaRPr lang="en-US" sz="850" dirty="0"/>
          </a:p>
        </p:txBody>
      </p:sp>
      <p:sp>
        <p:nvSpPr>
          <p:cNvPr id="21" name="Text 14"/>
          <p:cNvSpPr/>
          <p:nvPr/>
        </p:nvSpPr>
        <p:spPr>
          <a:xfrm>
            <a:off x="6434176" y="2679192"/>
            <a:ext cx="2213077"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Reachability</a:t>
            </a:r>
            <a:endParaRPr lang="en-US" sz="1500" dirty="0"/>
          </a:p>
        </p:txBody>
      </p:sp>
      <p:sp>
        <p:nvSpPr>
          <p:cNvPr id="22" name="Text 15"/>
          <p:cNvSpPr/>
          <p:nvPr/>
        </p:nvSpPr>
        <p:spPr>
          <a:xfrm>
            <a:off x="6434176" y="2985516"/>
            <a:ext cx="2213077"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Is the vulnerable code path actually called from your project?</a:t>
            </a:r>
            <a:endParaRPr lang="en-US" sz="1100" dirty="0"/>
          </a:p>
        </p:txBody>
      </p:sp>
      <p:sp>
        <p:nvSpPr>
          <p:cNvPr id="23" name="Shape 16"/>
          <p:cNvSpPr/>
          <p:nvPr/>
        </p:nvSpPr>
        <p:spPr>
          <a:xfrm>
            <a:off x="9067876" y="2304288"/>
            <a:ext cx="2615413"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24" name="Image 5" descr="assets/grad_bar_v.png">    </p:cNvPr>
          <p:cNvPicPr>
            <a:picLocks noChangeAspect="1"/>
          </p:cNvPicPr>
          <p:nvPr/>
        </p:nvPicPr>
        <p:blipFill>
          <a:blip r:embed="rId6"/>
          <a:stretch>
            <a:fillRect/>
          </a:stretch>
        </p:blipFill>
        <p:spPr>
          <a:xfrm>
            <a:off x="9067876" y="2432304"/>
            <a:ext cx="36576" cy="1453896"/>
          </a:xfrm>
          <a:prstGeom prst="rect">
            <a:avLst/>
          </a:prstGeom>
        </p:spPr>
      </p:pic>
      <p:sp>
        <p:nvSpPr>
          <p:cNvPr id="25" name="Text 17"/>
          <p:cNvSpPr/>
          <p:nvPr/>
        </p:nvSpPr>
        <p:spPr>
          <a:xfrm>
            <a:off x="9287332" y="2441448"/>
            <a:ext cx="2213077"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CONTEXT</a:t>
            </a:r>
            <a:endParaRPr lang="en-US" sz="850" dirty="0"/>
          </a:p>
        </p:txBody>
      </p:sp>
      <p:sp>
        <p:nvSpPr>
          <p:cNvPr id="26" name="Text 18"/>
          <p:cNvSpPr/>
          <p:nvPr/>
        </p:nvSpPr>
        <p:spPr>
          <a:xfrm>
            <a:off x="9287332" y="2679192"/>
            <a:ext cx="2213077"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Fixability</a:t>
            </a:r>
            <a:endParaRPr lang="en-US" sz="1500" dirty="0"/>
          </a:p>
        </p:txBody>
      </p:sp>
      <p:sp>
        <p:nvSpPr>
          <p:cNvPr id="27" name="Text 19"/>
          <p:cNvSpPr/>
          <p:nvPr/>
        </p:nvSpPr>
        <p:spPr>
          <a:xfrm>
            <a:off x="9287332" y="2985516"/>
            <a:ext cx="2213077"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A fix that exists outranks one that does not — you can act on it today.</a:t>
            </a:r>
            <a:endParaRPr lang="en-US" sz="1100" dirty="0"/>
          </a:p>
        </p:txBody>
      </p:sp>
      <p:sp>
        <p:nvSpPr>
          <p:cNvPr id="28" name="Shape 20"/>
          <p:cNvSpPr/>
          <p:nvPr/>
        </p:nvSpPr>
        <p:spPr>
          <a:xfrm>
            <a:off x="508406" y="4251960"/>
            <a:ext cx="2615413"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29" name="Image 6" descr="assets/grad_bar_v.png">    </p:cNvPr>
          <p:cNvPicPr>
            <a:picLocks noChangeAspect="1"/>
          </p:cNvPicPr>
          <p:nvPr/>
        </p:nvPicPr>
        <p:blipFill>
          <a:blip r:embed="rId7"/>
          <a:stretch>
            <a:fillRect/>
          </a:stretch>
        </p:blipFill>
        <p:spPr>
          <a:xfrm>
            <a:off x="508406" y="4379976"/>
            <a:ext cx="36576" cy="1453896"/>
          </a:xfrm>
          <a:prstGeom prst="rect">
            <a:avLst/>
          </a:prstGeom>
        </p:spPr>
      </p:pic>
      <p:sp>
        <p:nvSpPr>
          <p:cNvPr id="30" name="Text 21"/>
          <p:cNvSpPr/>
          <p:nvPr/>
        </p:nvSpPr>
        <p:spPr>
          <a:xfrm>
            <a:off x="727862" y="4389120"/>
            <a:ext cx="2213077"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CONTEXT</a:t>
            </a:r>
            <a:endParaRPr lang="en-US" sz="850" dirty="0"/>
          </a:p>
        </p:txBody>
      </p:sp>
      <p:sp>
        <p:nvSpPr>
          <p:cNvPr id="31" name="Text 22"/>
          <p:cNvSpPr/>
          <p:nvPr/>
        </p:nvSpPr>
        <p:spPr>
          <a:xfrm>
            <a:off x="727862" y="4626864"/>
            <a:ext cx="2213077"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Time</a:t>
            </a:r>
            <a:endParaRPr lang="en-US" sz="1500" dirty="0"/>
          </a:p>
        </p:txBody>
      </p:sp>
      <p:sp>
        <p:nvSpPr>
          <p:cNvPr id="32" name="Text 23"/>
          <p:cNvSpPr/>
          <p:nvPr/>
        </p:nvSpPr>
        <p:spPr>
          <a:xfrm>
            <a:off x="727862" y="4933188"/>
            <a:ext cx="2213077"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New disclosures carry more risk while the world catches up.</a:t>
            </a:r>
            <a:endParaRPr lang="en-US" sz="1100" dirty="0"/>
          </a:p>
        </p:txBody>
      </p:sp>
      <p:sp>
        <p:nvSpPr>
          <p:cNvPr id="33" name="Shape 24"/>
          <p:cNvSpPr/>
          <p:nvPr/>
        </p:nvSpPr>
        <p:spPr>
          <a:xfrm>
            <a:off x="3361563" y="4251960"/>
            <a:ext cx="2615413"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34" name="Image 7" descr="assets/grad_bar_v.png">    </p:cNvPr>
          <p:cNvPicPr>
            <a:picLocks noChangeAspect="1"/>
          </p:cNvPicPr>
          <p:nvPr/>
        </p:nvPicPr>
        <p:blipFill>
          <a:blip r:embed="rId8"/>
          <a:stretch>
            <a:fillRect/>
          </a:stretch>
        </p:blipFill>
        <p:spPr>
          <a:xfrm>
            <a:off x="3361563" y="4379976"/>
            <a:ext cx="36576" cy="1453896"/>
          </a:xfrm>
          <a:prstGeom prst="rect">
            <a:avLst/>
          </a:prstGeom>
        </p:spPr>
      </p:pic>
      <p:sp>
        <p:nvSpPr>
          <p:cNvPr id="35" name="Text 25"/>
          <p:cNvSpPr/>
          <p:nvPr/>
        </p:nvSpPr>
        <p:spPr>
          <a:xfrm>
            <a:off x="3581019" y="4389120"/>
            <a:ext cx="2213077"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CONTEXT</a:t>
            </a:r>
            <a:endParaRPr lang="en-US" sz="850" dirty="0"/>
          </a:p>
        </p:txBody>
      </p:sp>
      <p:sp>
        <p:nvSpPr>
          <p:cNvPr id="36" name="Text 26"/>
          <p:cNvSpPr/>
          <p:nvPr/>
        </p:nvSpPr>
        <p:spPr>
          <a:xfrm>
            <a:off x="3581019" y="4626864"/>
            <a:ext cx="2213077"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Social trends</a:t>
            </a:r>
            <a:endParaRPr lang="en-US" sz="1500" dirty="0"/>
          </a:p>
        </p:txBody>
      </p:sp>
      <p:sp>
        <p:nvSpPr>
          <p:cNvPr id="37" name="Text 27"/>
          <p:cNvSpPr/>
          <p:nvPr/>
        </p:nvSpPr>
        <p:spPr>
          <a:xfrm>
            <a:off x="3581019" y="4933188"/>
            <a:ext cx="2213077"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Snyk monitors public chatter about known vulnerabilities and tracks the trend.</a:t>
            </a:r>
            <a:endParaRPr lang="en-US" sz="1100" dirty="0"/>
          </a:p>
        </p:txBody>
      </p:sp>
      <p:sp>
        <p:nvSpPr>
          <p:cNvPr id="38" name="Shape 28"/>
          <p:cNvSpPr/>
          <p:nvPr/>
        </p:nvSpPr>
        <p:spPr>
          <a:xfrm>
            <a:off x="6214720" y="4251960"/>
            <a:ext cx="2615413"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39" name="Image 8" descr="assets/grad_bar_v.png">    </p:cNvPr>
          <p:cNvPicPr>
            <a:picLocks noChangeAspect="1"/>
          </p:cNvPicPr>
          <p:nvPr/>
        </p:nvPicPr>
        <p:blipFill>
          <a:blip r:embed="rId9"/>
          <a:stretch>
            <a:fillRect/>
          </a:stretch>
        </p:blipFill>
        <p:spPr>
          <a:xfrm>
            <a:off x="6214720" y="4379976"/>
            <a:ext cx="36576" cy="1453896"/>
          </a:xfrm>
          <a:prstGeom prst="rect">
            <a:avLst/>
          </a:prstGeom>
        </p:spPr>
      </p:pic>
      <p:sp>
        <p:nvSpPr>
          <p:cNvPr id="40" name="Text 29"/>
          <p:cNvSpPr/>
          <p:nvPr/>
        </p:nvSpPr>
        <p:spPr>
          <a:xfrm>
            <a:off x="6434176" y="4389120"/>
            <a:ext cx="2213077"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CONTEXT</a:t>
            </a:r>
            <a:endParaRPr lang="en-US" sz="850" dirty="0"/>
          </a:p>
        </p:txBody>
      </p:sp>
      <p:sp>
        <p:nvSpPr>
          <p:cNvPr id="41" name="Text 30"/>
          <p:cNvSpPr/>
          <p:nvPr/>
        </p:nvSpPr>
        <p:spPr>
          <a:xfrm>
            <a:off x="6434176" y="4626864"/>
            <a:ext cx="2213077"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Malicious packages</a:t>
            </a:r>
            <a:endParaRPr lang="en-US" sz="1500" dirty="0"/>
          </a:p>
        </p:txBody>
      </p:sp>
      <p:sp>
        <p:nvSpPr>
          <p:cNvPr id="42" name="Text 31"/>
          <p:cNvSpPr/>
          <p:nvPr/>
        </p:nvSpPr>
        <p:spPr>
          <a:xfrm>
            <a:off x="6434176" y="4933188"/>
            <a:ext cx="2213077"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Anything originating from a malicious package is prioritized.</a:t>
            </a:r>
            <a:endParaRPr lang="en-US" sz="1100" dirty="0"/>
          </a:p>
        </p:txBody>
      </p:sp>
      <p:sp>
        <p:nvSpPr>
          <p:cNvPr id="43" name="Shape 32"/>
          <p:cNvSpPr/>
          <p:nvPr/>
        </p:nvSpPr>
        <p:spPr>
          <a:xfrm>
            <a:off x="9067876" y="4251960"/>
            <a:ext cx="2615413"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44" name="Image 9" descr="assets/grad_bar_v.png">    </p:cNvPr>
          <p:cNvPicPr>
            <a:picLocks noChangeAspect="1"/>
          </p:cNvPicPr>
          <p:nvPr/>
        </p:nvPicPr>
        <p:blipFill>
          <a:blip r:embed="rId10"/>
          <a:stretch>
            <a:fillRect/>
          </a:stretch>
        </p:blipFill>
        <p:spPr>
          <a:xfrm>
            <a:off x="9067876" y="4379976"/>
            <a:ext cx="36576" cy="1453896"/>
          </a:xfrm>
          <a:prstGeom prst="rect">
            <a:avLst/>
          </a:prstGeom>
        </p:spPr>
      </p:pic>
      <p:sp>
        <p:nvSpPr>
          <p:cNvPr id="45" name="Text 33"/>
          <p:cNvSpPr/>
          <p:nvPr/>
        </p:nvSpPr>
        <p:spPr>
          <a:xfrm>
            <a:off x="9287332" y="4389120"/>
            <a:ext cx="2213077"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EA</a:t>
            </a:r>
            <a:endParaRPr lang="en-US" sz="850" dirty="0"/>
          </a:p>
        </p:txBody>
      </p:sp>
      <p:sp>
        <p:nvSpPr>
          <p:cNvPr id="46" name="Text 34"/>
          <p:cNvSpPr/>
          <p:nvPr/>
        </p:nvSpPr>
        <p:spPr>
          <a:xfrm>
            <a:off x="9287332" y="4626864"/>
            <a:ext cx="2213077"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Risk Score</a:t>
            </a:r>
            <a:endParaRPr lang="en-US" sz="1500" dirty="0"/>
          </a:p>
        </p:txBody>
      </p:sp>
      <p:sp>
        <p:nvSpPr>
          <p:cNvPr id="47" name="Text 35"/>
          <p:cNvSpPr/>
          <p:nvPr/>
        </p:nvSpPr>
        <p:spPr>
          <a:xfrm>
            <a:off x="9287332" y="4933188"/>
            <a:ext cx="2213077"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The successor, in EA for Open Source and Container. Not in the CLI yet; the API field is still priority.</a:t>
            </a:r>
            <a:endParaRPr lang="en-US" sz="1100" dirty="0"/>
          </a:p>
        </p:txBody>
      </p:sp>
      <p:sp>
        <p:nvSpPr>
          <p:cNvPr id="48" name="Shape 36"/>
          <p:cNvSpPr/>
          <p:nvPr/>
        </p:nvSpPr>
        <p:spPr>
          <a:xfrm>
            <a:off x="508406" y="6245352"/>
            <a:ext cx="11174882" cy="10973"/>
          </a:xfrm>
          <a:prstGeom prst="rect">
            <a:avLst/>
          </a:prstGeom>
          <a:solidFill>
            <a:srgbClr val="FFFFFF">
              <a:alpha val="12000"/>
            </a:srgbClr>
          </a:solidFill>
          <a:ln/>
        </p:spPr>
      </p:sp>
      <p:pic>
        <p:nvPicPr>
          <p:cNvPr id="49" name="Image 10" descr="assets/logo-snyk-white.png">    </p:cNvPr>
          <p:cNvPicPr>
            <a:picLocks noChangeAspect="1"/>
          </p:cNvPicPr>
          <p:nvPr/>
        </p:nvPicPr>
        <p:blipFill>
          <a:blip r:embed="rId11"/>
          <a:stretch>
            <a:fillRect/>
          </a:stretch>
        </p:blipFill>
        <p:spPr>
          <a:xfrm>
            <a:off x="508406" y="6336792"/>
            <a:ext cx="621792" cy="219456"/>
          </a:xfrm>
          <a:prstGeom prst="rect">
            <a:avLst/>
          </a:prstGeom>
        </p:spPr>
      </p:pic>
      <p:sp>
        <p:nvSpPr>
          <p:cNvPr id="50" name="Text 37"/>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The Snyk app</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DEPENDENCIES</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Direct vs transitive</a:t>
            </a:r>
            <a:endParaRPr lang="en-US" sz="3000" dirty="0"/>
          </a:p>
        </p:txBody>
      </p:sp>
      <p:sp>
        <p:nvSpPr>
          <p:cNvPr id="7" name="Shape 3"/>
          <p:cNvSpPr/>
          <p:nvPr/>
        </p:nvSpPr>
        <p:spPr>
          <a:xfrm>
            <a:off x="508406" y="1993392"/>
            <a:ext cx="5468569" cy="3968496"/>
          </a:xfrm>
          <a:prstGeom prst="roundRect">
            <a:avLst>
              <a:gd name="adj" fmla="val 1613"/>
            </a:avLst>
          </a:prstGeom>
          <a:solidFill>
            <a:srgbClr val="6F00DD">
              <a:alpha val="8000"/>
            </a:srgbClr>
          </a:solidFill>
          <a:ln w="9525">
            <a:solidFill>
              <a:srgbClr val="FFFFFF">
                <a:alpha val="14000"/>
              </a:srgbClr>
            </a:solidFill>
            <a:prstDash val="solid"/>
          </a:ln>
        </p:spPr>
      </p:sp>
      <p:pic>
        <p:nvPicPr>
          <p:cNvPr id="8" name="Image 2" descr="assets/grad_bar_v.png">    </p:cNvPr>
          <p:cNvPicPr>
            <a:picLocks noChangeAspect="1"/>
          </p:cNvPicPr>
          <p:nvPr/>
        </p:nvPicPr>
        <p:blipFill>
          <a:blip r:embed="rId3"/>
          <a:stretch>
            <a:fillRect/>
          </a:stretch>
        </p:blipFill>
        <p:spPr>
          <a:xfrm>
            <a:off x="508406" y="2121408"/>
            <a:ext cx="36576" cy="3712464"/>
          </a:xfrm>
          <a:prstGeom prst="rect">
            <a:avLst/>
          </a:prstGeom>
        </p:spPr>
      </p:pic>
      <p:sp>
        <p:nvSpPr>
          <p:cNvPr id="9" name="Text 4"/>
          <p:cNvSpPr/>
          <p:nvPr/>
        </p:nvSpPr>
        <p:spPr>
          <a:xfrm>
            <a:off x="727862" y="2130552"/>
            <a:ext cx="5066233"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HOW IT HAPPENS</a:t>
            </a:r>
            <a:endParaRPr lang="en-US" sz="850" dirty="0"/>
          </a:p>
        </p:txBody>
      </p:sp>
      <p:sp>
        <p:nvSpPr>
          <p:cNvPr id="10" name="Text 5"/>
          <p:cNvSpPr/>
          <p:nvPr/>
        </p:nvSpPr>
        <p:spPr>
          <a:xfrm>
            <a:off x="727862" y="2368296"/>
            <a:ext cx="5066233"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You never chose most of them</a:t>
            </a:r>
            <a:endParaRPr lang="en-US" sz="1500" dirty="0"/>
          </a:p>
        </p:txBody>
      </p:sp>
      <p:sp>
        <p:nvSpPr>
          <p:cNvPr id="11" name="Text 6"/>
          <p:cNvSpPr/>
          <p:nvPr/>
        </p:nvSpPr>
        <p:spPr>
          <a:xfrm>
            <a:off x="727862" y="2674620"/>
            <a:ext cx="5066233" cy="3159252"/>
          </a:xfrm>
          <a:prstGeom prst="rect">
            <a:avLst/>
          </a:prstGeom>
          <a:noFill/>
          <a:ln/>
        </p:spPr>
        <p:txBody>
          <a:bodyPr wrap="square" lIns="0" tIns="0" rIns="0" bIns="0" rtlCol="0" anchor="t"/>
          <a:lstStyle/>
          <a:p>
            <a:pPr indent="0" marL="0">
              <a:lnSpc>
                <a:spcPts val="1600"/>
              </a:lnSpc>
              <a:buNone/>
            </a:pPr>
            <a:r>
              <a:rPr lang="en-US" sz="1150" dirty="0">
                <a:solidFill>
                  <a:srgbClr val="B8B8CC"/>
                </a:solidFill>
                <a:latin typeface="Geist" pitchFamily="34" charset="0"/>
                <a:ea typeface="Geist" pitchFamily="34" charset="-122"/>
                <a:cs typeface="Geist" pitchFamily="34" charset="-120"/>
              </a:rPr>
              <a:t>A direct dependency is one you added. A transitive one — deep, chained, indirect — is one your dependency added.</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Most reported CVEs live transitively. In this repo, download@8.0.0 is direct and drags in old got and decompress underneath it.</a:t>
            </a:r>
            <a:endParaRPr lang="en-US" sz="1150" dirty="0"/>
          </a:p>
        </p:txBody>
      </p:sp>
      <p:sp>
        <p:nvSpPr>
          <p:cNvPr id="12" name="Shape 7"/>
          <p:cNvSpPr/>
          <p:nvPr/>
        </p:nvSpPr>
        <p:spPr>
          <a:xfrm>
            <a:off x="6214720" y="1993392"/>
            <a:ext cx="5468569" cy="3968496"/>
          </a:xfrm>
          <a:prstGeom prst="roundRect">
            <a:avLst>
              <a:gd name="adj" fmla="val 1613"/>
            </a:avLst>
          </a:prstGeom>
          <a:solidFill>
            <a:srgbClr val="6F00DD">
              <a:alpha val="8000"/>
            </a:srgbClr>
          </a:solidFill>
          <a:ln w="9525">
            <a:solidFill>
              <a:srgbClr val="FFFFFF">
                <a:alpha val="14000"/>
              </a:srgbClr>
            </a:solidFill>
            <a:prstDash val="solid"/>
          </a:ln>
        </p:spPr>
      </p:sp>
      <p:pic>
        <p:nvPicPr>
          <p:cNvPr id="13" name="Image 3" descr="assets/grad_bar_v.png">    </p:cNvPr>
          <p:cNvPicPr>
            <a:picLocks noChangeAspect="1"/>
          </p:cNvPicPr>
          <p:nvPr/>
        </p:nvPicPr>
        <p:blipFill>
          <a:blip r:embed="rId4"/>
          <a:stretch>
            <a:fillRect/>
          </a:stretch>
        </p:blipFill>
        <p:spPr>
          <a:xfrm>
            <a:off x="6214720" y="2121408"/>
            <a:ext cx="36576" cy="3712464"/>
          </a:xfrm>
          <a:prstGeom prst="rect">
            <a:avLst/>
          </a:prstGeom>
        </p:spPr>
      </p:pic>
      <p:sp>
        <p:nvSpPr>
          <p:cNvPr id="14" name="Text 8"/>
          <p:cNvSpPr/>
          <p:nvPr/>
        </p:nvSpPr>
        <p:spPr>
          <a:xfrm>
            <a:off x="6434176" y="2130552"/>
            <a:ext cx="5066233"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HOW YOU FIX IT</a:t>
            </a:r>
            <a:endParaRPr lang="en-US" sz="850" dirty="0"/>
          </a:p>
        </p:txBody>
      </p:sp>
      <p:sp>
        <p:nvSpPr>
          <p:cNvPr id="15" name="Text 9"/>
          <p:cNvSpPr/>
          <p:nvPr/>
        </p:nvSpPr>
        <p:spPr>
          <a:xfrm>
            <a:off x="6434176" y="2368296"/>
            <a:ext cx="5066233"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Bump the parent, not the child</a:t>
            </a:r>
            <a:endParaRPr lang="en-US" sz="1500" dirty="0"/>
          </a:p>
        </p:txBody>
      </p:sp>
      <p:sp>
        <p:nvSpPr>
          <p:cNvPr id="16" name="Text 10"/>
          <p:cNvSpPr/>
          <p:nvPr/>
        </p:nvSpPr>
        <p:spPr>
          <a:xfrm>
            <a:off x="6434176" y="2674620"/>
            <a:ext cx="5066233" cy="3159252"/>
          </a:xfrm>
          <a:prstGeom prst="rect">
            <a:avLst/>
          </a:prstGeom>
          <a:noFill/>
          <a:ln/>
        </p:spPr>
        <p:txBody>
          <a:bodyPr wrap="square" lIns="0" tIns="0" rIns="0" bIns="0" rtlCol="0" anchor="t"/>
          <a:lstStyle/>
          <a:p>
            <a:pPr indent="0" marL="0">
              <a:lnSpc>
                <a:spcPts val="1600"/>
              </a:lnSpc>
              <a:buNone/>
            </a:pPr>
            <a:r>
              <a:rPr lang="en-US" sz="1150" dirty="0">
                <a:solidFill>
                  <a:srgbClr val="B8B8CC"/>
                </a:solidFill>
                <a:latin typeface="Geist" pitchFamily="34" charset="0"/>
                <a:ea typeface="Geist" pitchFamily="34" charset="-122"/>
                <a:cs typeface="Geist" pitchFamily="34" charset="-120"/>
              </a:rPr>
              <a:t>Snyk recommends the smallest upgrade that resolves the issue. For a transitive CVE it computes the minimum bump to the direct parent.</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No upgrade path? Remove it, replace it (snyk.io/advisor), or ignore it with a review date.</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snyk test --show-vulnerable-paths=all shows every path, not just one.</a:t>
            </a:r>
            <a:endParaRPr lang="en-US" sz="1150" dirty="0"/>
          </a:p>
        </p:txBody>
      </p:sp>
      <p:sp>
        <p:nvSpPr>
          <p:cNvPr id="17" name="Shape 11"/>
          <p:cNvSpPr/>
          <p:nvPr/>
        </p:nvSpPr>
        <p:spPr>
          <a:xfrm>
            <a:off x="508406" y="6245352"/>
            <a:ext cx="11174882" cy="10973"/>
          </a:xfrm>
          <a:prstGeom prst="rect">
            <a:avLst/>
          </a:prstGeom>
          <a:solidFill>
            <a:srgbClr val="FFFFFF">
              <a:alpha val="12000"/>
            </a:srgbClr>
          </a:solidFill>
          <a:ln/>
        </p:spPr>
      </p:sp>
      <p:pic>
        <p:nvPicPr>
          <p:cNvPr id="18" name="Image 4" descr="assets/logo-snyk-white.png">    </p:cNvPr>
          <p:cNvPicPr>
            <a:picLocks noChangeAspect="1"/>
          </p:cNvPicPr>
          <p:nvPr/>
        </p:nvPicPr>
        <p:blipFill>
          <a:blip r:embed="rId5"/>
          <a:stretch>
            <a:fillRect/>
          </a:stretch>
        </p:blipFill>
        <p:spPr>
          <a:xfrm>
            <a:off x="508406" y="6336792"/>
            <a:ext cx="621792" cy="219456"/>
          </a:xfrm>
          <a:prstGeom prst="rect">
            <a:avLst/>
          </a:prstGeom>
        </p:spPr>
      </p:pic>
      <p:sp>
        <p:nvSpPr>
          <p:cNvPr id="19" name="Text 12"/>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The Snyk app</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30328"/>
        </a:solidFill>
      </p:bgPr>
    </p:bg>
    <p:spTree>
      <p:nvGrpSpPr>
        <p:cNvPr id="1" name=""/>
        <p:cNvGrpSpPr/>
        <p:nvPr/>
      </p:nvGrpSpPr>
      <p:grpSpPr>
        <a:xfrm>
          <a:off x="0" y="0"/>
          <a:ext cx="0" cy="0"/>
          <a:chOff x="0" y="0"/>
          <a:chExt cx="0" cy="0"/>
        </a:xfrm>
      </p:grpSpPr>
      <p:pic>
        <p:nvPicPr>
          <p:cNvPr id="2" name="Image 0" descr="assets/ULC_Fabric_Gradient.png">    </p:cNvPr>
          <p:cNvPicPr>
            <a:picLocks noChangeAspect="1"/>
          </p:cNvPicPr>
          <p:nvPr/>
        </p:nvPicPr>
        <p:blipFill>
          <a:blip r:embed="rId1">
            <a:alphaModFix amt="68000"/>
          </a:blip>
          <a:stretch>
            <a:fillRect/>
          </a:stretch>
        </p:blipFill>
        <p:spPr>
          <a:xfrm>
            <a:off x="-320040" y="-320040"/>
            <a:ext cx="4114800" cy="4114800"/>
          </a:xfrm>
          <a:prstGeom prst="rect">
            <a:avLst/>
          </a:prstGeom>
        </p:spPr>
      </p:pic>
      <p:pic>
        <p:nvPicPr>
          <p:cNvPr id="3" name="Image 1" descr="assets/BRC_Fabric_Gradient.png">    </p:cNvPr>
          <p:cNvPicPr>
            <a:picLocks noChangeAspect="1"/>
          </p:cNvPicPr>
          <p:nvPr/>
        </p:nvPicPr>
        <p:blipFill>
          <a:blip r:embed="rId2">
            <a:alphaModFix amt="54000"/>
          </a:blip>
          <a:stretch>
            <a:fillRect/>
          </a:stretch>
        </p:blipFill>
        <p:spPr>
          <a:xfrm>
            <a:off x="8808415" y="2697480"/>
            <a:ext cx="3657600" cy="3657600"/>
          </a:xfrm>
          <a:prstGeom prst="rect">
            <a:avLst/>
          </a:prstGeom>
        </p:spPr>
      </p:pic>
      <p:sp>
        <p:nvSpPr>
          <p:cNvPr id="4" name="Shape 0"/>
          <p:cNvSpPr/>
          <p:nvPr/>
        </p:nvSpPr>
        <p:spPr>
          <a:xfrm>
            <a:off x="0" y="5989320"/>
            <a:ext cx="12191695" cy="868680"/>
          </a:xfrm>
          <a:prstGeom prst="rect">
            <a:avLst/>
          </a:prstGeom>
          <a:solidFill>
            <a:srgbClr val="030328"/>
          </a:solidFill>
          <a:ln/>
        </p:spPr>
      </p:sp>
      <p:sp>
        <p:nvSpPr>
          <p:cNvPr id="5"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PART THREE</a:t>
            </a:r>
            <a:endParaRPr lang="en-US" sz="1050" dirty="0"/>
          </a:p>
        </p:txBody>
      </p:sp>
      <p:pic>
        <p:nvPicPr>
          <p:cNvPr id="6" name="Image 2" descr="assets/logo-snyk-white.png">    </p:cNvPr>
          <p:cNvPicPr>
            <a:picLocks noChangeAspect="1"/>
          </p:cNvPicPr>
          <p:nvPr/>
        </p:nvPicPr>
        <p:blipFill>
          <a:blip r:embed="rId3"/>
          <a:stretch>
            <a:fillRect/>
          </a:stretch>
        </p:blipFill>
        <p:spPr>
          <a:xfrm>
            <a:off x="10796321" y="435254"/>
            <a:ext cx="886968" cy="310896"/>
          </a:xfrm>
          <a:prstGeom prst="rect">
            <a:avLst/>
          </a:prstGeom>
        </p:spPr>
      </p:pic>
      <p:pic>
        <p:nvPicPr>
          <p:cNvPr id="7" name="Image 3" descr="assets/grad_bar_v.png">    </p:cNvPr>
          <p:cNvPicPr>
            <a:picLocks noChangeAspect="1"/>
          </p:cNvPicPr>
          <p:nvPr/>
        </p:nvPicPr>
        <p:blipFill>
          <a:blip r:embed="rId4"/>
          <a:stretch>
            <a:fillRect/>
          </a:stretch>
        </p:blipFill>
        <p:spPr>
          <a:xfrm>
            <a:off x="508406" y="2240280"/>
            <a:ext cx="50292" cy="1691640"/>
          </a:xfrm>
          <a:prstGeom prst="rect">
            <a:avLst/>
          </a:prstGeom>
        </p:spPr>
      </p:pic>
      <p:sp>
        <p:nvSpPr>
          <p:cNvPr id="8" name="Text 2"/>
          <p:cNvSpPr/>
          <p:nvPr/>
        </p:nvSpPr>
        <p:spPr>
          <a:xfrm>
            <a:off x="819302" y="2148840"/>
            <a:ext cx="1828800" cy="640080"/>
          </a:xfrm>
          <a:prstGeom prst="rect">
            <a:avLst/>
          </a:prstGeom>
          <a:noFill/>
          <a:ln/>
        </p:spPr>
        <p:txBody>
          <a:bodyPr wrap="square" lIns="0" tIns="0" rIns="0" bIns="0" rtlCol="0" anchor="ctr"/>
          <a:lstStyle/>
          <a:p>
            <a:pPr indent="0" marL="0">
              <a:buNone/>
            </a:pPr>
            <a:r>
              <a:rPr lang="en-US" sz="2200" b="1" spc="100" kern="0" dirty="0">
                <a:solidFill>
                  <a:srgbClr val="8A8AA3"/>
                </a:solidFill>
                <a:latin typeface="Geist Mono" pitchFamily="34" charset="0"/>
                <a:ea typeface="Geist Mono" pitchFamily="34" charset="-122"/>
                <a:cs typeface="Geist Mono" pitchFamily="34" charset="-120"/>
              </a:rPr>
              <a:t>03</a:t>
            </a:r>
            <a:endParaRPr lang="en-US" sz="2200" dirty="0"/>
          </a:p>
        </p:txBody>
      </p:sp>
      <p:sp>
        <p:nvSpPr>
          <p:cNvPr id="9" name="Text 3"/>
          <p:cNvSpPr/>
          <p:nvPr/>
        </p:nvSpPr>
        <p:spPr>
          <a:xfrm>
            <a:off x="819302" y="2697480"/>
            <a:ext cx="10077602" cy="1280160"/>
          </a:xfrm>
          <a:prstGeom prst="rect">
            <a:avLst/>
          </a:prstGeom>
          <a:noFill/>
          <a:ln/>
        </p:spPr>
        <p:txBody>
          <a:bodyPr wrap="square" lIns="0" tIns="0" rIns="0" bIns="0" rtlCol="0" anchor="ctr"/>
          <a:lstStyle/>
          <a:p>
            <a:pPr indent="0" marL="0">
              <a:lnSpc>
                <a:spcPts val="4800"/>
              </a:lnSpc>
              <a:buNone/>
            </a:pPr>
            <a:r>
              <a:rPr lang="en-US" sz="4600" b="1" spc="-150" kern="0" dirty="0">
                <a:solidFill>
                  <a:srgbClr val="FFFFFF"/>
                </a:solidFill>
                <a:latin typeface="Geist" pitchFamily="34" charset="0"/>
                <a:ea typeface="Geist" pitchFamily="34" charset="-122"/>
                <a:cs typeface="Geist" pitchFamily="34" charset="-120"/>
              </a:rPr>
              <a:t>Git flow + GitHub</a:t>
            </a:r>
            <a:endParaRPr lang="en-US" sz="4600" dirty="0"/>
          </a:p>
        </p:txBody>
      </p:sp>
      <p:sp>
        <p:nvSpPr>
          <p:cNvPr id="10" name="Text 4"/>
          <p:cNvSpPr/>
          <p:nvPr/>
        </p:nvSpPr>
        <p:spPr>
          <a:xfrm>
            <a:off x="819302" y="4041648"/>
            <a:ext cx="6949440" cy="731520"/>
          </a:xfrm>
          <a:prstGeom prst="rect">
            <a:avLst/>
          </a:prstGeom>
          <a:noFill/>
          <a:ln/>
        </p:spPr>
        <p:txBody>
          <a:bodyPr wrap="square" lIns="0" tIns="0" rIns="0" bIns="0" rtlCol="0" anchor="ctr"/>
          <a:lstStyle/>
          <a:p>
            <a:pPr indent="0" marL="0">
              <a:lnSpc>
                <a:spcPts val="2200"/>
              </a:lnSpc>
              <a:buNone/>
            </a:pPr>
            <a:r>
              <a:rPr lang="en-US" sz="1400" dirty="0">
                <a:solidFill>
                  <a:srgbClr val="B8B8CC"/>
                </a:solidFill>
                <a:latin typeface="Geist" pitchFamily="34" charset="0"/>
                <a:ea typeface="Geist" pitchFamily="34" charset="-122"/>
                <a:cs typeface="Geist" pitchFamily="34" charset="-120"/>
              </a:rPr>
              <a:t>Branch like the repo does, then wire the GitHub integration to it.</a:t>
            </a:r>
            <a:endParaRPr lang="en-US" sz="1400" dirty="0"/>
          </a:p>
        </p:txBody>
      </p:sp>
      <p:sp>
        <p:nvSpPr>
          <p:cNvPr id="11" name="Shape 5"/>
          <p:cNvSpPr/>
          <p:nvPr/>
        </p:nvSpPr>
        <p:spPr>
          <a:xfrm>
            <a:off x="508406" y="6245352"/>
            <a:ext cx="11174882" cy="10973"/>
          </a:xfrm>
          <a:prstGeom prst="rect">
            <a:avLst/>
          </a:prstGeom>
          <a:solidFill>
            <a:srgbClr val="FFFFFF">
              <a:alpha val="12000"/>
            </a:srgbClr>
          </a:solidFill>
          <a:ln/>
        </p:spPr>
      </p:sp>
      <p:pic>
        <p:nvPicPr>
          <p:cNvPr id="12" name="Image 4" descr="assets/logo-snyk-white.png">    </p:cNvPr>
          <p:cNvPicPr>
            <a:picLocks noChangeAspect="1"/>
          </p:cNvPicPr>
          <p:nvPr/>
        </p:nvPicPr>
        <p:blipFill>
          <a:blip r:embed="rId5"/>
          <a:stretch>
            <a:fillRect/>
          </a:stretch>
        </p:blipFill>
        <p:spPr>
          <a:xfrm>
            <a:off x="508406" y="6336792"/>
            <a:ext cx="621792" cy="219456"/>
          </a:xfrm>
          <a:prstGeom prst="rect">
            <a:avLst/>
          </a:prstGeom>
        </p:spPr>
      </p:pic>
      <p:sp>
        <p:nvSpPr>
          <p:cNvPr id="13" name="Text 6"/>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Git flow + GitHub</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30328"/>
        </a:solidFill>
      </p:bgPr>
    </p:bg>
    <p:spTree>
      <p:nvGrpSpPr>
        <p:cNvPr id="1" name=""/>
        <p:cNvGrpSpPr/>
        <p:nvPr/>
      </p:nvGrpSpPr>
      <p:grpSpPr>
        <a:xfrm>
          <a:off x="0" y="0"/>
          <a:ext cx="0" cy="0"/>
          <a:chOff x="0" y="0"/>
          <a:chExt cx="0" cy="0"/>
        </a:xfrm>
      </p:grpSpPr>
      <p:sp>
        <p:nvSpPr>
          <p:cNvPr id="2" name="Shape 0"/>
          <p:cNvSpPr/>
          <p:nvPr/>
        </p:nvSpPr>
        <p:spPr>
          <a:xfrm>
            <a:off x="0" y="5989320"/>
            <a:ext cx="12191695" cy="868680"/>
          </a:xfrm>
          <a:prstGeom prst="rect">
            <a:avLst/>
          </a:prstGeom>
          <a:solidFill>
            <a:srgbClr val="030328"/>
          </a:solidFill>
          <a:ln/>
        </p:spPr>
      </p:sp>
      <p:sp>
        <p:nvSpPr>
          <p:cNvPr id="3"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GIT FLOW</a:t>
            </a:r>
            <a:endParaRPr lang="en-US" sz="1050" dirty="0"/>
          </a:p>
        </p:txBody>
      </p:sp>
      <p:pic>
        <p:nvPicPr>
          <p:cNvPr id="4" name="Image 0" descr="assets/logo-snyk-white.png">    </p:cNvPr>
          <p:cNvPicPr>
            <a:picLocks noChangeAspect="1"/>
          </p:cNvPicPr>
          <p:nvPr/>
        </p:nvPicPr>
        <p:blipFill>
          <a:blip r:embed="rId1"/>
          <a:stretch>
            <a:fillRect/>
          </a:stretch>
        </p:blipFill>
        <p:spPr>
          <a:xfrm>
            <a:off x="10796321" y="435254"/>
            <a:ext cx="886968" cy="310896"/>
          </a:xfrm>
          <a:prstGeom prst="rect">
            <a:avLst/>
          </a:prstGeom>
        </p:spPr>
      </p:pic>
      <p:sp>
        <p:nvSpPr>
          <p:cNvPr id="5"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Branch from develop, PR into develop</a:t>
            </a:r>
            <a:endParaRPr lang="en-US" sz="3000" dirty="0"/>
          </a:p>
        </p:txBody>
      </p:sp>
      <p:sp>
        <p:nvSpPr>
          <p:cNvPr id="6" name="Text 3"/>
          <p:cNvSpPr/>
          <p:nvPr/>
        </p:nvSpPr>
        <p:spPr>
          <a:xfrm>
            <a:off x="508406" y="1773936"/>
            <a:ext cx="10607040" cy="402336"/>
          </a:xfrm>
          <a:prstGeom prst="rect">
            <a:avLst/>
          </a:prstGeom>
          <a:noFill/>
          <a:ln/>
        </p:spPr>
        <p:txBody>
          <a:bodyPr wrap="square" lIns="0" tIns="0" rIns="0" bIns="0" rtlCol="0" anchor="ctr"/>
          <a:lstStyle/>
          <a:p>
            <a:pPr indent="0" marL="0">
              <a:lnSpc>
                <a:spcPts val="1900"/>
              </a:lnSpc>
              <a:buNone/>
            </a:pPr>
            <a:r>
              <a:rPr lang="en-US" sz="1250" dirty="0">
                <a:solidFill>
                  <a:srgbClr val="8A8AA3"/>
                </a:solidFill>
                <a:latin typeface="Geist" pitchFamily="34" charset="0"/>
                <a:ea typeface="Geist" pitchFamily="34" charset="-122"/>
                <a:cs typeface="Geist" pitchFamily="34" charset="-120"/>
              </a:rPr>
              <a:t>This fork uses master, not main. develop is the integration target and it is where your PRs go.</a:t>
            </a:r>
            <a:endParaRPr lang="en-US" sz="1250" dirty="0"/>
          </a:p>
        </p:txBody>
      </p:sp>
      <p:sp>
        <p:nvSpPr>
          <p:cNvPr id="7" name="Shape 4"/>
          <p:cNvSpPr/>
          <p:nvPr/>
        </p:nvSpPr>
        <p:spPr>
          <a:xfrm>
            <a:off x="508406" y="2286000"/>
            <a:ext cx="5459425" cy="3657600"/>
          </a:xfrm>
          <a:prstGeom prst="roundRect">
            <a:avLst>
              <a:gd name="adj" fmla="val 1750"/>
            </a:avLst>
          </a:prstGeom>
          <a:solidFill>
            <a:srgbClr val="0B0B2E"/>
          </a:solidFill>
          <a:ln w="9525">
            <a:solidFill>
              <a:srgbClr val="FFFFFF">
                <a:alpha val="12000"/>
              </a:srgbClr>
            </a:solidFill>
            <a:prstDash val="solid"/>
          </a:ln>
        </p:spPr>
      </p:sp>
      <p:pic>
        <p:nvPicPr>
          <p:cNvPr id="8" name="Image 1" descr="assets/grad_bar_h.png">    </p:cNvPr>
          <p:cNvPicPr>
            <a:picLocks noChangeAspect="1"/>
          </p:cNvPicPr>
          <p:nvPr/>
        </p:nvPicPr>
        <p:blipFill>
          <a:blip r:embed="rId2"/>
          <a:stretch>
            <a:fillRect/>
          </a:stretch>
        </p:blipFill>
        <p:spPr>
          <a:xfrm>
            <a:off x="691286" y="2487168"/>
            <a:ext cx="777240" cy="32004"/>
          </a:xfrm>
          <a:prstGeom prst="rect">
            <a:avLst/>
          </a:prstGeom>
        </p:spPr>
      </p:pic>
      <p:sp>
        <p:nvSpPr>
          <p:cNvPr id="9" name="Text 5"/>
          <p:cNvSpPr/>
          <p:nvPr/>
        </p:nvSpPr>
        <p:spPr>
          <a:xfrm>
            <a:off x="691286" y="2596896"/>
            <a:ext cx="5093665" cy="237744"/>
          </a:xfrm>
          <a:prstGeom prst="rect">
            <a:avLst/>
          </a:prstGeom>
          <a:noFill/>
          <a:ln/>
        </p:spPr>
        <p:txBody>
          <a:bodyPr wrap="square" lIns="0" tIns="0" rIns="0" bIns="0" rtlCol="0" anchor="ctr"/>
          <a:lstStyle/>
          <a:p>
            <a:pPr indent="0" marL="0">
              <a:buNone/>
            </a:pPr>
            <a:r>
              <a:rPr lang="en-US" sz="850" b="1" spc="180" kern="0" dirty="0">
                <a:solidFill>
                  <a:srgbClr val="8A8AA3"/>
                </a:solidFill>
                <a:latin typeface="Geist Mono" pitchFamily="34" charset="0"/>
                <a:ea typeface="Geist Mono" pitchFamily="34" charset="-122"/>
                <a:cs typeface="Geist Mono" pitchFamily="34" charset="-120"/>
              </a:rPr>
              <a:t>SET UP ONCE</a:t>
            </a:r>
            <a:endParaRPr lang="en-US" sz="850" dirty="0"/>
          </a:p>
        </p:txBody>
      </p:sp>
      <p:sp>
        <p:nvSpPr>
          <p:cNvPr id="10" name="Text 6"/>
          <p:cNvSpPr/>
          <p:nvPr/>
        </p:nvSpPr>
        <p:spPr>
          <a:xfrm>
            <a:off x="691286" y="2889504"/>
            <a:ext cx="5111953" cy="2871216"/>
          </a:xfrm>
          <a:prstGeom prst="rect">
            <a:avLst/>
          </a:prstGeom>
          <a:noFill/>
          <a:ln/>
        </p:spPr>
        <p:txBody>
          <a:bodyPr wrap="square" lIns="0" tIns="0" rIns="0" bIns="0" rtlCol="0" anchor="t"/>
          <a:lstStyle/>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git clone https://github.com/&lt;you&gt;/juice-shop.git</a:t>
            </a: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cd juice-shop</a:t>
            </a:r>
            <a:endParaRPr lang="en-US" sz="950" dirty="0"/>
          </a:p>
          <a:p>
            <a:pPr indent="0" marL="0">
              <a:lnSpc>
                <a:spcPts val="1473"/>
              </a:lnSpc>
              <a:buNone/>
            </a:pP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git remote add upstream \</a:t>
            </a: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  https://github.com/lmaeda/juice-shop.git</a:t>
            </a: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git fetch upstream</a:t>
            </a: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git remote -v</a:t>
            </a:r>
            <a:endParaRPr lang="en-US" sz="950" dirty="0"/>
          </a:p>
        </p:txBody>
      </p:sp>
      <p:sp>
        <p:nvSpPr>
          <p:cNvPr id="11" name="Shape 7"/>
          <p:cNvSpPr/>
          <p:nvPr/>
        </p:nvSpPr>
        <p:spPr>
          <a:xfrm>
            <a:off x="6223864" y="2286000"/>
            <a:ext cx="5459425" cy="3657600"/>
          </a:xfrm>
          <a:prstGeom prst="roundRect">
            <a:avLst>
              <a:gd name="adj" fmla="val 1750"/>
            </a:avLst>
          </a:prstGeom>
          <a:solidFill>
            <a:srgbClr val="0B0B2E"/>
          </a:solidFill>
          <a:ln w="9525">
            <a:solidFill>
              <a:srgbClr val="FFFFFF">
                <a:alpha val="12000"/>
              </a:srgbClr>
            </a:solidFill>
            <a:prstDash val="solid"/>
          </a:ln>
        </p:spPr>
      </p:sp>
      <p:pic>
        <p:nvPicPr>
          <p:cNvPr id="12" name="Image 2" descr="assets/grad_bar_h.png">    </p:cNvPr>
          <p:cNvPicPr>
            <a:picLocks noChangeAspect="1"/>
          </p:cNvPicPr>
          <p:nvPr/>
        </p:nvPicPr>
        <p:blipFill>
          <a:blip r:embed="rId3"/>
          <a:stretch>
            <a:fillRect/>
          </a:stretch>
        </p:blipFill>
        <p:spPr>
          <a:xfrm>
            <a:off x="6406744" y="2487168"/>
            <a:ext cx="777240" cy="32004"/>
          </a:xfrm>
          <a:prstGeom prst="rect">
            <a:avLst/>
          </a:prstGeom>
        </p:spPr>
      </p:pic>
      <p:sp>
        <p:nvSpPr>
          <p:cNvPr id="13" name="Text 8"/>
          <p:cNvSpPr/>
          <p:nvPr/>
        </p:nvSpPr>
        <p:spPr>
          <a:xfrm>
            <a:off x="6406744" y="2596896"/>
            <a:ext cx="5093665" cy="237744"/>
          </a:xfrm>
          <a:prstGeom prst="rect">
            <a:avLst/>
          </a:prstGeom>
          <a:noFill/>
          <a:ln/>
        </p:spPr>
        <p:txBody>
          <a:bodyPr wrap="square" lIns="0" tIns="0" rIns="0" bIns="0" rtlCol="0" anchor="ctr"/>
          <a:lstStyle/>
          <a:p>
            <a:pPr indent="0" marL="0">
              <a:buNone/>
            </a:pPr>
            <a:r>
              <a:rPr lang="en-US" sz="850" b="1" spc="180" kern="0" dirty="0">
                <a:solidFill>
                  <a:srgbClr val="8A8AA3"/>
                </a:solidFill>
                <a:latin typeface="Geist Mono" pitchFamily="34" charset="0"/>
                <a:ea typeface="Geist Mono" pitchFamily="34" charset="-122"/>
                <a:cs typeface="Geist Mono" pitchFamily="34" charset="-120"/>
              </a:rPr>
              <a:t>PER EXERCISE</a:t>
            </a:r>
            <a:endParaRPr lang="en-US" sz="850" dirty="0"/>
          </a:p>
        </p:txBody>
      </p:sp>
      <p:sp>
        <p:nvSpPr>
          <p:cNvPr id="14" name="Text 9"/>
          <p:cNvSpPr/>
          <p:nvPr/>
        </p:nvSpPr>
        <p:spPr>
          <a:xfrm>
            <a:off x="6406744" y="2889504"/>
            <a:ext cx="5111953" cy="2871216"/>
          </a:xfrm>
          <a:prstGeom prst="rect">
            <a:avLst/>
          </a:prstGeom>
          <a:noFill/>
          <a:ln/>
        </p:spPr>
        <p:txBody>
          <a:bodyPr wrap="square" lIns="0" tIns="0" rIns="0" bIns="0" rtlCol="0" anchor="t"/>
          <a:lstStyle/>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git checkout develop</a:t>
            </a: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git pull upstream develop</a:t>
            </a:r>
            <a:endParaRPr lang="en-US" sz="950" dirty="0"/>
          </a:p>
          <a:p>
            <a:pPr indent="0" marL="0">
              <a:lnSpc>
                <a:spcPts val="1473"/>
              </a:lnSpc>
              <a:buNone/>
            </a:pP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git checkout -b snyk-training/&lt;initials&gt;/01-first-scan</a:t>
            </a:r>
            <a:endParaRPr lang="en-US" sz="950" dirty="0"/>
          </a:p>
          <a:p>
            <a:pPr indent="0" marL="0">
              <a:lnSpc>
                <a:spcPts val="1473"/>
              </a:lnSpc>
              <a:buNone/>
            </a:pP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 ...work, then always scan before committing</a:t>
            </a: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snyk test --all-projects &amp;&amp; snyk code test</a:t>
            </a:r>
            <a:endParaRPr lang="en-US" sz="950" dirty="0"/>
          </a:p>
          <a:p>
            <a:pPr indent="0" marL="0">
              <a:lnSpc>
                <a:spcPts val="1473"/>
              </a:lnSpc>
              <a:buNone/>
            </a:pP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git push -u origin \</a:t>
            </a: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  snyk-training/&lt;initials&gt;/01-first-scan</a:t>
            </a:r>
            <a:endParaRPr lang="en-US" sz="950" dirty="0"/>
          </a:p>
        </p:txBody>
      </p:sp>
      <p:sp>
        <p:nvSpPr>
          <p:cNvPr id="15" name="Shape 10"/>
          <p:cNvSpPr/>
          <p:nvPr/>
        </p:nvSpPr>
        <p:spPr>
          <a:xfrm>
            <a:off x="508406" y="6245352"/>
            <a:ext cx="11174882" cy="10973"/>
          </a:xfrm>
          <a:prstGeom prst="rect">
            <a:avLst/>
          </a:prstGeom>
          <a:solidFill>
            <a:srgbClr val="FFFFFF">
              <a:alpha val="12000"/>
            </a:srgbClr>
          </a:solidFill>
          <a:ln/>
        </p:spPr>
      </p:sp>
      <p:pic>
        <p:nvPicPr>
          <p:cNvPr id="16" name="Image 3" descr="assets/logo-snyk-white.png">    </p:cNvPr>
          <p:cNvPicPr>
            <a:picLocks noChangeAspect="1"/>
          </p:cNvPicPr>
          <p:nvPr/>
        </p:nvPicPr>
        <p:blipFill>
          <a:blip r:embed="rId4"/>
          <a:stretch>
            <a:fillRect/>
          </a:stretch>
        </p:blipFill>
        <p:spPr>
          <a:xfrm>
            <a:off x="508406" y="6336792"/>
            <a:ext cx="621792" cy="219456"/>
          </a:xfrm>
          <a:prstGeom prst="rect">
            <a:avLst/>
          </a:prstGeom>
        </p:spPr>
      </p:pic>
      <p:sp>
        <p:nvSpPr>
          <p:cNvPr id="17" name="Text 11"/>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Git flow + GitHub</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30328"/>
        </a:solidFill>
      </p:bgPr>
    </p:bg>
    <p:spTree>
      <p:nvGrpSpPr>
        <p:cNvPr id="1" name=""/>
        <p:cNvGrpSpPr/>
        <p:nvPr/>
      </p:nvGrpSpPr>
      <p:grpSpPr>
        <a:xfrm>
          <a:off x="0" y="0"/>
          <a:ext cx="0" cy="0"/>
          <a:chOff x="0" y="0"/>
          <a:chExt cx="0" cy="0"/>
        </a:xfrm>
      </p:grpSpPr>
      <p:sp>
        <p:nvSpPr>
          <p:cNvPr id="2" name="Shape 0"/>
          <p:cNvSpPr/>
          <p:nvPr/>
        </p:nvSpPr>
        <p:spPr>
          <a:xfrm>
            <a:off x="0" y="5989320"/>
            <a:ext cx="12191695" cy="868680"/>
          </a:xfrm>
          <a:prstGeom prst="rect">
            <a:avLst/>
          </a:prstGeom>
          <a:solidFill>
            <a:srgbClr val="030328"/>
          </a:solidFill>
          <a:ln/>
        </p:spPr>
      </p:sp>
      <p:sp>
        <p:nvSpPr>
          <p:cNvPr id="3"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BRANCH REFERENCE</a:t>
            </a:r>
            <a:endParaRPr lang="en-US" sz="1050" dirty="0"/>
          </a:p>
        </p:txBody>
      </p:sp>
      <p:pic>
        <p:nvPicPr>
          <p:cNvPr id="4" name="Image 0" descr="assets/logo-snyk-white.png">    </p:cNvPr>
          <p:cNvPicPr>
            <a:picLocks noChangeAspect="1"/>
          </p:cNvPicPr>
          <p:nvPr/>
        </p:nvPicPr>
        <p:blipFill>
          <a:blip r:embed="rId1"/>
          <a:stretch>
            <a:fillRect/>
          </a:stretch>
        </p:blipFill>
        <p:spPr>
          <a:xfrm>
            <a:off x="10796321" y="435254"/>
            <a:ext cx="886968" cy="310896"/>
          </a:xfrm>
          <a:prstGeom prst="rect">
            <a:avLst/>
          </a:prstGeom>
        </p:spPr>
      </p:pic>
      <p:sp>
        <p:nvSpPr>
          <p:cNvPr id="5"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Four branches, three rules</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8406" y="2145182"/>
          <a:ext cx="11174882" cy="914400"/>
        </p:xfrm>
        <a:graphic>
          <a:graphicData uri="http://schemas.openxmlformats.org/drawingml/2006/table">
            <a:tbl>
              <a:tblPr/>
              <a:tblGrid>
                <a:gridCol w="4206240"/>
                <a:gridCol w="4937760"/>
                <a:gridCol w="2029968"/>
              </a:tblGrid>
              <a:tr h="603504">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Branch</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Purpose</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Commit to it?</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master</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release / stable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No</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develop</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integration target for all training PRs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No — open a PR into it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snyk-training/&lt;initials&gt;/&lt;exercise&gt;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your work</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Yes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ai-agent-snyk-fix-training</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pre-staged base for the AI remediation labs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Branch from it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bl>
          </a:graphicData>
        </a:graphic>
      </p:graphicFrame>
      <p:sp>
        <p:nvSpPr>
          <p:cNvPr id="7" name="Shape 3"/>
          <p:cNvSpPr/>
          <p:nvPr/>
        </p:nvSpPr>
        <p:spPr>
          <a:xfrm>
            <a:off x="508406" y="6245352"/>
            <a:ext cx="11174882" cy="10973"/>
          </a:xfrm>
          <a:prstGeom prst="rect">
            <a:avLst/>
          </a:prstGeom>
          <a:solidFill>
            <a:srgbClr val="FFFFFF">
              <a:alpha val="12000"/>
            </a:srgbClr>
          </a:solidFill>
          <a:ln/>
        </p:spPr>
      </p:sp>
      <p:pic>
        <p:nvPicPr>
          <p:cNvPr id="8" name="Image 1" descr="assets/logo-snyk-white.png">    </p:cNvPr>
          <p:cNvPicPr>
            <a:picLocks noChangeAspect="1"/>
          </p:cNvPicPr>
          <p:nvPr/>
        </p:nvPicPr>
        <p:blipFill>
          <a:blip r:embed="rId2"/>
          <a:stretch>
            <a:fillRect/>
          </a:stretch>
        </p:blipFill>
        <p:spPr>
          <a:xfrm>
            <a:off x="508406" y="6336792"/>
            <a:ext cx="621792" cy="219456"/>
          </a:xfrm>
          <a:prstGeom prst="rect">
            <a:avLst/>
          </a:prstGeom>
        </p:spPr>
      </p:pic>
      <p:sp>
        <p:nvSpPr>
          <p:cNvPr id="9" name="Text 4"/>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Git flow + GitHub</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SNYK GITHUB INTEGRATION · 2.1</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11174882" cy="914400"/>
          </a:xfrm>
          <a:prstGeom prst="rect">
            <a:avLst/>
          </a:prstGeom>
          <a:noFill/>
          <a:ln/>
        </p:spPr>
        <p:txBody>
          <a:bodyPr wrap="square" lIns="0" tIns="0" rIns="0" bIns="0" rtlCol="0" anchor="t"/>
          <a:lstStyle/>
          <a:p>
            <a:pPr indent="0" marL="0">
              <a:lnSpc>
                <a:spcPts val="3300"/>
              </a:lnSpc>
              <a:buNone/>
            </a:pPr>
            <a:r>
              <a:rPr lang="en-US" sz="3200" b="1" spc="-100" kern="0" dirty="0">
                <a:solidFill>
                  <a:srgbClr val="FFFFFF"/>
                </a:solidFill>
                <a:latin typeface="Geist" pitchFamily="34" charset="0"/>
                <a:ea typeface="Geist" pitchFamily="34" charset="-122"/>
                <a:cs typeface="Geist" pitchFamily="34" charset="-120"/>
              </a:rPr>
              <a:t>Five steps, then everything else works</a:t>
            </a:r>
            <a:endParaRPr lang="en-US" sz="3200" dirty="0"/>
          </a:p>
        </p:txBody>
      </p:sp>
      <p:sp>
        <p:nvSpPr>
          <p:cNvPr id="7" name="Text 3"/>
          <p:cNvSpPr/>
          <p:nvPr/>
        </p:nvSpPr>
        <p:spPr>
          <a:xfrm>
            <a:off x="508406" y="1847088"/>
            <a:ext cx="9326880" cy="457200"/>
          </a:xfrm>
          <a:prstGeom prst="rect">
            <a:avLst/>
          </a:prstGeom>
          <a:noFill/>
          <a:ln/>
        </p:spPr>
        <p:txBody>
          <a:bodyPr wrap="square" lIns="0" tIns="0" rIns="0" bIns="0" rtlCol="0" anchor="ctr"/>
          <a:lstStyle/>
          <a:p>
            <a:pPr indent="0" marL="0">
              <a:lnSpc>
                <a:spcPts val="2000"/>
              </a:lnSpc>
              <a:buNone/>
            </a:pPr>
            <a:r>
              <a:rPr lang="en-US" sz="1300" dirty="0">
                <a:solidFill>
                  <a:srgbClr val="8A8AA3"/>
                </a:solidFill>
                <a:latin typeface="Geist" pitchFamily="34" charset="0"/>
                <a:ea typeface="Geist" pitchFamily="34" charset="-122"/>
                <a:cs typeface="Geist" pitchFamily="34" charset="-120"/>
              </a:rPr>
              <a:t>This is what turns on PR checks, Fix PRs, inline comments and recurring tests. Without it, the CLI is all you have.</a:t>
            </a:r>
            <a:endParaRPr lang="en-US" sz="1300" dirty="0"/>
          </a:p>
        </p:txBody>
      </p:sp>
      <p:sp>
        <p:nvSpPr>
          <p:cNvPr id="8" name="Text 4"/>
          <p:cNvSpPr/>
          <p:nvPr/>
        </p:nvSpPr>
        <p:spPr>
          <a:xfrm>
            <a:off x="563270" y="2487168"/>
            <a:ext cx="8778240" cy="3456432"/>
          </a:xfrm>
          <a:prstGeom prst="rect">
            <a:avLst/>
          </a:prstGeom>
          <a:noFill/>
          <a:ln/>
        </p:spPr>
        <p:txBody>
          <a:bodyPr wrap="square" lIns="0" tIns="0" rIns="0" bIns="0" rtlCol="0" anchor="t"/>
          <a:lstStyle/>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1. Connect GitHub — admin task, once per Snyk org. Integrations → GitHub. Prefer the GitHub App: fine-grained permissions and commit signing, versus a broad OAuth grant.</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2. Import the repo — Projects → Add Project → GitHub → select juice-shop → Add selected repositories.</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3. Check what imported — you should get the six Projects from part 02. Missing ones mean a disabled product or an exclusion.</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4. Confirm the monitored branch — develop or master. This is what recurring tests and every reporting number are based on, and it is the setting people most often get wrong.</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5. Set your own notifications — your admin sets the org default; you override for yourself. Note that new-vulnerability emails are now OFF by default, so silence does not mean broken.</a:t>
            </a:r>
            <a:endParaRPr lang="en-US" sz="1400" dirty="0"/>
          </a:p>
        </p:txBody>
      </p:sp>
      <p:sp>
        <p:nvSpPr>
          <p:cNvPr id="9" name="Shape 5"/>
          <p:cNvSpPr/>
          <p:nvPr/>
        </p:nvSpPr>
        <p:spPr>
          <a:xfrm>
            <a:off x="508406" y="6245352"/>
            <a:ext cx="11174882" cy="10973"/>
          </a:xfrm>
          <a:prstGeom prst="rect">
            <a:avLst/>
          </a:prstGeom>
          <a:solidFill>
            <a:srgbClr val="FFFFFF">
              <a:alpha val="12000"/>
            </a:srgbClr>
          </a:solidFill>
          <a:ln/>
        </p:spPr>
      </p:sp>
      <p:pic>
        <p:nvPicPr>
          <p:cNvPr id="10" name="Image 2" descr="assets/logo-snyk-white.png">    </p:cNvPr>
          <p:cNvPicPr>
            <a:picLocks noChangeAspect="1"/>
          </p:cNvPicPr>
          <p:nvPr/>
        </p:nvPicPr>
        <p:blipFill>
          <a:blip r:embed="rId3"/>
          <a:stretch>
            <a:fillRect/>
          </a:stretch>
        </p:blipFill>
        <p:spPr>
          <a:xfrm>
            <a:off x="508406" y="6336792"/>
            <a:ext cx="621792" cy="219456"/>
          </a:xfrm>
          <a:prstGeom prst="rect">
            <a:avLst/>
          </a:prstGeom>
        </p:spPr>
      </p:pic>
      <p:sp>
        <p:nvSpPr>
          <p:cNvPr id="11" name="Text 6"/>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Git flow + GitHub</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30328"/>
        </a:solidFill>
      </p:bgPr>
    </p:bg>
    <p:spTree>
      <p:nvGrpSpPr>
        <p:cNvPr id="1" name=""/>
        <p:cNvGrpSpPr/>
        <p:nvPr/>
      </p:nvGrpSpPr>
      <p:grpSpPr>
        <a:xfrm>
          <a:off x="0" y="0"/>
          <a:ext cx="0" cy="0"/>
          <a:chOff x="0" y="0"/>
          <a:chExt cx="0" cy="0"/>
        </a:xfrm>
      </p:grpSpPr>
      <p:pic>
        <p:nvPicPr>
          <p:cNvPr id="2" name="Image 0" descr="assets/ULC_Fabric_Gradient.png">    </p:cNvPr>
          <p:cNvPicPr>
            <a:picLocks noChangeAspect="1"/>
          </p:cNvPicPr>
          <p:nvPr/>
        </p:nvPicPr>
        <p:blipFill>
          <a:blip r:embed="rId1">
            <a:alphaModFix amt="68000"/>
          </a:blip>
          <a:stretch>
            <a:fillRect/>
          </a:stretch>
        </p:blipFill>
        <p:spPr>
          <a:xfrm>
            <a:off x="-320040" y="-320040"/>
            <a:ext cx="4114800" cy="4114800"/>
          </a:xfrm>
          <a:prstGeom prst="rect">
            <a:avLst/>
          </a:prstGeom>
        </p:spPr>
      </p:pic>
      <p:pic>
        <p:nvPicPr>
          <p:cNvPr id="3" name="Image 1" descr="assets/BRC_Fabric_Gradient.png">    </p:cNvPr>
          <p:cNvPicPr>
            <a:picLocks noChangeAspect="1"/>
          </p:cNvPicPr>
          <p:nvPr/>
        </p:nvPicPr>
        <p:blipFill>
          <a:blip r:embed="rId2">
            <a:alphaModFix amt="54000"/>
          </a:blip>
          <a:stretch>
            <a:fillRect/>
          </a:stretch>
        </p:blipFill>
        <p:spPr>
          <a:xfrm>
            <a:off x="8808415" y="2697480"/>
            <a:ext cx="3657600" cy="3657600"/>
          </a:xfrm>
          <a:prstGeom prst="rect">
            <a:avLst/>
          </a:prstGeom>
        </p:spPr>
      </p:pic>
      <p:sp>
        <p:nvSpPr>
          <p:cNvPr id="4" name="Shape 0"/>
          <p:cNvSpPr/>
          <p:nvPr/>
        </p:nvSpPr>
        <p:spPr>
          <a:xfrm>
            <a:off x="0" y="5989320"/>
            <a:ext cx="12191695" cy="868680"/>
          </a:xfrm>
          <a:prstGeom prst="rect">
            <a:avLst/>
          </a:prstGeom>
          <a:solidFill>
            <a:srgbClr val="030328"/>
          </a:solidFill>
          <a:ln/>
        </p:spPr>
      </p:sp>
      <p:sp>
        <p:nvSpPr>
          <p:cNvPr id="5"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PART FOUR</a:t>
            </a:r>
            <a:endParaRPr lang="en-US" sz="1050" dirty="0"/>
          </a:p>
        </p:txBody>
      </p:sp>
      <p:pic>
        <p:nvPicPr>
          <p:cNvPr id="6" name="Image 2" descr="assets/logo-snyk-white.png">    </p:cNvPr>
          <p:cNvPicPr>
            <a:picLocks noChangeAspect="1"/>
          </p:cNvPicPr>
          <p:nvPr/>
        </p:nvPicPr>
        <p:blipFill>
          <a:blip r:embed="rId3"/>
          <a:stretch>
            <a:fillRect/>
          </a:stretch>
        </p:blipFill>
        <p:spPr>
          <a:xfrm>
            <a:off x="10796321" y="435254"/>
            <a:ext cx="886968" cy="310896"/>
          </a:xfrm>
          <a:prstGeom prst="rect">
            <a:avLst/>
          </a:prstGeom>
        </p:spPr>
      </p:pic>
      <p:pic>
        <p:nvPicPr>
          <p:cNvPr id="7" name="Image 3" descr="assets/grad_bar_v.png">    </p:cNvPr>
          <p:cNvPicPr>
            <a:picLocks noChangeAspect="1"/>
          </p:cNvPicPr>
          <p:nvPr/>
        </p:nvPicPr>
        <p:blipFill>
          <a:blip r:embed="rId4"/>
          <a:stretch>
            <a:fillRect/>
          </a:stretch>
        </p:blipFill>
        <p:spPr>
          <a:xfrm>
            <a:off x="508406" y="2240280"/>
            <a:ext cx="50292" cy="1691640"/>
          </a:xfrm>
          <a:prstGeom prst="rect">
            <a:avLst/>
          </a:prstGeom>
        </p:spPr>
      </p:pic>
      <p:sp>
        <p:nvSpPr>
          <p:cNvPr id="8" name="Text 2"/>
          <p:cNvSpPr/>
          <p:nvPr/>
        </p:nvSpPr>
        <p:spPr>
          <a:xfrm>
            <a:off x="819302" y="2148840"/>
            <a:ext cx="1828800" cy="640080"/>
          </a:xfrm>
          <a:prstGeom prst="rect">
            <a:avLst/>
          </a:prstGeom>
          <a:noFill/>
          <a:ln/>
        </p:spPr>
        <p:txBody>
          <a:bodyPr wrap="square" lIns="0" tIns="0" rIns="0" bIns="0" rtlCol="0" anchor="ctr"/>
          <a:lstStyle/>
          <a:p>
            <a:pPr indent="0" marL="0">
              <a:buNone/>
            </a:pPr>
            <a:r>
              <a:rPr lang="en-US" sz="2200" b="1" spc="100" kern="0" dirty="0">
                <a:solidFill>
                  <a:srgbClr val="8A8AA3"/>
                </a:solidFill>
                <a:latin typeface="Geist Mono" pitchFamily="34" charset="0"/>
                <a:ea typeface="Geist Mono" pitchFamily="34" charset="-122"/>
                <a:cs typeface="Geist Mono" pitchFamily="34" charset="-120"/>
              </a:rPr>
              <a:t>04</a:t>
            </a:r>
            <a:endParaRPr lang="en-US" sz="2200" dirty="0"/>
          </a:p>
        </p:txBody>
      </p:sp>
      <p:sp>
        <p:nvSpPr>
          <p:cNvPr id="9" name="Text 3"/>
          <p:cNvSpPr/>
          <p:nvPr/>
        </p:nvSpPr>
        <p:spPr>
          <a:xfrm>
            <a:off x="819302" y="2697480"/>
            <a:ext cx="10077602" cy="1280160"/>
          </a:xfrm>
          <a:prstGeom prst="rect">
            <a:avLst/>
          </a:prstGeom>
          <a:noFill/>
          <a:ln/>
        </p:spPr>
        <p:txBody>
          <a:bodyPr wrap="square" lIns="0" tIns="0" rIns="0" bIns="0" rtlCol="0" anchor="ctr"/>
          <a:lstStyle/>
          <a:p>
            <a:pPr indent="0" marL="0">
              <a:lnSpc>
                <a:spcPts val="4800"/>
              </a:lnSpc>
              <a:buNone/>
            </a:pPr>
            <a:r>
              <a:rPr lang="en-US" sz="4600" b="1" spc="-150" kern="0" dirty="0">
                <a:solidFill>
                  <a:srgbClr val="FFFFFF"/>
                </a:solidFill>
                <a:latin typeface="Geist" pitchFamily="34" charset="0"/>
                <a:ea typeface="Geist" pitchFamily="34" charset="-122"/>
                <a:cs typeface="Geist" pitchFamily="34" charset="-120"/>
              </a:rPr>
              <a:t>Snyk in the IDE</a:t>
            </a:r>
            <a:endParaRPr lang="en-US" sz="4600" dirty="0"/>
          </a:p>
        </p:txBody>
      </p:sp>
      <p:sp>
        <p:nvSpPr>
          <p:cNvPr id="10" name="Text 4"/>
          <p:cNvSpPr/>
          <p:nvPr/>
        </p:nvSpPr>
        <p:spPr>
          <a:xfrm>
            <a:off x="819302" y="4041648"/>
            <a:ext cx="6949440" cy="731520"/>
          </a:xfrm>
          <a:prstGeom prst="rect">
            <a:avLst/>
          </a:prstGeom>
          <a:noFill/>
          <a:ln/>
        </p:spPr>
        <p:txBody>
          <a:bodyPr wrap="square" lIns="0" tIns="0" rIns="0" bIns="0" rtlCol="0" anchor="ctr"/>
          <a:lstStyle/>
          <a:p>
            <a:pPr indent="0" marL="0">
              <a:lnSpc>
                <a:spcPts val="2200"/>
              </a:lnSpc>
              <a:buNone/>
            </a:pPr>
            <a:r>
              <a:rPr lang="en-US" sz="1400" dirty="0">
                <a:solidFill>
                  <a:srgbClr val="B8B8CC"/>
                </a:solidFill>
                <a:latin typeface="Geist" pitchFamily="34" charset="0"/>
                <a:ea typeface="Geist" pitchFamily="34" charset="-122"/>
                <a:cs typeface="Geist" pitchFamily="34" charset="-120"/>
              </a:rPr>
              <a:t>The shortest feedback loop you have.</a:t>
            </a:r>
            <a:endParaRPr lang="en-US" sz="1400" dirty="0"/>
          </a:p>
        </p:txBody>
      </p:sp>
      <p:sp>
        <p:nvSpPr>
          <p:cNvPr id="11" name="Shape 5"/>
          <p:cNvSpPr/>
          <p:nvPr/>
        </p:nvSpPr>
        <p:spPr>
          <a:xfrm>
            <a:off x="508406" y="6245352"/>
            <a:ext cx="11174882" cy="10973"/>
          </a:xfrm>
          <a:prstGeom prst="rect">
            <a:avLst/>
          </a:prstGeom>
          <a:solidFill>
            <a:srgbClr val="FFFFFF">
              <a:alpha val="12000"/>
            </a:srgbClr>
          </a:solidFill>
          <a:ln/>
        </p:spPr>
      </p:sp>
      <p:pic>
        <p:nvPicPr>
          <p:cNvPr id="12" name="Image 4" descr="assets/logo-snyk-white.png">    </p:cNvPr>
          <p:cNvPicPr>
            <a:picLocks noChangeAspect="1"/>
          </p:cNvPicPr>
          <p:nvPr/>
        </p:nvPicPr>
        <p:blipFill>
          <a:blip r:embed="rId5"/>
          <a:stretch>
            <a:fillRect/>
          </a:stretch>
        </p:blipFill>
        <p:spPr>
          <a:xfrm>
            <a:off x="508406" y="6336792"/>
            <a:ext cx="621792" cy="219456"/>
          </a:xfrm>
          <a:prstGeom prst="rect">
            <a:avLst/>
          </a:prstGeom>
        </p:spPr>
      </p:pic>
      <p:sp>
        <p:nvSpPr>
          <p:cNvPr id="13" name="Text 6"/>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Snyk in the IDE</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30328"/>
        </a:solidFill>
      </p:bgPr>
    </p:bg>
    <p:spTree>
      <p:nvGrpSpPr>
        <p:cNvPr id="1" name=""/>
        <p:cNvGrpSpPr/>
        <p:nvPr/>
      </p:nvGrpSpPr>
      <p:grpSpPr>
        <a:xfrm>
          <a:off x="0" y="0"/>
          <a:ext cx="0" cy="0"/>
          <a:chOff x="0" y="0"/>
          <a:chExt cx="0" cy="0"/>
        </a:xfrm>
      </p:grpSpPr>
      <p:sp>
        <p:nvSpPr>
          <p:cNvPr id="2" name="Shape 0"/>
          <p:cNvSpPr/>
          <p:nvPr/>
        </p:nvSpPr>
        <p:spPr>
          <a:xfrm>
            <a:off x="0" y="5989320"/>
            <a:ext cx="12191695" cy="868680"/>
          </a:xfrm>
          <a:prstGeom prst="rect">
            <a:avLst/>
          </a:prstGeom>
          <a:solidFill>
            <a:srgbClr val="030328"/>
          </a:solidFill>
          <a:ln/>
        </p:spPr>
      </p:sp>
      <p:sp>
        <p:nvSpPr>
          <p:cNvPr id="3"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VS CODE</a:t>
            </a:r>
            <a:endParaRPr lang="en-US" sz="1050" dirty="0"/>
          </a:p>
        </p:txBody>
      </p:sp>
      <p:pic>
        <p:nvPicPr>
          <p:cNvPr id="4" name="Image 0" descr="assets/logo-snyk-white.png">    </p:cNvPr>
          <p:cNvPicPr>
            <a:picLocks noChangeAspect="1"/>
          </p:cNvPicPr>
          <p:nvPr/>
        </p:nvPicPr>
        <p:blipFill>
          <a:blip r:embed="rId1"/>
          <a:stretch>
            <a:fillRect/>
          </a:stretch>
        </p:blipFill>
        <p:spPr>
          <a:xfrm>
            <a:off x="10796321" y="435254"/>
            <a:ext cx="886968" cy="310896"/>
          </a:xfrm>
          <a:prstGeom prst="rect">
            <a:avLst/>
          </a:prstGeom>
        </p:spPr>
      </p:pic>
      <p:sp>
        <p:nvSpPr>
          <p:cNvPr id="5"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Install, authenticate, configure</a:t>
            </a:r>
            <a:endParaRPr lang="en-US" sz="3000" dirty="0"/>
          </a:p>
        </p:txBody>
      </p:sp>
      <p:sp>
        <p:nvSpPr>
          <p:cNvPr id="6" name="Shape 3"/>
          <p:cNvSpPr/>
          <p:nvPr/>
        </p:nvSpPr>
        <p:spPr>
          <a:xfrm>
            <a:off x="508406" y="1874520"/>
            <a:ext cx="5459425" cy="4069080"/>
          </a:xfrm>
          <a:prstGeom prst="roundRect">
            <a:avLst>
              <a:gd name="adj" fmla="val 1573"/>
            </a:avLst>
          </a:prstGeom>
          <a:solidFill>
            <a:srgbClr val="0B0B2E"/>
          </a:solidFill>
          <a:ln w="9525">
            <a:solidFill>
              <a:srgbClr val="FFFFFF">
                <a:alpha val="12000"/>
              </a:srgbClr>
            </a:solidFill>
            <a:prstDash val="solid"/>
          </a:ln>
        </p:spPr>
      </p:sp>
      <p:pic>
        <p:nvPicPr>
          <p:cNvPr id="7" name="Image 1" descr="assets/grad_bar_h.png">    </p:cNvPr>
          <p:cNvPicPr>
            <a:picLocks noChangeAspect="1"/>
          </p:cNvPicPr>
          <p:nvPr/>
        </p:nvPicPr>
        <p:blipFill>
          <a:blip r:embed="rId2"/>
          <a:stretch>
            <a:fillRect/>
          </a:stretch>
        </p:blipFill>
        <p:spPr>
          <a:xfrm>
            <a:off x="691286" y="2075688"/>
            <a:ext cx="777240" cy="32004"/>
          </a:xfrm>
          <a:prstGeom prst="rect">
            <a:avLst/>
          </a:prstGeom>
        </p:spPr>
      </p:pic>
      <p:sp>
        <p:nvSpPr>
          <p:cNvPr id="8" name="Text 4"/>
          <p:cNvSpPr/>
          <p:nvPr/>
        </p:nvSpPr>
        <p:spPr>
          <a:xfrm>
            <a:off x="691286" y="2185416"/>
            <a:ext cx="5093665" cy="237744"/>
          </a:xfrm>
          <a:prstGeom prst="rect">
            <a:avLst/>
          </a:prstGeom>
          <a:noFill/>
          <a:ln/>
        </p:spPr>
        <p:txBody>
          <a:bodyPr wrap="square" lIns="0" tIns="0" rIns="0" bIns="0" rtlCol="0" anchor="ctr"/>
          <a:lstStyle/>
          <a:p>
            <a:pPr indent="0" marL="0">
              <a:buNone/>
            </a:pPr>
            <a:r>
              <a:rPr lang="en-US" sz="850" b="1" spc="180" kern="0" dirty="0">
                <a:solidFill>
                  <a:srgbClr val="8A8AA3"/>
                </a:solidFill>
                <a:latin typeface="Geist Mono" pitchFamily="34" charset="0"/>
                <a:ea typeface="Geist Mono" pitchFamily="34" charset="-122"/>
                <a:cs typeface="Geist Mono" pitchFamily="34" charset="-120"/>
              </a:rPr>
              <a:t>INSTALL</a:t>
            </a:r>
            <a:endParaRPr lang="en-US" sz="850" dirty="0"/>
          </a:p>
        </p:txBody>
      </p:sp>
      <p:sp>
        <p:nvSpPr>
          <p:cNvPr id="9" name="Text 5"/>
          <p:cNvSpPr/>
          <p:nvPr/>
        </p:nvSpPr>
        <p:spPr>
          <a:xfrm>
            <a:off x="691286" y="2478024"/>
            <a:ext cx="5111953" cy="3282696"/>
          </a:xfrm>
          <a:prstGeom prst="rect">
            <a:avLst/>
          </a:prstGeom>
          <a:noFill/>
          <a:ln/>
        </p:spPr>
        <p:txBody>
          <a:bodyPr wrap="square" lIns="0" tIns="0" rIns="0" bIns="0" rtlCol="0" anchor="t"/>
          <a:lstStyle/>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 Extensions panel → search "Snyk Security"</a:t>
            </a: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 publisher: Snyk</a:t>
            </a:r>
            <a:endParaRPr lang="en-US" sz="950" dirty="0"/>
          </a:p>
          <a:p>
            <a:pPr indent="0" marL="0">
              <a:lnSpc>
                <a:spcPts val="1473"/>
              </a:lnSpc>
              <a:buNone/>
            </a:pP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code --install-extension \</a:t>
            </a: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  snyk-security.snyk-vulnerability-scanner</a:t>
            </a:r>
            <a:endParaRPr lang="en-US" sz="950" dirty="0"/>
          </a:p>
          <a:p>
            <a:pPr indent="0" marL="0">
              <a:lnSpc>
                <a:spcPts val="1473"/>
              </a:lnSpc>
              <a:buNone/>
            </a:pP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 the extension bundles its own CLI — you do not</a:t>
            </a: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 need a separate install just for the IDE</a:t>
            </a:r>
            <a:endParaRPr lang="en-US" sz="950" dirty="0"/>
          </a:p>
        </p:txBody>
      </p:sp>
      <p:sp>
        <p:nvSpPr>
          <p:cNvPr id="10" name="Shape 6"/>
          <p:cNvSpPr/>
          <p:nvPr/>
        </p:nvSpPr>
        <p:spPr>
          <a:xfrm>
            <a:off x="6223864" y="1874520"/>
            <a:ext cx="5459425" cy="4069080"/>
          </a:xfrm>
          <a:prstGeom prst="roundRect">
            <a:avLst>
              <a:gd name="adj" fmla="val 1573"/>
            </a:avLst>
          </a:prstGeom>
          <a:solidFill>
            <a:srgbClr val="0B0B2E"/>
          </a:solidFill>
          <a:ln w="9525">
            <a:solidFill>
              <a:srgbClr val="FFFFFF">
                <a:alpha val="12000"/>
              </a:srgbClr>
            </a:solidFill>
            <a:prstDash val="solid"/>
          </a:ln>
        </p:spPr>
      </p:sp>
      <p:pic>
        <p:nvPicPr>
          <p:cNvPr id="11" name="Image 2" descr="assets/grad_bar_h.png">    </p:cNvPr>
          <p:cNvPicPr>
            <a:picLocks noChangeAspect="1"/>
          </p:cNvPicPr>
          <p:nvPr/>
        </p:nvPicPr>
        <p:blipFill>
          <a:blip r:embed="rId3"/>
          <a:stretch>
            <a:fillRect/>
          </a:stretch>
        </p:blipFill>
        <p:spPr>
          <a:xfrm>
            <a:off x="6406744" y="2075688"/>
            <a:ext cx="777240" cy="32004"/>
          </a:xfrm>
          <a:prstGeom prst="rect">
            <a:avLst/>
          </a:prstGeom>
        </p:spPr>
      </p:pic>
      <p:sp>
        <p:nvSpPr>
          <p:cNvPr id="12" name="Text 7"/>
          <p:cNvSpPr/>
          <p:nvPr/>
        </p:nvSpPr>
        <p:spPr>
          <a:xfrm>
            <a:off x="6406744" y="2185416"/>
            <a:ext cx="5093665" cy="237744"/>
          </a:xfrm>
          <a:prstGeom prst="rect">
            <a:avLst/>
          </a:prstGeom>
          <a:noFill/>
          <a:ln/>
        </p:spPr>
        <p:txBody>
          <a:bodyPr wrap="square" lIns="0" tIns="0" rIns="0" bIns="0" rtlCol="0" anchor="ctr"/>
          <a:lstStyle/>
          <a:p>
            <a:pPr indent="0" marL="0">
              <a:buNone/>
            </a:pPr>
            <a:r>
              <a:rPr lang="en-US" sz="850" b="1" spc="180" kern="0" dirty="0">
                <a:solidFill>
                  <a:srgbClr val="8A8AA3"/>
                </a:solidFill>
                <a:latin typeface="Geist Mono" pitchFamily="34" charset="0"/>
                <a:ea typeface="Geist Mono" pitchFamily="34" charset="-122"/>
                <a:cs typeface="Geist Mono" pitchFamily="34" charset="-120"/>
              </a:rPr>
              <a:t>THEN</a:t>
            </a:r>
            <a:endParaRPr lang="en-US" sz="850" dirty="0"/>
          </a:p>
        </p:txBody>
      </p:sp>
      <p:sp>
        <p:nvSpPr>
          <p:cNvPr id="13" name="Text 8"/>
          <p:cNvSpPr/>
          <p:nvPr/>
        </p:nvSpPr>
        <p:spPr>
          <a:xfrm>
            <a:off x="6406744" y="2478024"/>
            <a:ext cx="5111953" cy="3282696"/>
          </a:xfrm>
          <a:prstGeom prst="rect">
            <a:avLst/>
          </a:prstGeom>
          <a:noFill/>
          <a:ln/>
        </p:spPr>
        <p:txBody>
          <a:bodyPr wrap="square" lIns="0" tIns="0" rIns="0" bIns="0" rtlCol="0" anchor="t"/>
          <a:lstStyle/>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 1. Connect IDE to Snyk  (browser + SSO) — preferred</a:t>
            </a: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    or: Use a token       (headless machines)</a:t>
            </a:r>
            <a:endParaRPr lang="en-US" sz="950" dirty="0"/>
          </a:p>
          <a:p>
            <a:pPr indent="0" marL="0">
              <a:lnSpc>
                <a:spcPts val="1473"/>
              </a:lnSpc>
              <a:buNone/>
            </a:pP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 2. Settings → Snyk Security → Organization</a:t>
            </a: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    pick the RIGHT org, or scans land elsewhere</a:t>
            </a: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    and org-level ignores will not apply</a:t>
            </a:r>
            <a:endParaRPr lang="en-US" sz="950" dirty="0"/>
          </a:p>
          <a:p>
            <a:pPr indent="0" marL="0">
              <a:lnSpc>
                <a:spcPts val="1473"/>
              </a:lnSpc>
              <a:buNone/>
            </a:pP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 3. Enable Open Source + Code + IaC + Secrets</a:t>
            </a:r>
            <a:endParaRPr lang="en-US" sz="950" dirty="0"/>
          </a:p>
          <a:p>
            <a:pPr indent="0" marL="0">
              <a:lnSpc>
                <a:spcPts val="1473"/>
              </a:lnSpc>
              <a:buNone/>
            </a:pP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 4. Trust the folder when prompted</a:t>
            </a: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    no trust, no scan — the #1 "it is broken"</a:t>
            </a:r>
            <a:endParaRPr lang="en-US" sz="950" dirty="0"/>
          </a:p>
        </p:txBody>
      </p:sp>
      <p:sp>
        <p:nvSpPr>
          <p:cNvPr id="14" name="Shape 9"/>
          <p:cNvSpPr/>
          <p:nvPr/>
        </p:nvSpPr>
        <p:spPr>
          <a:xfrm>
            <a:off x="508406" y="6245352"/>
            <a:ext cx="11174882" cy="10973"/>
          </a:xfrm>
          <a:prstGeom prst="rect">
            <a:avLst/>
          </a:prstGeom>
          <a:solidFill>
            <a:srgbClr val="FFFFFF">
              <a:alpha val="12000"/>
            </a:srgbClr>
          </a:solidFill>
          <a:ln/>
        </p:spPr>
      </p:sp>
      <p:pic>
        <p:nvPicPr>
          <p:cNvPr id="15" name="Image 3" descr="assets/logo-snyk-white.png">    </p:cNvPr>
          <p:cNvPicPr>
            <a:picLocks noChangeAspect="1"/>
          </p:cNvPicPr>
          <p:nvPr/>
        </p:nvPicPr>
        <p:blipFill>
          <a:blip r:embed="rId4"/>
          <a:stretch>
            <a:fillRect/>
          </a:stretch>
        </p:blipFill>
        <p:spPr>
          <a:xfrm>
            <a:off x="508406" y="6336792"/>
            <a:ext cx="621792" cy="219456"/>
          </a:xfrm>
          <a:prstGeom prst="rect">
            <a:avLst/>
          </a:prstGeom>
        </p:spPr>
      </p:pic>
      <p:sp>
        <p:nvSpPr>
          <p:cNvPr id="16" name="Text 10"/>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Snyk in the IDE</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READ A FINDING</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Two findings, two kinds of answer</a:t>
            </a:r>
            <a:endParaRPr lang="en-US" sz="3000" dirty="0"/>
          </a:p>
        </p:txBody>
      </p:sp>
      <p:sp>
        <p:nvSpPr>
          <p:cNvPr id="7" name="Shape 3"/>
          <p:cNvSpPr/>
          <p:nvPr/>
        </p:nvSpPr>
        <p:spPr>
          <a:xfrm>
            <a:off x="508406" y="1993392"/>
            <a:ext cx="5468569" cy="3968496"/>
          </a:xfrm>
          <a:prstGeom prst="roundRect">
            <a:avLst>
              <a:gd name="adj" fmla="val 1613"/>
            </a:avLst>
          </a:prstGeom>
          <a:solidFill>
            <a:srgbClr val="6F00DD">
              <a:alpha val="8000"/>
            </a:srgbClr>
          </a:solidFill>
          <a:ln w="9525">
            <a:solidFill>
              <a:srgbClr val="FFFFFF">
                <a:alpha val="14000"/>
              </a:srgbClr>
            </a:solidFill>
            <a:prstDash val="solid"/>
          </a:ln>
        </p:spPr>
      </p:sp>
      <p:pic>
        <p:nvPicPr>
          <p:cNvPr id="8" name="Image 2" descr="assets/grad_bar_v.png">    </p:cNvPr>
          <p:cNvPicPr>
            <a:picLocks noChangeAspect="1"/>
          </p:cNvPicPr>
          <p:nvPr/>
        </p:nvPicPr>
        <p:blipFill>
          <a:blip r:embed="rId3"/>
          <a:stretch>
            <a:fillRect/>
          </a:stretch>
        </p:blipFill>
        <p:spPr>
          <a:xfrm>
            <a:off x="508406" y="2121408"/>
            <a:ext cx="36576" cy="3712464"/>
          </a:xfrm>
          <a:prstGeom prst="rect">
            <a:avLst/>
          </a:prstGeom>
        </p:spPr>
      </p:pic>
      <p:sp>
        <p:nvSpPr>
          <p:cNvPr id="9" name="Text 4"/>
          <p:cNvSpPr/>
          <p:nvPr/>
        </p:nvSpPr>
        <p:spPr>
          <a:xfrm>
            <a:off x="727862" y="2130552"/>
            <a:ext cx="5066233"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SNYK CODE — ROUTES/LOGIN.TS:34</a:t>
            </a:r>
            <a:endParaRPr lang="en-US" sz="850" dirty="0"/>
          </a:p>
        </p:txBody>
      </p:sp>
      <p:sp>
        <p:nvSpPr>
          <p:cNvPr id="10" name="Text 5"/>
          <p:cNvSpPr/>
          <p:nvPr/>
        </p:nvSpPr>
        <p:spPr>
          <a:xfrm>
            <a:off x="727862" y="2368296"/>
            <a:ext cx="5066233"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SQL injection, High, CWE-89</a:t>
            </a:r>
            <a:endParaRPr lang="en-US" sz="1500" dirty="0"/>
          </a:p>
        </p:txBody>
      </p:sp>
      <p:sp>
        <p:nvSpPr>
          <p:cNvPr id="11" name="Text 6"/>
          <p:cNvSpPr/>
          <p:nvPr/>
        </p:nvSpPr>
        <p:spPr>
          <a:xfrm>
            <a:off x="727862" y="2674620"/>
            <a:ext cx="5066233" cy="3159252"/>
          </a:xfrm>
          <a:prstGeom prst="rect">
            <a:avLst/>
          </a:prstGeom>
          <a:noFill/>
          <a:ln/>
        </p:spPr>
        <p:txBody>
          <a:bodyPr wrap="square" lIns="0" tIns="0" rIns="0" bIns="0" rtlCol="0" anchor="t"/>
          <a:lstStyle/>
          <a:p>
            <a:pPr indent="0" marL="0">
              <a:lnSpc>
                <a:spcPts val="1600"/>
              </a:lnSpc>
              <a:buNone/>
            </a:pPr>
            <a:r>
              <a:rPr lang="en-US" sz="1150" dirty="0">
                <a:solidFill>
                  <a:srgbClr val="B8B8CC"/>
                </a:solidFill>
                <a:latin typeface="Geist" pitchFamily="34" charset="0"/>
                <a:ea typeface="Geist" pitchFamily="34" charset="-122"/>
                <a:cs typeface="Geist" pitchFamily="34" charset="-120"/>
              </a:rPr>
              <a:t>A template literal drops req.body.email straight into sequelize.query.</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Data flow: request body → template literal → raw SQL. Click any step to jump to the line.</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It tells you WHICH LINE to change.</a:t>
            </a:r>
            <a:endParaRPr lang="en-US" sz="1150" dirty="0"/>
          </a:p>
        </p:txBody>
      </p:sp>
      <p:sp>
        <p:nvSpPr>
          <p:cNvPr id="12" name="Shape 7"/>
          <p:cNvSpPr/>
          <p:nvPr/>
        </p:nvSpPr>
        <p:spPr>
          <a:xfrm>
            <a:off x="6214720" y="1993392"/>
            <a:ext cx="5468569" cy="3968496"/>
          </a:xfrm>
          <a:prstGeom prst="roundRect">
            <a:avLst>
              <a:gd name="adj" fmla="val 1613"/>
            </a:avLst>
          </a:prstGeom>
          <a:solidFill>
            <a:srgbClr val="6F00DD">
              <a:alpha val="8000"/>
            </a:srgbClr>
          </a:solidFill>
          <a:ln w="9525">
            <a:solidFill>
              <a:srgbClr val="FFFFFF">
                <a:alpha val="14000"/>
              </a:srgbClr>
            </a:solidFill>
            <a:prstDash val="solid"/>
          </a:ln>
        </p:spPr>
      </p:sp>
      <p:pic>
        <p:nvPicPr>
          <p:cNvPr id="13" name="Image 3" descr="assets/grad_bar_v.png">    </p:cNvPr>
          <p:cNvPicPr>
            <a:picLocks noChangeAspect="1"/>
          </p:cNvPicPr>
          <p:nvPr/>
        </p:nvPicPr>
        <p:blipFill>
          <a:blip r:embed="rId4"/>
          <a:stretch>
            <a:fillRect/>
          </a:stretch>
        </p:blipFill>
        <p:spPr>
          <a:xfrm>
            <a:off x="6214720" y="2121408"/>
            <a:ext cx="36576" cy="3712464"/>
          </a:xfrm>
          <a:prstGeom prst="rect">
            <a:avLst/>
          </a:prstGeom>
        </p:spPr>
      </p:pic>
      <p:sp>
        <p:nvSpPr>
          <p:cNvPr id="14" name="Text 8"/>
          <p:cNvSpPr/>
          <p:nvPr/>
        </p:nvSpPr>
        <p:spPr>
          <a:xfrm>
            <a:off x="6434176" y="2130552"/>
            <a:ext cx="5066233"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SNYK OPEN SOURCE — PACKAGE.JSON</a:t>
            </a:r>
            <a:endParaRPr lang="en-US" sz="850" dirty="0"/>
          </a:p>
        </p:txBody>
      </p:sp>
      <p:sp>
        <p:nvSpPr>
          <p:cNvPr id="15" name="Text 9"/>
          <p:cNvSpPr/>
          <p:nvPr/>
        </p:nvSpPr>
        <p:spPr>
          <a:xfrm>
            <a:off x="6434176" y="2368296"/>
            <a:ext cx="5066233"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sanitize-html 1.4.2, High</a:t>
            </a:r>
            <a:endParaRPr lang="en-US" sz="1500" dirty="0"/>
          </a:p>
        </p:txBody>
      </p:sp>
      <p:sp>
        <p:nvSpPr>
          <p:cNvPr id="16" name="Text 10"/>
          <p:cNvSpPr/>
          <p:nvPr/>
        </p:nvSpPr>
        <p:spPr>
          <a:xfrm>
            <a:off x="6434176" y="2674620"/>
            <a:ext cx="5066233" cy="3159252"/>
          </a:xfrm>
          <a:prstGeom prst="rect">
            <a:avLst/>
          </a:prstGeom>
          <a:noFill/>
          <a:ln/>
        </p:spPr>
        <p:txBody>
          <a:bodyPr wrap="square" lIns="0" tIns="0" rIns="0" bIns="0" rtlCol="0" anchor="t"/>
          <a:lstStyle/>
          <a:p>
            <a:pPr indent="0" marL="0">
              <a:lnSpc>
                <a:spcPts val="1600"/>
              </a:lnSpc>
              <a:buNone/>
            </a:pPr>
            <a:r>
              <a:rPr lang="en-US" sz="1150" dirty="0">
                <a:solidFill>
                  <a:srgbClr val="B8B8CC"/>
                </a:solidFill>
                <a:latin typeface="Geist" pitchFamily="34" charset="0"/>
                <a:ea typeface="Geist" pitchFamily="34" charset="-122"/>
                <a:cs typeface="Geist" pitchFamily="34" charset="-120"/>
              </a:rPr>
              <a:t>An exact pin, years old, with a known XSS filter bypass.</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Introduced through / fixed in: the exact version to move to. Plus Priority Score, exploit maturity, reachability.</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It tells you WHICH VERSION to move to.</a:t>
            </a:r>
            <a:endParaRPr lang="en-US" sz="1150" dirty="0"/>
          </a:p>
        </p:txBody>
      </p:sp>
      <p:sp>
        <p:nvSpPr>
          <p:cNvPr id="17" name="Shape 11"/>
          <p:cNvSpPr/>
          <p:nvPr/>
        </p:nvSpPr>
        <p:spPr>
          <a:xfrm>
            <a:off x="508406" y="6245352"/>
            <a:ext cx="11174882" cy="10973"/>
          </a:xfrm>
          <a:prstGeom prst="rect">
            <a:avLst/>
          </a:prstGeom>
          <a:solidFill>
            <a:srgbClr val="FFFFFF">
              <a:alpha val="12000"/>
            </a:srgbClr>
          </a:solidFill>
          <a:ln/>
        </p:spPr>
      </p:sp>
      <p:pic>
        <p:nvPicPr>
          <p:cNvPr id="18" name="Image 4" descr="assets/logo-snyk-white.png">    </p:cNvPr>
          <p:cNvPicPr>
            <a:picLocks noChangeAspect="1"/>
          </p:cNvPicPr>
          <p:nvPr/>
        </p:nvPicPr>
        <p:blipFill>
          <a:blip r:embed="rId5"/>
          <a:stretch>
            <a:fillRect/>
          </a:stretch>
        </p:blipFill>
        <p:spPr>
          <a:xfrm>
            <a:off x="508406" y="6336792"/>
            <a:ext cx="621792" cy="219456"/>
          </a:xfrm>
          <a:prstGeom prst="rect">
            <a:avLst/>
          </a:prstGeom>
        </p:spPr>
      </p:pic>
      <p:sp>
        <p:nvSpPr>
          <p:cNvPr id="19" name="Text 12"/>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Snyk in the IDE</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SNYK AGENT FIX · GA IN IDE</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11174882" cy="914400"/>
          </a:xfrm>
          <a:prstGeom prst="rect">
            <a:avLst/>
          </a:prstGeom>
          <a:noFill/>
          <a:ln/>
        </p:spPr>
        <p:txBody>
          <a:bodyPr wrap="square" lIns="0" tIns="0" rIns="0" bIns="0" rtlCol="0" anchor="t"/>
          <a:lstStyle/>
          <a:p>
            <a:pPr indent="0" marL="0">
              <a:lnSpc>
                <a:spcPts val="3300"/>
              </a:lnSpc>
              <a:buNone/>
            </a:pPr>
            <a:r>
              <a:rPr lang="en-US" sz="3200" b="1" spc="-100" kern="0" dirty="0">
                <a:solidFill>
                  <a:srgbClr val="FFFFFF"/>
                </a:solidFill>
                <a:latin typeface="Geist" pitchFamily="34" charset="0"/>
                <a:ea typeface="Geist" pitchFamily="34" charset="-122"/>
                <a:cs typeface="Geist" pitchFamily="34" charset="-120"/>
              </a:rPr>
              <a:t>AI-generated fixes, inside the IDE</a:t>
            </a:r>
            <a:endParaRPr lang="en-US" sz="3200" dirty="0"/>
          </a:p>
        </p:txBody>
      </p:sp>
      <p:sp>
        <p:nvSpPr>
          <p:cNvPr id="7" name="Text 3"/>
          <p:cNvSpPr/>
          <p:nvPr/>
        </p:nvSpPr>
        <p:spPr>
          <a:xfrm>
            <a:off x="508406" y="1847088"/>
            <a:ext cx="9326880" cy="457200"/>
          </a:xfrm>
          <a:prstGeom prst="rect">
            <a:avLst/>
          </a:prstGeom>
          <a:noFill/>
          <a:ln/>
        </p:spPr>
        <p:txBody>
          <a:bodyPr wrap="square" lIns="0" tIns="0" rIns="0" bIns="0" rtlCol="0" anchor="ctr"/>
          <a:lstStyle/>
          <a:p>
            <a:pPr indent="0" marL="0">
              <a:lnSpc>
                <a:spcPts val="2000"/>
              </a:lnSpc>
              <a:buNone/>
            </a:pPr>
            <a:r>
              <a:rPr lang="en-US" sz="1300" dirty="0">
                <a:solidFill>
                  <a:srgbClr val="8A8AA3"/>
                </a:solidFill>
                <a:latin typeface="Geist" pitchFamily="34" charset="0"/>
                <a:ea typeface="Geist" pitchFamily="34" charset="-122"/>
                <a:cs typeface="Geist" pitchFamily="34" charset="-120"/>
              </a:rPr>
              <a:t>Formerly DeepCode AI Fix. Re-architected onto Claude models and fully rolled out in late May 2026.</a:t>
            </a:r>
            <a:endParaRPr lang="en-US" sz="1300" dirty="0"/>
          </a:p>
        </p:txBody>
      </p:sp>
      <p:sp>
        <p:nvSpPr>
          <p:cNvPr id="8" name="Text 4"/>
          <p:cNvSpPr/>
          <p:nvPr/>
        </p:nvSpPr>
        <p:spPr>
          <a:xfrm>
            <a:off x="563270" y="2487168"/>
            <a:ext cx="8778240" cy="3456432"/>
          </a:xfrm>
          <a:prstGeom prst="rect">
            <a:avLst/>
          </a:prstGeom>
          <a:noFill/>
          <a:ln/>
        </p:spPr>
        <p:txBody>
          <a:bodyPr wrap="square" lIns="0" tIns="0" rIns="0" bIns="0" rtlCol="0" anchor="t"/>
          <a:lstStyle/>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What it does — generates candidate fixes for Snyk Code findings, re-scans each one to confirm the issue is gone and nothing new appeared, and retries when a candidate fails verification.</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How — Snyk's intelligence in the prompt. A database of 35,000+ expert-written fixes provides real-world context at inference time, rather than fine-tuning.</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Coverage — all Snyk Code languages and rules. Retire any older "only works for language X" caveat you have heard; the May 2026 re-architecture removed it.</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Enablement — Settings → Snyk Agent Fix, at Group OR Organization level. Somebody has to turn it on. Snyk Learn calls it Enterprise-tier; the product docs state no tier, so ask your admin rather than assuming.</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Not supported with Snyk Code Local Engine — which is itself deprecated.</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Your job — read the diff. Every time. The verification loop checks for the vulnerability, not for whether the change makes sense in your codebase.</a:t>
            </a:r>
            <a:endParaRPr lang="en-US" sz="1400" dirty="0"/>
          </a:p>
        </p:txBody>
      </p:sp>
      <p:sp>
        <p:nvSpPr>
          <p:cNvPr id="9" name="Shape 5"/>
          <p:cNvSpPr/>
          <p:nvPr/>
        </p:nvSpPr>
        <p:spPr>
          <a:xfrm>
            <a:off x="508406" y="6245352"/>
            <a:ext cx="11174882" cy="10973"/>
          </a:xfrm>
          <a:prstGeom prst="rect">
            <a:avLst/>
          </a:prstGeom>
          <a:solidFill>
            <a:srgbClr val="FFFFFF">
              <a:alpha val="12000"/>
            </a:srgbClr>
          </a:solidFill>
          <a:ln/>
        </p:spPr>
      </p:sp>
      <p:pic>
        <p:nvPicPr>
          <p:cNvPr id="10" name="Image 2" descr="assets/logo-snyk-white.png">    </p:cNvPr>
          <p:cNvPicPr>
            <a:picLocks noChangeAspect="1"/>
          </p:cNvPicPr>
          <p:nvPr/>
        </p:nvPicPr>
        <p:blipFill>
          <a:blip r:embed="rId3"/>
          <a:stretch>
            <a:fillRect/>
          </a:stretch>
        </p:blipFill>
        <p:spPr>
          <a:xfrm>
            <a:off x="508406" y="6336792"/>
            <a:ext cx="621792" cy="219456"/>
          </a:xfrm>
          <a:prstGeom prst="rect">
            <a:avLst/>
          </a:prstGeom>
        </p:spPr>
      </p:pic>
      <p:sp>
        <p:nvSpPr>
          <p:cNvPr id="11" name="Text 6"/>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Snyk in the IDE</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30328"/>
        </a:solidFill>
      </p:bgPr>
    </p:bg>
    <p:spTree>
      <p:nvGrpSpPr>
        <p:cNvPr id="1" name=""/>
        <p:cNvGrpSpPr/>
        <p:nvPr/>
      </p:nvGrpSpPr>
      <p:grpSpPr>
        <a:xfrm>
          <a:off x="0" y="0"/>
          <a:ext cx="0" cy="0"/>
          <a:chOff x="0" y="0"/>
          <a:chExt cx="0" cy="0"/>
        </a:xfrm>
      </p:grpSpPr>
      <p:pic>
        <p:nvPicPr>
          <p:cNvPr id="2" name="Image 0" descr="assets/ULC_Fabric_Gradient.png">    </p:cNvPr>
          <p:cNvPicPr>
            <a:picLocks noChangeAspect="1"/>
          </p:cNvPicPr>
          <p:nvPr/>
        </p:nvPicPr>
        <p:blipFill>
          <a:blip r:embed="rId1">
            <a:alphaModFix amt="68000"/>
          </a:blip>
          <a:stretch>
            <a:fillRect/>
          </a:stretch>
        </p:blipFill>
        <p:spPr>
          <a:xfrm>
            <a:off x="-320040" y="-320040"/>
            <a:ext cx="4114800" cy="4114800"/>
          </a:xfrm>
          <a:prstGeom prst="rect">
            <a:avLst/>
          </a:prstGeom>
        </p:spPr>
      </p:pic>
      <p:pic>
        <p:nvPicPr>
          <p:cNvPr id="3" name="Image 1" descr="assets/BRC_Fabric_Gradient.png">    </p:cNvPr>
          <p:cNvPicPr>
            <a:picLocks noChangeAspect="1"/>
          </p:cNvPicPr>
          <p:nvPr/>
        </p:nvPicPr>
        <p:blipFill>
          <a:blip r:embed="rId2">
            <a:alphaModFix amt="54000"/>
          </a:blip>
          <a:stretch>
            <a:fillRect/>
          </a:stretch>
        </p:blipFill>
        <p:spPr>
          <a:xfrm>
            <a:off x="8808415" y="2697480"/>
            <a:ext cx="3657600" cy="3657600"/>
          </a:xfrm>
          <a:prstGeom prst="rect">
            <a:avLst/>
          </a:prstGeom>
        </p:spPr>
      </p:pic>
      <p:sp>
        <p:nvSpPr>
          <p:cNvPr id="4" name="Shape 0"/>
          <p:cNvSpPr/>
          <p:nvPr/>
        </p:nvSpPr>
        <p:spPr>
          <a:xfrm>
            <a:off x="0" y="5989320"/>
            <a:ext cx="12191695" cy="868680"/>
          </a:xfrm>
          <a:prstGeom prst="rect">
            <a:avLst/>
          </a:prstGeom>
          <a:solidFill>
            <a:srgbClr val="030328"/>
          </a:solidFill>
          <a:ln/>
        </p:spPr>
      </p:sp>
      <p:sp>
        <p:nvSpPr>
          <p:cNvPr id="5"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PART FIVE</a:t>
            </a:r>
            <a:endParaRPr lang="en-US" sz="1050" dirty="0"/>
          </a:p>
        </p:txBody>
      </p:sp>
      <p:pic>
        <p:nvPicPr>
          <p:cNvPr id="6" name="Image 2" descr="assets/logo-snyk-white.png">    </p:cNvPr>
          <p:cNvPicPr>
            <a:picLocks noChangeAspect="1"/>
          </p:cNvPicPr>
          <p:nvPr/>
        </p:nvPicPr>
        <p:blipFill>
          <a:blip r:embed="rId3"/>
          <a:stretch>
            <a:fillRect/>
          </a:stretch>
        </p:blipFill>
        <p:spPr>
          <a:xfrm>
            <a:off x="10796321" y="435254"/>
            <a:ext cx="886968" cy="310896"/>
          </a:xfrm>
          <a:prstGeom prst="rect">
            <a:avLst/>
          </a:prstGeom>
        </p:spPr>
      </p:pic>
      <p:pic>
        <p:nvPicPr>
          <p:cNvPr id="7" name="Image 3" descr="assets/grad_bar_v.png">    </p:cNvPr>
          <p:cNvPicPr>
            <a:picLocks noChangeAspect="1"/>
          </p:cNvPicPr>
          <p:nvPr/>
        </p:nvPicPr>
        <p:blipFill>
          <a:blip r:embed="rId4"/>
          <a:stretch>
            <a:fillRect/>
          </a:stretch>
        </p:blipFill>
        <p:spPr>
          <a:xfrm>
            <a:off x="508406" y="2240280"/>
            <a:ext cx="50292" cy="1691640"/>
          </a:xfrm>
          <a:prstGeom prst="rect">
            <a:avLst/>
          </a:prstGeom>
        </p:spPr>
      </p:pic>
      <p:sp>
        <p:nvSpPr>
          <p:cNvPr id="8" name="Text 2"/>
          <p:cNvSpPr/>
          <p:nvPr/>
        </p:nvSpPr>
        <p:spPr>
          <a:xfrm>
            <a:off x="819302" y="2148840"/>
            <a:ext cx="1828800" cy="640080"/>
          </a:xfrm>
          <a:prstGeom prst="rect">
            <a:avLst/>
          </a:prstGeom>
          <a:noFill/>
          <a:ln/>
        </p:spPr>
        <p:txBody>
          <a:bodyPr wrap="square" lIns="0" tIns="0" rIns="0" bIns="0" rtlCol="0" anchor="ctr"/>
          <a:lstStyle/>
          <a:p>
            <a:pPr indent="0" marL="0">
              <a:buNone/>
            </a:pPr>
            <a:r>
              <a:rPr lang="en-US" sz="2200" b="1" spc="100" kern="0" dirty="0">
                <a:solidFill>
                  <a:srgbClr val="8A8AA3"/>
                </a:solidFill>
                <a:latin typeface="Geist Mono" pitchFamily="34" charset="0"/>
                <a:ea typeface="Geist Mono" pitchFamily="34" charset="-122"/>
                <a:cs typeface="Geist Mono" pitchFamily="34" charset="-120"/>
              </a:rPr>
              <a:t>05</a:t>
            </a:r>
            <a:endParaRPr lang="en-US" sz="2200" dirty="0"/>
          </a:p>
        </p:txBody>
      </p:sp>
      <p:sp>
        <p:nvSpPr>
          <p:cNvPr id="9" name="Text 3"/>
          <p:cNvSpPr/>
          <p:nvPr/>
        </p:nvSpPr>
        <p:spPr>
          <a:xfrm>
            <a:off x="819302" y="2697480"/>
            <a:ext cx="10077602" cy="1280160"/>
          </a:xfrm>
          <a:prstGeom prst="rect">
            <a:avLst/>
          </a:prstGeom>
          <a:noFill/>
          <a:ln/>
        </p:spPr>
        <p:txBody>
          <a:bodyPr wrap="square" lIns="0" tIns="0" rIns="0" bIns="0" rtlCol="0" anchor="ctr"/>
          <a:lstStyle/>
          <a:p>
            <a:pPr indent="0" marL="0">
              <a:lnSpc>
                <a:spcPts val="4800"/>
              </a:lnSpc>
              <a:buNone/>
            </a:pPr>
            <a:r>
              <a:rPr lang="en-US" sz="4600" b="1" spc="-150" kern="0" dirty="0">
                <a:solidFill>
                  <a:srgbClr val="FFFFFF"/>
                </a:solidFill>
                <a:latin typeface="Geist" pitchFamily="34" charset="0"/>
                <a:ea typeface="Geist" pitchFamily="34" charset="-122"/>
                <a:cs typeface="Geist" pitchFamily="34" charset="-120"/>
              </a:rPr>
              <a:t>Snyk in the CLI</a:t>
            </a:r>
            <a:endParaRPr lang="en-US" sz="4600" dirty="0"/>
          </a:p>
        </p:txBody>
      </p:sp>
      <p:sp>
        <p:nvSpPr>
          <p:cNvPr id="10" name="Text 4"/>
          <p:cNvSpPr/>
          <p:nvPr/>
        </p:nvSpPr>
        <p:spPr>
          <a:xfrm>
            <a:off x="819302" y="4041648"/>
            <a:ext cx="6949440" cy="731520"/>
          </a:xfrm>
          <a:prstGeom prst="rect">
            <a:avLst/>
          </a:prstGeom>
          <a:noFill/>
          <a:ln/>
        </p:spPr>
        <p:txBody>
          <a:bodyPr wrap="square" lIns="0" tIns="0" rIns="0" bIns="0" rtlCol="0" anchor="ctr"/>
          <a:lstStyle/>
          <a:p>
            <a:pPr indent="0" marL="0">
              <a:lnSpc>
                <a:spcPts val="2200"/>
              </a:lnSpc>
              <a:buNone/>
            </a:pPr>
            <a:r>
              <a:rPr lang="en-US" sz="1400" dirty="0">
                <a:solidFill>
                  <a:srgbClr val="B8B8CC"/>
                </a:solidFill>
                <a:latin typeface="Geist" pitchFamily="34" charset="0"/>
                <a:ea typeface="Geist" pitchFamily="34" charset="-122"/>
                <a:cs typeface="Geist" pitchFamily="34" charset="-120"/>
              </a:rPr>
              <a:t>Same engine, scriptable, and the foundation for everything agentic.</a:t>
            </a:r>
            <a:endParaRPr lang="en-US" sz="1400" dirty="0"/>
          </a:p>
        </p:txBody>
      </p:sp>
      <p:sp>
        <p:nvSpPr>
          <p:cNvPr id="11" name="Shape 5"/>
          <p:cNvSpPr/>
          <p:nvPr/>
        </p:nvSpPr>
        <p:spPr>
          <a:xfrm>
            <a:off x="508406" y="6245352"/>
            <a:ext cx="11174882" cy="10973"/>
          </a:xfrm>
          <a:prstGeom prst="rect">
            <a:avLst/>
          </a:prstGeom>
          <a:solidFill>
            <a:srgbClr val="FFFFFF">
              <a:alpha val="12000"/>
            </a:srgbClr>
          </a:solidFill>
          <a:ln/>
        </p:spPr>
      </p:sp>
      <p:pic>
        <p:nvPicPr>
          <p:cNvPr id="12" name="Image 4" descr="assets/logo-snyk-white.png">    </p:cNvPr>
          <p:cNvPicPr>
            <a:picLocks noChangeAspect="1"/>
          </p:cNvPicPr>
          <p:nvPr/>
        </p:nvPicPr>
        <p:blipFill>
          <a:blip r:embed="rId5"/>
          <a:stretch>
            <a:fillRect/>
          </a:stretch>
        </p:blipFill>
        <p:spPr>
          <a:xfrm>
            <a:off x="508406" y="6336792"/>
            <a:ext cx="621792" cy="219456"/>
          </a:xfrm>
          <a:prstGeom prst="rect">
            <a:avLst/>
          </a:prstGeom>
        </p:spPr>
      </p:pic>
      <p:sp>
        <p:nvSpPr>
          <p:cNvPr id="13" name="Text 6"/>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Snyk in the CLI</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30328"/>
        </a:solidFill>
      </p:bgPr>
    </p:bg>
    <p:spTree>
      <p:nvGrpSpPr>
        <p:cNvPr id="1" name=""/>
        <p:cNvGrpSpPr/>
        <p:nvPr/>
      </p:nvGrpSpPr>
      <p:grpSpPr>
        <a:xfrm>
          <a:off x="0" y="0"/>
          <a:ext cx="0" cy="0"/>
          <a:chOff x="0" y="0"/>
          <a:chExt cx="0" cy="0"/>
        </a:xfrm>
      </p:grpSpPr>
      <p:sp>
        <p:nvSpPr>
          <p:cNvPr id="2" name="Shape 0"/>
          <p:cNvSpPr/>
          <p:nvPr/>
        </p:nvSpPr>
        <p:spPr>
          <a:xfrm>
            <a:off x="0" y="5989320"/>
            <a:ext cx="12191695" cy="868680"/>
          </a:xfrm>
          <a:prstGeom prst="rect">
            <a:avLst/>
          </a:prstGeom>
          <a:solidFill>
            <a:srgbClr val="030328"/>
          </a:solidFill>
          <a:ln/>
        </p:spPr>
      </p:sp>
      <p:sp>
        <p:nvSpPr>
          <p:cNvPr id="3"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CLI BASICS</a:t>
            </a:r>
            <a:endParaRPr lang="en-US" sz="1050" dirty="0"/>
          </a:p>
        </p:txBody>
      </p:sp>
      <p:pic>
        <p:nvPicPr>
          <p:cNvPr id="4" name="Image 0" descr="assets/logo-snyk-white.png">    </p:cNvPr>
          <p:cNvPicPr>
            <a:picLocks noChangeAspect="1"/>
          </p:cNvPicPr>
          <p:nvPr/>
        </p:nvPicPr>
        <p:blipFill>
          <a:blip r:embed="rId1"/>
          <a:stretch>
            <a:fillRect/>
          </a:stretch>
        </p:blipFill>
        <p:spPr>
          <a:xfrm>
            <a:off x="10796321" y="435254"/>
            <a:ext cx="886968" cy="310896"/>
          </a:xfrm>
          <a:prstGeom prst="rect">
            <a:avLst/>
          </a:prstGeom>
        </p:spPr>
      </p:pic>
      <p:sp>
        <p:nvSpPr>
          <p:cNvPr id="5"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Install, auth, and the daily commands</a:t>
            </a:r>
            <a:endParaRPr lang="en-US" sz="3000" dirty="0"/>
          </a:p>
        </p:txBody>
      </p:sp>
      <p:sp>
        <p:nvSpPr>
          <p:cNvPr id="6" name="Text 3"/>
          <p:cNvSpPr/>
          <p:nvPr/>
        </p:nvSpPr>
        <p:spPr>
          <a:xfrm>
            <a:off x="508406" y="1773936"/>
            <a:ext cx="10607040" cy="402336"/>
          </a:xfrm>
          <a:prstGeom prst="rect">
            <a:avLst/>
          </a:prstGeom>
          <a:noFill/>
          <a:ln/>
        </p:spPr>
        <p:txBody>
          <a:bodyPr wrap="square" lIns="0" tIns="0" rIns="0" bIns="0" rtlCol="0" anchor="ctr"/>
          <a:lstStyle/>
          <a:p>
            <a:pPr indent="0" marL="0">
              <a:lnSpc>
                <a:spcPts val="1900"/>
              </a:lnSpc>
              <a:buNone/>
            </a:pPr>
            <a:r>
              <a:rPr lang="en-US" sz="1250" dirty="0">
                <a:solidFill>
                  <a:srgbClr val="8A8AA3"/>
                </a:solidFill>
                <a:latin typeface="Geist" pitchFamily="34" charset="0"/>
                <a:ea typeface="Geist" pitchFamily="34" charset="-122"/>
                <a:cs typeface="Geist" pitchFamily="34" charset="-120"/>
              </a:rPr>
              <a:t>snyk test is the gate. snyk monitor is the record. They do different jobs — run monitor after a successful test.</a:t>
            </a:r>
            <a:endParaRPr lang="en-US" sz="1250" dirty="0"/>
          </a:p>
        </p:txBody>
      </p:sp>
      <p:sp>
        <p:nvSpPr>
          <p:cNvPr id="7" name="Shape 4"/>
          <p:cNvSpPr/>
          <p:nvPr/>
        </p:nvSpPr>
        <p:spPr>
          <a:xfrm>
            <a:off x="508406" y="2286000"/>
            <a:ext cx="5459425" cy="3657600"/>
          </a:xfrm>
          <a:prstGeom prst="roundRect">
            <a:avLst>
              <a:gd name="adj" fmla="val 1750"/>
            </a:avLst>
          </a:prstGeom>
          <a:solidFill>
            <a:srgbClr val="0B0B2E"/>
          </a:solidFill>
          <a:ln w="9525">
            <a:solidFill>
              <a:srgbClr val="FFFFFF">
                <a:alpha val="12000"/>
              </a:srgbClr>
            </a:solidFill>
            <a:prstDash val="solid"/>
          </a:ln>
        </p:spPr>
      </p:sp>
      <p:pic>
        <p:nvPicPr>
          <p:cNvPr id="8" name="Image 1" descr="assets/grad_bar_h.png">    </p:cNvPr>
          <p:cNvPicPr>
            <a:picLocks noChangeAspect="1"/>
          </p:cNvPicPr>
          <p:nvPr/>
        </p:nvPicPr>
        <p:blipFill>
          <a:blip r:embed="rId2"/>
          <a:stretch>
            <a:fillRect/>
          </a:stretch>
        </p:blipFill>
        <p:spPr>
          <a:xfrm>
            <a:off x="691286" y="2487168"/>
            <a:ext cx="777240" cy="32004"/>
          </a:xfrm>
          <a:prstGeom prst="rect">
            <a:avLst/>
          </a:prstGeom>
        </p:spPr>
      </p:pic>
      <p:sp>
        <p:nvSpPr>
          <p:cNvPr id="9" name="Text 5"/>
          <p:cNvSpPr/>
          <p:nvPr/>
        </p:nvSpPr>
        <p:spPr>
          <a:xfrm>
            <a:off x="691286" y="2596896"/>
            <a:ext cx="5093665" cy="237744"/>
          </a:xfrm>
          <a:prstGeom prst="rect">
            <a:avLst/>
          </a:prstGeom>
          <a:noFill/>
          <a:ln/>
        </p:spPr>
        <p:txBody>
          <a:bodyPr wrap="square" lIns="0" tIns="0" rIns="0" bIns="0" rtlCol="0" anchor="ctr"/>
          <a:lstStyle/>
          <a:p>
            <a:pPr indent="0" marL="0">
              <a:buNone/>
            </a:pPr>
            <a:r>
              <a:rPr lang="en-US" sz="850" b="1" spc="180" kern="0" dirty="0">
                <a:solidFill>
                  <a:srgbClr val="8A8AA3"/>
                </a:solidFill>
                <a:latin typeface="Geist Mono" pitchFamily="34" charset="0"/>
                <a:ea typeface="Geist Mono" pitchFamily="34" charset="-122"/>
                <a:cs typeface="Geist Mono" pitchFamily="34" charset="-120"/>
              </a:rPr>
              <a:t>SET UP</a:t>
            </a:r>
            <a:endParaRPr lang="en-US" sz="850" dirty="0"/>
          </a:p>
        </p:txBody>
      </p:sp>
      <p:sp>
        <p:nvSpPr>
          <p:cNvPr id="10" name="Text 6"/>
          <p:cNvSpPr/>
          <p:nvPr/>
        </p:nvSpPr>
        <p:spPr>
          <a:xfrm>
            <a:off x="691286" y="2889504"/>
            <a:ext cx="5111953" cy="2871216"/>
          </a:xfrm>
          <a:prstGeom prst="rect">
            <a:avLst/>
          </a:prstGeom>
          <a:noFill/>
          <a:ln/>
        </p:spPr>
        <p:txBody>
          <a:bodyPr wrap="square" lIns="0" tIns="0" rIns="0" bIns="0" rtlCol="0" anchor="t"/>
          <a:lstStyle/>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npm install -g snyk@latest   # or: brew install snyk</a:t>
            </a: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snyk auth                    # browser + SSO</a:t>
            </a: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snyk --version               # need v1.1297.1+</a:t>
            </a:r>
            <a:endParaRPr lang="en-US" sz="950" dirty="0"/>
          </a:p>
          <a:p>
            <a:pPr indent="0" marL="0">
              <a:lnSpc>
                <a:spcPts val="1473"/>
              </a:lnSpc>
              <a:buNone/>
            </a:pP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 non-default region:</a:t>
            </a: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snyk config set endpoint=https://api.eu.snyk.io</a:t>
            </a:r>
            <a:endParaRPr lang="en-US" sz="950" dirty="0"/>
          </a:p>
          <a:p>
            <a:pPr indent="0" marL="0">
              <a:lnSpc>
                <a:spcPts val="1473"/>
              </a:lnSpc>
              <a:buNone/>
            </a:pP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 anything odd?</a:t>
            </a: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snyk doctor                  # v1.1306.0+</a:t>
            </a:r>
            <a:endParaRPr lang="en-US" sz="950" dirty="0"/>
          </a:p>
        </p:txBody>
      </p:sp>
      <p:sp>
        <p:nvSpPr>
          <p:cNvPr id="11" name="Shape 7"/>
          <p:cNvSpPr/>
          <p:nvPr/>
        </p:nvSpPr>
        <p:spPr>
          <a:xfrm>
            <a:off x="6223864" y="2286000"/>
            <a:ext cx="5459425" cy="3657600"/>
          </a:xfrm>
          <a:prstGeom prst="roundRect">
            <a:avLst>
              <a:gd name="adj" fmla="val 1750"/>
            </a:avLst>
          </a:prstGeom>
          <a:solidFill>
            <a:srgbClr val="0B0B2E"/>
          </a:solidFill>
          <a:ln w="9525">
            <a:solidFill>
              <a:srgbClr val="FFFFFF">
                <a:alpha val="12000"/>
              </a:srgbClr>
            </a:solidFill>
            <a:prstDash val="solid"/>
          </a:ln>
        </p:spPr>
      </p:sp>
      <p:pic>
        <p:nvPicPr>
          <p:cNvPr id="12" name="Image 2" descr="assets/grad_bar_h.png">    </p:cNvPr>
          <p:cNvPicPr>
            <a:picLocks noChangeAspect="1"/>
          </p:cNvPicPr>
          <p:nvPr/>
        </p:nvPicPr>
        <p:blipFill>
          <a:blip r:embed="rId3"/>
          <a:stretch>
            <a:fillRect/>
          </a:stretch>
        </p:blipFill>
        <p:spPr>
          <a:xfrm>
            <a:off x="6406744" y="2487168"/>
            <a:ext cx="777240" cy="32004"/>
          </a:xfrm>
          <a:prstGeom prst="rect">
            <a:avLst/>
          </a:prstGeom>
        </p:spPr>
      </p:pic>
      <p:sp>
        <p:nvSpPr>
          <p:cNvPr id="13" name="Text 8"/>
          <p:cNvSpPr/>
          <p:nvPr/>
        </p:nvSpPr>
        <p:spPr>
          <a:xfrm>
            <a:off x="6406744" y="2596896"/>
            <a:ext cx="5093665" cy="237744"/>
          </a:xfrm>
          <a:prstGeom prst="rect">
            <a:avLst/>
          </a:prstGeom>
          <a:noFill/>
          <a:ln/>
        </p:spPr>
        <p:txBody>
          <a:bodyPr wrap="square" lIns="0" tIns="0" rIns="0" bIns="0" rtlCol="0" anchor="ctr"/>
          <a:lstStyle/>
          <a:p>
            <a:pPr indent="0" marL="0">
              <a:buNone/>
            </a:pPr>
            <a:r>
              <a:rPr lang="en-US" sz="850" b="1" spc="180" kern="0" dirty="0">
                <a:solidFill>
                  <a:srgbClr val="8A8AA3"/>
                </a:solidFill>
                <a:latin typeface="Geist Mono" pitchFamily="34" charset="0"/>
                <a:ea typeface="Geist Mono" pitchFamily="34" charset="-122"/>
                <a:cs typeface="Geist Mono" pitchFamily="34" charset="-120"/>
              </a:rPr>
              <a:t>SCAN</a:t>
            </a:r>
            <a:endParaRPr lang="en-US" sz="850" dirty="0"/>
          </a:p>
        </p:txBody>
      </p:sp>
      <p:sp>
        <p:nvSpPr>
          <p:cNvPr id="14" name="Text 9"/>
          <p:cNvSpPr/>
          <p:nvPr/>
        </p:nvSpPr>
        <p:spPr>
          <a:xfrm>
            <a:off x="6406744" y="2889504"/>
            <a:ext cx="5111953" cy="2871216"/>
          </a:xfrm>
          <a:prstGeom prst="rect">
            <a:avLst/>
          </a:prstGeom>
          <a:noFill/>
          <a:ln/>
        </p:spPr>
        <p:txBody>
          <a:bodyPr wrap="square" lIns="0" tIns="0" rIns="0" bIns="0" rtlCol="0" anchor="t"/>
          <a:lstStyle/>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snyk test --all-projects        # SCA, every manifest</a:t>
            </a: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snyk code test                  # SAST</a:t>
            </a: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snyk iac test terraform/        # IaC</a:t>
            </a: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snyk secrets test               # Secrets (GA)</a:t>
            </a: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snyk container test node:20.19.2-bookworm-slim \</a:t>
            </a: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  --file=infrastructure/Dockerfile</a:t>
            </a:r>
            <a:endParaRPr lang="en-US" sz="950" dirty="0"/>
          </a:p>
          <a:p>
            <a:pPr indent="0" marL="0">
              <a:lnSpc>
                <a:spcPts val="1473"/>
              </a:lnSpc>
              <a:buNone/>
            </a:pP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snyk monitor --all-projects     # publish a snapshot</a:t>
            </a:r>
            <a:endParaRPr lang="en-US" sz="950" dirty="0"/>
          </a:p>
        </p:txBody>
      </p:sp>
      <p:sp>
        <p:nvSpPr>
          <p:cNvPr id="15" name="Shape 10"/>
          <p:cNvSpPr/>
          <p:nvPr/>
        </p:nvSpPr>
        <p:spPr>
          <a:xfrm>
            <a:off x="508406" y="6245352"/>
            <a:ext cx="11174882" cy="10973"/>
          </a:xfrm>
          <a:prstGeom prst="rect">
            <a:avLst/>
          </a:prstGeom>
          <a:solidFill>
            <a:srgbClr val="FFFFFF">
              <a:alpha val="12000"/>
            </a:srgbClr>
          </a:solidFill>
          <a:ln/>
        </p:spPr>
      </p:sp>
      <p:pic>
        <p:nvPicPr>
          <p:cNvPr id="16" name="Image 3" descr="assets/logo-snyk-white.png">    </p:cNvPr>
          <p:cNvPicPr>
            <a:picLocks noChangeAspect="1"/>
          </p:cNvPicPr>
          <p:nvPr/>
        </p:nvPicPr>
        <p:blipFill>
          <a:blip r:embed="rId4"/>
          <a:stretch>
            <a:fillRect/>
          </a:stretch>
        </p:blipFill>
        <p:spPr>
          <a:xfrm>
            <a:off x="508406" y="6336792"/>
            <a:ext cx="621792" cy="219456"/>
          </a:xfrm>
          <a:prstGeom prst="rect">
            <a:avLst/>
          </a:prstGeom>
        </p:spPr>
      </p:pic>
      <p:sp>
        <p:nvSpPr>
          <p:cNvPr id="17" name="Text 11"/>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Snyk in the CLI</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30328"/>
        </a:solidFill>
      </p:bgPr>
    </p:bg>
    <p:spTree>
      <p:nvGrpSpPr>
        <p:cNvPr id="1" name=""/>
        <p:cNvGrpSpPr/>
        <p:nvPr/>
      </p:nvGrpSpPr>
      <p:grpSpPr>
        <a:xfrm>
          <a:off x="0" y="0"/>
          <a:ext cx="0" cy="0"/>
          <a:chOff x="0" y="0"/>
          <a:chExt cx="0" cy="0"/>
        </a:xfrm>
      </p:grpSpPr>
      <p:sp>
        <p:nvSpPr>
          <p:cNvPr id="2" name="Shape 0"/>
          <p:cNvSpPr/>
          <p:nvPr/>
        </p:nvSpPr>
        <p:spPr>
          <a:xfrm>
            <a:off x="0" y="5989320"/>
            <a:ext cx="12191695" cy="868680"/>
          </a:xfrm>
          <a:prstGeom prst="rect">
            <a:avLst/>
          </a:prstGeom>
          <a:solidFill>
            <a:srgbClr val="030328"/>
          </a:solidFill>
          <a:ln/>
        </p:spPr>
      </p:sp>
      <p:sp>
        <p:nvSpPr>
          <p:cNvPr id="3"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BUILD THE APP</a:t>
            </a:r>
            <a:endParaRPr lang="en-US" sz="1050" dirty="0"/>
          </a:p>
        </p:txBody>
      </p:sp>
      <p:pic>
        <p:nvPicPr>
          <p:cNvPr id="4" name="Image 0" descr="assets/logo-snyk-white.png">    </p:cNvPr>
          <p:cNvPicPr>
            <a:picLocks noChangeAspect="1"/>
          </p:cNvPicPr>
          <p:nvPr/>
        </p:nvPicPr>
        <p:blipFill>
          <a:blip r:embed="rId1"/>
          <a:stretch>
            <a:fillRect/>
          </a:stretch>
        </p:blipFill>
        <p:spPr>
          <a:xfrm>
            <a:off x="10796321" y="435254"/>
            <a:ext cx="886968" cy="310896"/>
          </a:xfrm>
          <a:prstGeom prst="rect">
            <a:avLst/>
          </a:prstGeom>
        </p:spPr>
      </p:pic>
      <p:sp>
        <p:nvSpPr>
          <p:cNvPr id="5"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A green build is what proves your fix</a:t>
            </a:r>
            <a:endParaRPr lang="en-US" sz="3000" dirty="0"/>
          </a:p>
        </p:txBody>
      </p:sp>
      <p:sp>
        <p:nvSpPr>
          <p:cNvPr id="6" name="Text 3"/>
          <p:cNvSpPr/>
          <p:nvPr/>
        </p:nvSpPr>
        <p:spPr>
          <a:xfrm>
            <a:off x="508406" y="1773936"/>
            <a:ext cx="10607040" cy="402336"/>
          </a:xfrm>
          <a:prstGeom prst="rect">
            <a:avLst/>
          </a:prstGeom>
          <a:noFill/>
          <a:ln/>
        </p:spPr>
        <p:txBody>
          <a:bodyPr wrap="square" lIns="0" tIns="0" rIns="0" bIns="0" rtlCol="0" anchor="ctr"/>
          <a:lstStyle/>
          <a:p>
            <a:pPr indent="0" marL="0">
              <a:lnSpc>
                <a:spcPts val="1900"/>
              </a:lnSpc>
              <a:buNone/>
            </a:pPr>
            <a:r>
              <a:rPr lang="en-US" sz="1250" dirty="0">
                <a:solidFill>
                  <a:srgbClr val="8A8AA3"/>
                </a:solidFill>
                <a:latin typeface="Geist" pitchFamily="34" charset="0"/>
                <a:ea typeface="Geist" pitchFamily="34" charset="-122"/>
                <a:cs typeface="Geist" pitchFamily="34" charset="-120"/>
              </a:rPr>
              <a:t>npm install is slow here — postinstall installs AND builds the whole Angular frontend. Budget 5 to 10 minutes cold.</a:t>
            </a:r>
            <a:endParaRPr lang="en-US" sz="1250" dirty="0"/>
          </a:p>
        </p:txBody>
      </p:sp>
      <p:sp>
        <p:nvSpPr>
          <p:cNvPr id="7" name="Shape 4"/>
          <p:cNvSpPr/>
          <p:nvPr/>
        </p:nvSpPr>
        <p:spPr>
          <a:xfrm>
            <a:off x="508406" y="2286000"/>
            <a:ext cx="5459425" cy="3657600"/>
          </a:xfrm>
          <a:prstGeom prst="roundRect">
            <a:avLst>
              <a:gd name="adj" fmla="val 1750"/>
            </a:avLst>
          </a:prstGeom>
          <a:solidFill>
            <a:srgbClr val="0B0B2E"/>
          </a:solidFill>
          <a:ln w="9525">
            <a:solidFill>
              <a:srgbClr val="FFFFFF">
                <a:alpha val="12000"/>
              </a:srgbClr>
            </a:solidFill>
            <a:prstDash val="solid"/>
          </a:ln>
        </p:spPr>
      </p:sp>
      <p:pic>
        <p:nvPicPr>
          <p:cNvPr id="8" name="Image 1" descr="assets/grad_bar_h.png">    </p:cNvPr>
          <p:cNvPicPr>
            <a:picLocks noChangeAspect="1"/>
          </p:cNvPicPr>
          <p:nvPr/>
        </p:nvPicPr>
        <p:blipFill>
          <a:blip r:embed="rId2"/>
          <a:stretch>
            <a:fillRect/>
          </a:stretch>
        </p:blipFill>
        <p:spPr>
          <a:xfrm>
            <a:off x="691286" y="2487168"/>
            <a:ext cx="777240" cy="32004"/>
          </a:xfrm>
          <a:prstGeom prst="rect">
            <a:avLst/>
          </a:prstGeom>
        </p:spPr>
      </p:pic>
      <p:sp>
        <p:nvSpPr>
          <p:cNvPr id="9" name="Text 5"/>
          <p:cNvSpPr/>
          <p:nvPr/>
        </p:nvSpPr>
        <p:spPr>
          <a:xfrm>
            <a:off x="691286" y="2596896"/>
            <a:ext cx="5093665" cy="237744"/>
          </a:xfrm>
          <a:prstGeom prst="rect">
            <a:avLst/>
          </a:prstGeom>
          <a:noFill/>
          <a:ln/>
        </p:spPr>
        <p:txBody>
          <a:bodyPr wrap="square" lIns="0" tIns="0" rIns="0" bIns="0" rtlCol="0" anchor="ctr"/>
          <a:lstStyle/>
          <a:p>
            <a:pPr indent="0" marL="0">
              <a:buNone/>
            </a:pPr>
            <a:r>
              <a:rPr lang="en-US" sz="850" b="1" spc="180" kern="0" dirty="0">
                <a:solidFill>
                  <a:srgbClr val="8A8AA3"/>
                </a:solidFill>
                <a:latin typeface="Geist Mono" pitchFamily="34" charset="0"/>
                <a:ea typeface="Geist Mono" pitchFamily="34" charset="-122"/>
                <a:cs typeface="Geist Mono" pitchFamily="34" charset="-120"/>
              </a:rPr>
              <a:t>INSTALL AND RUN</a:t>
            </a:r>
            <a:endParaRPr lang="en-US" sz="850" dirty="0"/>
          </a:p>
        </p:txBody>
      </p:sp>
      <p:sp>
        <p:nvSpPr>
          <p:cNvPr id="10" name="Text 6"/>
          <p:cNvSpPr/>
          <p:nvPr/>
        </p:nvSpPr>
        <p:spPr>
          <a:xfrm>
            <a:off x="691286" y="2889504"/>
            <a:ext cx="5111953" cy="2871216"/>
          </a:xfrm>
          <a:prstGeom prst="rect">
            <a:avLst/>
          </a:prstGeom>
          <a:noFill/>
          <a:ln/>
        </p:spPr>
        <p:txBody>
          <a:bodyPr wrap="square" lIns="0" tIns="0" rIns="0" bIns="0" rtlCol="0" anchor="t"/>
          <a:lstStyle/>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 from the repository root</a:t>
            </a: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npm install       # postinstall builds the frontend</a:t>
            </a: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npm start         # → http://localhost:3000</a:t>
            </a:r>
            <a:endParaRPr lang="en-US" sz="950" dirty="0"/>
          </a:p>
          <a:p>
            <a:pPr indent="0" marL="0">
              <a:lnSpc>
                <a:spcPts val="1473"/>
              </a:lnSpc>
              <a:buNone/>
            </a:pP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npm run serve:dev # watch mode, both halves</a:t>
            </a:r>
            <a:endParaRPr lang="en-US" sz="950" dirty="0"/>
          </a:p>
        </p:txBody>
      </p:sp>
      <p:sp>
        <p:nvSpPr>
          <p:cNvPr id="11" name="Shape 7"/>
          <p:cNvSpPr/>
          <p:nvPr/>
        </p:nvSpPr>
        <p:spPr>
          <a:xfrm>
            <a:off x="6223864" y="2286000"/>
            <a:ext cx="5459425" cy="3657600"/>
          </a:xfrm>
          <a:prstGeom prst="roundRect">
            <a:avLst>
              <a:gd name="adj" fmla="val 1750"/>
            </a:avLst>
          </a:prstGeom>
          <a:solidFill>
            <a:srgbClr val="0B0B2E"/>
          </a:solidFill>
          <a:ln w="9525">
            <a:solidFill>
              <a:srgbClr val="FFFFFF">
                <a:alpha val="12000"/>
              </a:srgbClr>
            </a:solidFill>
            <a:prstDash val="solid"/>
          </a:ln>
        </p:spPr>
      </p:sp>
      <p:pic>
        <p:nvPicPr>
          <p:cNvPr id="12" name="Image 2" descr="assets/grad_bar_h.png">    </p:cNvPr>
          <p:cNvPicPr>
            <a:picLocks noChangeAspect="1"/>
          </p:cNvPicPr>
          <p:nvPr/>
        </p:nvPicPr>
        <p:blipFill>
          <a:blip r:embed="rId3"/>
          <a:stretch>
            <a:fillRect/>
          </a:stretch>
        </p:blipFill>
        <p:spPr>
          <a:xfrm>
            <a:off x="6406744" y="2487168"/>
            <a:ext cx="777240" cy="32004"/>
          </a:xfrm>
          <a:prstGeom prst="rect">
            <a:avLst/>
          </a:prstGeom>
        </p:spPr>
      </p:pic>
      <p:sp>
        <p:nvSpPr>
          <p:cNvPr id="13" name="Text 8"/>
          <p:cNvSpPr/>
          <p:nvPr/>
        </p:nvSpPr>
        <p:spPr>
          <a:xfrm>
            <a:off x="6406744" y="2596896"/>
            <a:ext cx="5093665" cy="237744"/>
          </a:xfrm>
          <a:prstGeom prst="rect">
            <a:avLst/>
          </a:prstGeom>
          <a:noFill/>
          <a:ln/>
        </p:spPr>
        <p:txBody>
          <a:bodyPr wrap="square" lIns="0" tIns="0" rIns="0" bIns="0" rtlCol="0" anchor="ctr"/>
          <a:lstStyle/>
          <a:p>
            <a:pPr indent="0" marL="0">
              <a:buNone/>
            </a:pPr>
            <a:r>
              <a:rPr lang="en-US" sz="850" b="1" spc="180" kern="0" dirty="0">
                <a:solidFill>
                  <a:srgbClr val="8A8AA3"/>
                </a:solidFill>
                <a:latin typeface="Geist Mono" pitchFamily="34" charset="0"/>
                <a:ea typeface="Geist Mono" pitchFamily="34" charset="-122"/>
                <a:cs typeface="Geist Mono" pitchFamily="34" charset="-120"/>
              </a:rPr>
              <a:t>TEST AND INSPECT</a:t>
            </a:r>
            <a:endParaRPr lang="en-US" sz="850" dirty="0"/>
          </a:p>
        </p:txBody>
      </p:sp>
      <p:sp>
        <p:nvSpPr>
          <p:cNvPr id="14" name="Text 9"/>
          <p:cNvSpPr/>
          <p:nvPr/>
        </p:nvSpPr>
        <p:spPr>
          <a:xfrm>
            <a:off x="6406744" y="2889504"/>
            <a:ext cx="5111953" cy="2871216"/>
          </a:xfrm>
          <a:prstGeom prst="rect">
            <a:avLst/>
          </a:prstGeom>
          <a:noFill/>
          <a:ln/>
        </p:spPr>
        <p:txBody>
          <a:bodyPr wrap="square" lIns="0" tIns="0" rIns="0" bIns="0" rtlCol="0" anchor="t"/>
          <a:lstStyle/>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npm run test:server    # server unit tests</a:t>
            </a: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npm run test:api       # API integration (Supertest)</a:t>
            </a: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npm run test:frontend  # Angular (Vitest)</a:t>
            </a: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npm run lint</a:t>
            </a: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npm run rsn            # Refactoring Safety Net</a:t>
            </a:r>
            <a:endParaRPr lang="en-US" sz="950" dirty="0"/>
          </a:p>
          <a:p>
            <a:pPr indent="0" marL="0">
              <a:lnSpc>
                <a:spcPts val="1473"/>
              </a:lnSpc>
              <a:buNone/>
            </a:pPr>
            <a:r>
              <a:rPr lang="en-US" sz="950" dirty="0">
                <a:solidFill>
                  <a:srgbClr val="D8D8EA"/>
                </a:solidFill>
                <a:latin typeface="Geist Mono" pitchFamily="34" charset="0"/>
                <a:ea typeface="Geist Mono" pitchFamily="34" charset="-122"/>
                <a:cs typeface="Geist Mono" pitchFamily="34" charset="-120"/>
              </a:rPr>
              <a:t>npm run sbom           # CycloneDX → bom.json</a:t>
            </a:r>
            <a:endParaRPr lang="en-US" sz="950" dirty="0"/>
          </a:p>
        </p:txBody>
      </p:sp>
      <p:sp>
        <p:nvSpPr>
          <p:cNvPr id="15" name="Shape 10"/>
          <p:cNvSpPr/>
          <p:nvPr/>
        </p:nvSpPr>
        <p:spPr>
          <a:xfrm>
            <a:off x="508406" y="6245352"/>
            <a:ext cx="11174882" cy="10973"/>
          </a:xfrm>
          <a:prstGeom prst="rect">
            <a:avLst/>
          </a:prstGeom>
          <a:solidFill>
            <a:srgbClr val="FFFFFF">
              <a:alpha val="12000"/>
            </a:srgbClr>
          </a:solidFill>
          <a:ln/>
        </p:spPr>
      </p:sp>
      <p:pic>
        <p:nvPicPr>
          <p:cNvPr id="16" name="Image 3" descr="assets/logo-snyk-white.png">    </p:cNvPr>
          <p:cNvPicPr>
            <a:picLocks noChangeAspect="1"/>
          </p:cNvPicPr>
          <p:nvPr/>
        </p:nvPicPr>
        <p:blipFill>
          <a:blip r:embed="rId4"/>
          <a:stretch>
            <a:fillRect/>
          </a:stretch>
        </p:blipFill>
        <p:spPr>
          <a:xfrm>
            <a:off x="508406" y="6336792"/>
            <a:ext cx="621792" cy="219456"/>
          </a:xfrm>
          <a:prstGeom prst="rect">
            <a:avLst/>
          </a:prstGeom>
        </p:spPr>
      </p:pic>
      <p:sp>
        <p:nvSpPr>
          <p:cNvPr id="17" name="Text 11"/>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Snyk in the CLI</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30328"/>
        </a:solidFill>
      </p:bgPr>
    </p:bg>
    <p:spTree>
      <p:nvGrpSpPr>
        <p:cNvPr id="1" name=""/>
        <p:cNvGrpSpPr/>
        <p:nvPr/>
      </p:nvGrpSpPr>
      <p:grpSpPr>
        <a:xfrm>
          <a:off x="0" y="0"/>
          <a:ext cx="0" cy="0"/>
          <a:chOff x="0" y="0"/>
          <a:chExt cx="0" cy="0"/>
        </a:xfrm>
      </p:grpSpPr>
      <p:sp>
        <p:nvSpPr>
          <p:cNvPr id="2" name="Shape 0"/>
          <p:cNvSpPr/>
          <p:nvPr/>
        </p:nvSpPr>
        <p:spPr>
          <a:xfrm>
            <a:off x="0" y="5989320"/>
            <a:ext cx="12191695" cy="868680"/>
          </a:xfrm>
          <a:prstGeom prst="rect">
            <a:avLst/>
          </a:prstGeom>
          <a:solidFill>
            <a:srgbClr val="030328"/>
          </a:solidFill>
          <a:ln/>
        </p:spPr>
      </p:sp>
      <p:sp>
        <p:nvSpPr>
          <p:cNvPr id="3"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USEFUL FLAGS</a:t>
            </a:r>
            <a:endParaRPr lang="en-US" sz="1050" dirty="0"/>
          </a:p>
        </p:txBody>
      </p:sp>
      <p:pic>
        <p:nvPicPr>
          <p:cNvPr id="4" name="Image 0" descr="assets/logo-snyk-white.png">    </p:cNvPr>
          <p:cNvPicPr>
            <a:picLocks noChangeAspect="1"/>
          </p:cNvPicPr>
          <p:nvPr/>
        </p:nvPicPr>
        <p:blipFill>
          <a:blip r:embed="rId1"/>
          <a:stretch>
            <a:fillRect/>
          </a:stretch>
        </p:blipFill>
        <p:spPr>
          <a:xfrm>
            <a:off x="10796321" y="435254"/>
            <a:ext cx="886968" cy="310896"/>
          </a:xfrm>
          <a:prstGeom prst="rect">
            <a:avLst/>
          </a:prstGeom>
        </p:spPr>
      </p:pic>
      <p:sp>
        <p:nvSpPr>
          <p:cNvPr id="5"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Worth memorising — with the scope caveats</a:t>
            </a:r>
            <a:endParaRPr lang="en-US" sz="3000" dirty="0"/>
          </a:p>
        </p:txBody>
      </p:sp>
      <p:sp>
        <p:nvSpPr>
          <p:cNvPr id="6" name="Text 3"/>
          <p:cNvSpPr/>
          <p:nvPr/>
        </p:nvSpPr>
        <p:spPr>
          <a:xfrm>
            <a:off x="508406" y="1755648"/>
            <a:ext cx="10424160" cy="384048"/>
          </a:xfrm>
          <a:prstGeom prst="rect">
            <a:avLst/>
          </a:prstGeom>
          <a:noFill/>
          <a:ln/>
        </p:spPr>
        <p:txBody>
          <a:bodyPr wrap="square" lIns="0" tIns="0" rIns="0" bIns="0" rtlCol="0" anchor="ctr"/>
          <a:lstStyle/>
          <a:p>
            <a:pPr indent="0" marL="0">
              <a:lnSpc>
                <a:spcPts val="1900"/>
              </a:lnSpc>
              <a:buNone/>
            </a:pPr>
            <a:r>
              <a:rPr lang="en-US" sz="1250" dirty="0">
                <a:solidFill>
                  <a:srgbClr val="8A8AA3"/>
                </a:solidFill>
                <a:latin typeface="Geist" pitchFamily="34" charset="0"/>
                <a:ea typeface="Geist" pitchFamily="34" charset="-122"/>
                <a:cs typeface="Geist" pitchFamily="34" charset="-120"/>
              </a:rPr>
              <a:t>Three of these are scoped more narrowly than people assume. That is where the wasted afternoons come from.</a:t>
            </a:r>
            <a:endParaRPr lang="en-US" sz="12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08406" y="2231136"/>
          <a:ext cx="11174882" cy="914400"/>
        </p:xfrm>
        <a:graphic>
          <a:graphicData uri="http://schemas.openxmlformats.org/drawingml/2006/table">
            <a:tbl>
              <a:tblPr/>
              <a:tblGrid>
                <a:gridCol w="3383280"/>
                <a:gridCol w="3931920"/>
                <a:gridCol w="3858768"/>
              </a:tblGrid>
              <a:tr h="464058">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Flag</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What it does</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The caveat</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r>
              <a:tr h="464058">
                <a:tc>
                  <a:txBody>
                    <a:bodyPr/>
                    <a:lstStyle/>
                    <a:p>
                      <a:pPr indent="0" marL="0">
                        <a:buNone/>
                      </a:pPr>
                      <a:r>
                        <a:rPr lang="en-US" sz="1100" b="1" dirty="0">
                          <a:solidFill>
                            <a:srgbClr val="FFFFFF"/>
                          </a:solidFill>
                          <a:latin typeface="Geist" pitchFamily="34" charset="0"/>
                          <a:ea typeface="Geist" pitchFamily="34" charset="-122"/>
                          <a:cs typeface="Geist" pitchFamily="34" charset="-120"/>
                        </a:rPr>
                        <a:t>--all-projects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scan every manifest, recursively</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pair with --detection-depth / --exclude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464058">
                <a:tc>
                  <a:txBody>
                    <a:bodyPr/>
                    <a:lstStyle/>
                    <a:p>
                      <a:pPr indent="0" marL="0">
                        <a:buNone/>
                      </a:pPr>
                      <a:r>
                        <a:rPr lang="en-US" sz="1100" b="1" dirty="0">
                          <a:solidFill>
                            <a:srgbClr val="FFFFFF"/>
                          </a:solidFill>
                          <a:latin typeface="Geist" pitchFamily="34" charset="0"/>
                          <a:ea typeface="Geist" pitchFamily="34" charset="-122"/>
                          <a:cs typeface="Geist" pitchFamily="34" charset="-120"/>
                        </a:rPr>
                        <a:t>--severity-threshold=high</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non-zero exit only on high/critical</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test only, not monitor</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r h="464058">
                <a:tc>
                  <a:txBody>
                    <a:bodyPr/>
                    <a:lstStyle/>
                    <a:p>
                      <a:pPr indent="0" marL="0">
                        <a:buNone/>
                      </a:pPr>
                      <a:r>
                        <a:rPr lang="en-US" sz="1100" b="1" dirty="0">
                          <a:solidFill>
                            <a:srgbClr val="FFFFFF"/>
                          </a:solidFill>
                          <a:latin typeface="Geist" pitchFamily="34" charset="0"/>
                          <a:ea typeface="Geist" pitchFamily="34" charset="-122"/>
                          <a:cs typeface="Geist" pitchFamily="34" charset="-120"/>
                        </a:rPr>
                        <a:t>--show-vulnerable-paths=all</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every dependency path, not one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not supported with --json-file-output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464058">
                <a:tc>
                  <a:txBody>
                    <a:bodyPr/>
                    <a:lstStyle/>
                    <a:p>
                      <a:pPr indent="0" marL="0">
                        <a:buNone/>
                      </a:pPr>
                      <a:r>
                        <a:rPr lang="en-US" sz="1100" b="1" dirty="0">
                          <a:solidFill>
                            <a:srgbClr val="FFFFFF"/>
                          </a:solidFill>
                          <a:latin typeface="Geist" pitchFamily="34" charset="0"/>
                          <a:ea typeface="Geist" pitchFamily="34" charset="-122"/>
                          <a:cs typeface="Geist" pitchFamily="34" charset="-120"/>
                        </a:rPr>
                        <a:t>--sarif-file-output=x.sarif</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machine-readable output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returns NO results for Open Source tests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r h="464058">
                <a:tc>
                  <a:txBody>
                    <a:bodyPr/>
                    <a:lstStyle/>
                    <a:p>
                      <a:pPr indent="0" marL="0">
                        <a:buNone/>
                      </a:pPr>
                      <a:r>
                        <a:rPr lang="en-US" sz="1100" b="1" dirty="0">
                          <a:solidFill>
                            <a:srgbClr val="FFFFFF"/>
                          </a:solidFill>
                          <a:latin typeface="Geist" pitchFamily="34" charset="0"/>
                          <a:ea typeface="Geist" pitchFamily="34" charset="-122"/>
                          <a:cs typeface="Geist" pitchFamily="34" charset="-120"/>
                        </a:rPr>
                        <a:t>--include-ignores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show ignored findings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snyk code test / snyk secrets test ONLY</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464058">
                <a:tc>
                  <a:txBody>
                    <a:bodyPr/>
                    <a:lstStyle/>
                    <a:p>
                      <a:pPr indent="0" marL="0">
                        <a:buNone/>
                      </a:pPr>
                      <a:r>
                        <a:rPr lang="en-US" sz="1100" b="1" dirty="0">
                          <a:solidFill>
                            <a:srgbClr val="FFFFFF"/>
                          </a:solidFill>
                          <a:latin typeface="Geist" pitchFamily="34" charset="0"/>
                          <a:ea typeface="Geist" pitchFamily="34" charset="-122"/>
                          <a:cs typeface="Geist" pitchFamily="34" charset="-120"/>
                        </a:rPr>
                        <a:t>--ignore-policy</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scan as if .snyk did not exist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the way to verify an ignore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r h="464058">
                <a:tc>
                  <a:txBody>
                    <a:bodyPr/>
                    <a:lstStyle/>
                    <a:p>
                      <a:pPr indent="0" marL="0">
                        <a:buNone/>
                      </a:pPr>
                      <a:r>
                        <a:rPr lang="en-US" sz="1100" b="1" dirty="0">
                          <a:solidFill>
                            <a:srgbClr val="FFFFFF"/>
                          </a:solidFill>
                          <a:latin typeface="Geist" pitchFamily="34" charset="0"/>
                          <a:ea typeface="Geist" pitchFamily="34" charset="-122"/>
                          <a:cs typeface="Geist" pitchFamily="34" charset="-120"/>
                        </a:rPr>
                        <a:t>--reachability=true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is the path actually called?</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Snyk Preview — new schema can break JSON automation</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bl>
          </a:graphicData>
        </a:graphic>
      </p:graphicFrame>
      <p:sp>
        <p:nvSpPr>
          <p:cNvPr id="8" name="Shape 4"/>
          <p:cNvSpPr/>
          <p:nvPr/>
        </p:nvSpPr>
        <p:spPr>
          <a:xfrm>
            <a:off x="508406" y="6245352"/>
            <a:ext cx="11174882" cy="10973"/>
          </a:xfrm>
          <a:prstGeom prst="rect">
            <a:avLst/>
          </a:prstGeom>
          <a:solidFill>
            <a:srgbClr val="FFFFFF">
              <a:alpha val="12000"/>
            </a:srgbClr>
          </a:solidFill>
          <a:ln/>
        </p:spPr>
      </p:sp>
      <p:pic>
        <p:nvPicPr>
          <p:cNvPr id="9" name="Image 1" descr="assets/logo-snyk-white.png">    </p:cNvPr>
          <p:cNvPicPr>
            <a:picLocks noChangeAspect="1"/>
          </p:cNvPicPr>
          <p:nvPr/>
        </p:nvPicPr>
        <p:blipFill>
          <a:blip r:embed="rId2"/>
          <a:stretch>
            <a:fillRect/>
          </a:stretch>
        </p:blipFill>
        <p:spPr>
          <a:xfrm>
            <a:off x="508406" y="6336792"/>
            <a:ext cx="621792" cy="219456"/>
          </a:xfrm>
          <a:prstGeom prst="rect">
            <a:avLst/>
          </a:prstGeom>
        </p:spPr>
      </p:pic>
      <p:sp>
        <p:nvSpPr>
          <p:cNvPr id="10" name="Text 5"/>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Snyk in the CLI</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30328"/>
        </a:solidFill>
      </p:bgPr>
    </p:bg>
    <p:spTree>
      <p:nvGrpSpPr>
        <p:cNvPr id="1" name=""/>
        <p:cNvGrpSpPr/>
        <p:nvPr/>
      </p:nvGrpSpPr>
      <p:grpSpPr>
        <a:xfrm>
          <a:off x="0" y="0"/>
          <a:ext cx="0" cy="0"/>
          <a:chOff x="0" y="0"/>
          <a:chExt cx="0" cy="0"/>
        </a:xfrm>
      </p:grpSpPr>
      <p:pic>
        <p:nvPicPr>
          <p:cNvPr id="2" name="Image 0" descr="assets/ULC_Fabric_Gradient.png">    </p:cNvPr>
          <p:cNvPicPr>
            <a:picLocks noChangeAspect="1"/>
          </p:cNvPicPr>
          <p:nvPr/>
        </p:nvPicPr>
        <p:blipFill>
          <a:blip r:embed="rId1">
            <a:alphaModFix amt="68000"/>
          </a:blip>
          <a:stretch>
            <a:fillRect/>
          </a:stretch>
        </p:blipFill>
        <p:spPr>
          <a:xfrm>
            <a:off x="-320040" y="-320040"/>
            <a:ext cx="4114800" cy="4114800"/>
          </a:xfrm>
          <a:prstGeom prst="rect">
            <a:avLst/>
          </a:prstGeom>
        </p:spPr>
      </p:pic>
      <p:pic>
        <p:nvPicPr>
          <p:cNvPr id="3" name="Image 1" descr="assets/BRC_Fabric_Gradient.png">    </p:cNvPr>
          <p:cNvPicPr>
            <a:picLocks noChangeAspect="1"/>
          </p:cNvPicPr>
          <p:nvPr/>
        </p:nvPicPr>
        <p:blipFill>
          <a:blip r:embed="rId2">
            <a:alphaModFix amt="54000"/>
          </a:blip>
          <a:stretch>
            <a:fillRect/>
          </a:stretch>
        </p:blipFill>
        <p:spPr>
          <a:xfrm>
            <a:off x="8808415" y="2697480"/>
            <a:ext cx="3657600" cy="3657600"/>
          </a:xfrm>
          <a:prstGeom prst="rect">
            <a:avLst/>
          </a:prstGeom>
        </p:spPr>
      </p:pic>
      <p:sp>
        <p:nvSpPr>
          <p:cNvPr id="4" name="Shape 0"/>
          <p:cNvSpPr/>
          <p:nvPr/>
        </p:nvSpPr>
        <p:spPr>
          <a:xfrm>
            <a:off x="0" y="5989320"/>
            <a:ext cx="12191695" cy="868680"/>
          </a:xfrm>
          <a:prstGeom prst="rect">
            <a:avLst/>
          </a:prstGeom>
          <a:solidFill>
            <a:srgbClr val="030328"/>
          </a:solidFill>
          <a:ln/>
        </p:spPr>
      </p:sp>
      <p:sp>
        <p:nvSpPr>
          <p:cNvPr id="5"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BASELINE</a:t>
            </a:r>
            <a:endParaRPr lang="en-US" sz="1050" dirty="0"/>
          </a:p>
        </p:txBody>
      </p:sp>
      <p:pic>
        <p:nvPicPr>
          <p:cNvPr id="6" name="Image 2" descr="assets/logo-snyk-white.png">    </p:cNvPr>
          <p:cNvPicPr>
            <a:picLocks noChangeAspect="1"/>
          </p:cNvPicPr>
          <p:nvPr/>
        </p:nvPicPr>
        <p:blipFill>
          <a:blip r:embed="rId3"/>
          <a:stretch>
            <a:fillRect/>
          </a:stretch>
        </p:blipFill>
        <p:spPr>
          <a:xfrm>
            <a:off x="10796321" y="435254"/>
            <a:ext cx="886968" cy="310896"/>
          </a:xfrm>
          <a:prstGeom prst="rect">
            <a:avLst/>
          </a:prstGeom>
        </p:spPr>
      </p:pic>
      <p:sp>
        <p:nvSpPr>
          <p:cNvPr id="7"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What a clean run finds — approximately</a:t>
            </a:r>
            <a:endParaRPr lang="en-US" sz="3000" dirty="0"/>
          </a:p>
        </p:txBody>
      </p:sp>
      <p:sp>
        <p:nvSpPr>
          <p:cNvPr id="8" name="Text 3"/>
          <p:cNvSpPr/>
          <p:nvPr/>
        </p:nvSpPr>
        <p:spPr>
          <a:xfrm>
            <a:off x="508406" y="2286000"/>
            <a:ext cx="3542081" cy="914400"/>
          </a:xfrm>
          <a:prstGeom prst="rect">
            <a:avLst/>
          </a:prstGeom>
          <a:noFill/>
          <a:ln/>
        </p:spPr>
        <p:txBody>
          <a:bodyPr wrap="square" lIns="0" tIns="0" rIns="0" bIns="0" rtlCol="0" anchor="ctr"/>
          <a:lstStyle/>
          <a:p>
            <a:pPr indent="0" marL="0">
              <a:buNone/>
            </a:pPr>
            <a:r>
              <a:rPr lang="en-US" sz="4200" b="1" spc="-160" kern="0" dirty="0">
                <a:solidFill>
                  <a:srgbClr val="FFFFFF"/>
                </a:solidFill>
                <a:latin typeface="Geist" pitchFamily="34" charset="0"/>
                <a:ea typeface="Geist" pitchFamily="34" charset="-122"/>
                <a:cs typeface="Geist" pitchFamily="34" charset="-120"/>
              </a:rPr>
              <a:t>2</a:t>
            </a:r>
            <a:endParaRPr lang="en-US" sz="4200" dirty="0"/>
          </a:p>
        </p:txBody>
      </p:sp>
      <p:pic>
        <p:nvPicPr>
          <p:cNvPr id="9" name="Image 3" descr="assets/grad_bar_h.png">    </p:cNvPr>
          <p:cNvPicPr>
            <a:picLocks noChangeAspect="1"/>
          </p:cNvPicPr>
          <p:nvPr/>
        </p:nvPicPr>
        <p:blipFill>
          <a:blip r:embed="rId4"/>
          <a:stretch>
            <a:fillRect/>
          </a:stretch>
        </p:blipFill>
        <p:spPr>
          <a:xfrm>
            <a:off x="508406" y="3255264"/>
            <a:ext cx="1463040" cy="41148"/>
          </a:xfrm>
          <a:prstGeom prst="rect">
            <a:avLst/>
          </a:prstGeom>
        </p:spPr>
      </p:pic>
      <p:sp>
        <p:nvSpPr>
          <p:cNvPr id="10" name="Text 4"/>
          <p:cNvSpPr/>
          <p:nvPr/>
        </p:nvSpPr>
        <p:spPr>
          <a:xfrm>
            <a:off x="508406" y="3474720"/>
            <a:ext cx="3414065" cy="1737360"/>
          </a:xfrm>
          <a:prstGeom prst="rect">
            <a:avLst/>
          </a:prstGeom>
          <a:noFill/>
          <a:ln/>
        </p:spPr>
        <p:txBody>
          <a:bodyPr wrap="square" lIns="0" tIns="0" rIns="0" bIns="0" rtlCol="0" anchor="t"/>
          <a:lstStyle/>
          <a:p>
            <a:pPr indent="0" marL="0">
              <a:lnSpc>
                <a:spcPts val="1800"/>
              </a:lnSpc>
              <a:buNone/>
            </a:pPr>
            <a:r>
              <a:rPr lang="en-US" sz="1200" dirty="0">
                <a:solidFill>
                  <a:srgbClr val="B8B8CC"/>
                </a:solidFill>
                <a:latin typeface="Geist" pitchFamily="34" charset="0"/>
                <a:ea typeface="Geist" pitchFamily="34" charset="-122"/>
                <a:cs typeface="Geist" pitchFamily="34" charset="-120"/>
              </a:rPr>
              <a:t>manifests with deliberately stale dependencies — package.json and frontend/package.json. The worst offenders are exact pins: express-jwt 0.1.3, jsonwebtoken 0.4.0, sanitize-html 1.4.2. Most of the CVE count is transitive.</a:t>
            </a:r>
            <a:endParaRPr lang="en-US" sz="1200" dirty="0"/>
          </a:p>
        </p:txBody>
      </p:sp>
      <p:sp>
        <p:nvSpPr>
          <p:cNvPr id="11" name="Text 5"/>
          <p:cNvSpPr/>
          <p:nvPr/>
        </p:nvSpPr>
        <p:spPr>
          <a:xfrm>
            <a:off x="4324807" y="2286000"/>
            <a:ext cx="3542081" cy="914400"/>
          </a:xfrm>
          <a:prstGeom prst="rect">
            <a:avLst/>
          </a:prstGeom>
          <a:noFill/>
          <a:ln/>
        </p:spPr>
        <p:txBody>
          <a:bodyPr wrap="square" lIns="0" tIns="0" rIns="0" bIns="0" rtlCol="0" anchor="ctr"/>
          <a:lstStyle/>
          <a:p>
            <a:pPr indent="0" marL="0">
              <a:buNone/>
            </a:pPr>
            <a:r>
              <a:rPr lang="en-US" sz="4200" b="1" spc="-160" kern="0" dirty="0">
                <a:solidFill>
                  <a:srgbClr val="FFFFFF"/>
                </a:solidFill>
                <a:latin typeface="Geist" pitchFamily="34" charset="0"/>
                <a:ea typeface="Geist" pitchFamily="34" charset="-122"/>
                <a:cs typeface="Geist" pitchFamily="34" charset="-120"/>
              </a:rPr>
              <a:t>14+</a:t>
            </a:r>
            <a:endParaRPr lang="en-US" sz="4200" dirty="0"/>
          </a:p>
        </p:txBody>
      </p:sp>
      <p:pic>
        <p:nvPicPr>
          <p:cNvPr id="12" name="Image 4" descr="assets/grad_bar_h.png">    </p:cNvPr>
          <p:cNvPicPr>
            <a:picLocks noChangeAspect="1"/>
          </p:cNvPicPr>
          <p:nvPr/>
        </p:nvPicPr>
        <p:blipFill>
          <a:blip r:embed="rId5"/>
          <a:stretch>
            <a:fillRect/>
          </a:stretch>
        </p:blipFill>
        <p:spPr>
          <a:xfrm>
            <a:off x="4324807" y="3255264"/>
            <a:ext cx="1463040" cy="41148"/>
          </a:xfrm>
          <a:prstGeom prst="rect">
            <a:avLst/>
          </a:prstGeom>
        </p:spPr>
      </p:pic>
      <p:sp>
        <p:nvSpPr>
          <p:cNvPr id="13" name="Text 6"/>
          <p:cNvSpPr/>
          <p:nvPr/>
        </p:nvSpPr>
        <p:spPr>
          <a:xfrm>
            <a:off x="4324807" y="3474720"/>
            <a:ext cx="3414065" cy="1737360"/>
          </a:xfrm>
          <a:prstGeom prst="rect">
            <a:avLst/>
          </a:prstGeom>
          <a:noFill/>
          <a:ln/>
        </p:spPr>
        <p:txBody>
          <a:bodyPr wrap="square" lIns="0" tIns="0" rIns="0" bIns="0" rtlCol="0" anchor="t"/>
          <a:lstStyle/>
          <a:p>
            <a:pPr indent="0" marL="0">
              <a:lnSpc>
                <a:spcPts val="1800"/>
              </a:lnSpc>
              <a:buNone/>
            </a:pPr>
            <a:r>
              <a:rPr lang="en-US" sz="1200" dirty="0">
                <a:solidFill>
                  <a:srgbClr val="B8B8CC"/>
                </a:solidFill>
                <a:latin typeface="Geist" pitchFamily="34" charset="0"/>
                <a:ea typeface="Geist" pitchFamily="34" charset="-122"/>
                <a:cs typeface="Geist" pitchFamily="34" charset="-120"/>
              </a:rPr>
              <a:t>stable classes of Snyk Code finding — SQL injection, NoSQL injection, XXE, zip slip, path traversal, SSRF, code injection, DOM XSS, open redirect, weak hashing, hardcoded key, insecure randomness.</a:t>
            </a:r>
            <a:endParaRPr lang="en-US" sz="1200" dirty="0"/>
          </a:p>
        </p:txBody>
      </p:sp>
      <p:sp>
        <p:nvSpPr>
          <p:cNvPr id="14" name="Text 7"/>
          <p:cNvSpPr/>
          <p:nvPr/>
        </p:nvSpPr>
        <p:spPr>
          <a:xfrm>
            <a:off x="8141208" y="2286000"/>
            <a:ext cx="3542081" cy="914400"/>
          </a:xfrm>
          <a:prstGeom prst="rect">
            <a:avLst/>
          </a:prstGeom>
          <a:noFill/>
          <a:ln/>
        </p:spPr>
        <p:txBody>
          <a:bodyPr wrap="square" lIns="0" tIns="0" rIns="0" bIns="0" rtlCol="0" anchor="ctr"/>
          <a:lstStyle/>
          <a:p>
            <a:pPr indent="0" marL="0">
              <a:buNone/>
            </a:pPr>
            <a:r>
              <a:rPr lang="en-US" sz="4200" b="1" spc="-160" kern="0" dirty="0">
                <a:solidFill>
                  <a:srgbClr val="FFFFFF"/>
                </a:solidFill>
                <a:latin typeface="Geist" pitchFamily="34" charset="0"/>
                <a:ea typeface="Geist" pitchFamily="34" charset="-122"/>
                <a:cs typeface="Geist" pitchFamily="34" charset="-120"/>
              </a:rPr>
              <a:t>2</a:t>
            </a:r>
            <a:endParaRPr lang="en-US" sz="4200" dirty="0"/>
          </a:p>
        </p:txBody>
      </p:sp>
      <p:pic>
        <p:nvPicPr>
          <p:cNvPr id="15" name="Image 5" descr="assets/grad_bar_h.png">    </p:cNvPr>
          <p:cNvPicPr>
            <a:picLocks noChangeAspect="1"/>
          </p:cNvPicPr>
          <p:nvPr/>
        </p:nvPicPr>
        <p:blipFill>
          <a:blip r:embed="rId6"/>
          <a:stretch>
            <a:fillRect/>
          </a:stretch>
        </p:blipFill>
        <p:spPr>
          <a:xfrm>
            <a:off x="8141208" y="3255264"/>
            <a:ext cx="1463040" cy="41148"/>
          </a:xfrm>
          <a:prstGeom prst="rect">
            <a:avLst/>
          </a:prstGeom>
        </p:spPr>
      </p:pic>
      <p:sp>
        <p:nvSpPr>
          <p:cNvPr id="16" name="Text 8"/>
          <p:cNvSpPr/>
          <p:nvPr/>
        </p:nvSpPr>
        <p:spPr>
          <a:xfrm>
            <a:off x="8141208" y="3474720"/>
            <a:ext cx="3414065" cy="1737360"/>
          </a:xfrm>
          <a:prstGeom prst="rect">
            <a:avLst/>
          </a:prstGeom>
          <a:noFill/>
          <a:ln/>
        </p:spPr>
        <p:txBody>
          <a:bodyPr wrap="square" lIns="0" tIns="0" rIns="0" bIns="0" rtlCol="0" anchor="t"/>
          <a:lstStyle/>
          <a:p>
            <a:pPr indent="0" marL="0">
              <a:lnSpc>
                <a:spcPts val="1800"/>
              </a:lnSpc>
              <a:buNone/>
            </a:pPr>
            <a:r>
              <a:rPr lang="en-US" sz="1200" dirty="0">
                <a:solidFill>
                  <a:srgbClr val="B8B8CC"/>
                </a:solidFill>
                <a:latin typeface="Geist" pitchFamily="34" charset="0"/>
                <a:ea typeface="Geist" pitchFamily="34" charset="-122"/>
                <a:cs typeface="Geist" pitchFamily="34" charset="-120"/>
              </a:rPr>
              <a:t>authorization flaws SAST does NOT report — the IDOR in routes/basket.ts:18, where the basket is fetched by req.params.id with no ownership check, and the commented-out security.isAuthorized() guard at server.ts:389.</a:t>
            </a:r>
            <a:endParaRPr lang="en-US" sz="1200" dirty="0"/>
          </a:p>
        </p:txBody>
      </p:sp>
      <p:sp>
        <p:nvSpPr>
          <p:cNvPr id="17" name="Text 9"/>
          <p:cNvSpPr/>
          <p:nvPr/>
        </p:nvSpPr>
        <p:spPr>
          <a:xfrm>
            <a:off x="508406" y="5440680"/>
            <a:ext cx="11174882" cy="658368"/>
          </a:xfrm>
          <a:prstGeom prst="rect">
            <a:avLst/>
          </a:prstGeom>
          <a:noFill/>
          <a:ln/>
        </p:spPr>
        <p:txBody>
          <a:bodyPr wrap="square" lIns="0" tIns="0" rIns="0" bIns="0" rtlCol="0" anchor="ctr"/>
          <a:lstStyle/>
          <a:p>
            <a:pPr indent="0" marL="0">
              <a:lnSpc>
                <a:spcPts val="1500"/>
              </a:lnSpc>
              <a:buNone/>
            </a:pPr>
            <a:r>
              <a:rPr lang="en-US" sz="1050" dirty="0">
                <a:solidFill>
                  <a:srgbClr val="5C5C78"/>
                </a:solidFill>
                <a:latin typeface="Geist" pitchFamily="34" charset="0"/>
                <a:ea typeface="Geist" pitchFamily="34" charset="-122"/>
                <a:cs typeface="Geist" pitchFamily="34" charset="-120"/>
              </a:rPr>
              <a:t>Counts drift — Snyk ships Snyk Code accuracy releases roughly monthly and the vulnerability database changes daily. Capture your own baseline. The classes of finding are the stable part; the numbers are not.</a:t>
            </a:r>
            <a:endParaRPr lang="en-US" sz="1050" dirty="0"/>
          </a:p>
        </p:txBody>
      </p:sp>
      <p:sp>
        <p:nvSpPr>
          <p:cNvPr id="18" name="Shape 10"/>
          <p:cNvSpPr/>
          <p:nvPr/>
        </p:nvSpPr>
        <p:spPr>
          <a:xfrm>
            <a:off x="508406" y="6245352"/>
            <a:ext cx="11174882" cy="10973"/>
          </a:xfrm>
          <a:prstGeom prst="rect">
            <a:avLst/>
          </a:prstGeom>
          <a:solidFill>
            <a:srgbClr val="FFFFFF">
              <a:alpha val="12000"/>
            </a:srgbClr>
          </a:solidFill>
          <a:ln/>
        </p:spPr>
      </p:sp>
      <p:pic>
        <p:nvPicPr>
          <p:cNvPr id="19" name="Image 6" descr="assets/logo-snyk-white.png">    </p:cNvPr>
          <p:cNvPicPr>
            <a:picLocks noChangeAspect="1"/>
          </p:cNvPicPr>
          <p:nvPr/>
        </p:nvPicPr>
        <p:blipFill>
          <a:blip r:embed="rId7"/>
          <a:stretch>
            <a:fillRect/>
          </a:stretch>
        </p:blipFill>
        <p:spPr>
          <a:xfrm>
            <a:off x="508406" y="6336792"/>
            <a:ext cx="621792" cy="219456"/>
          </a:xfrm>
          <a:prstGeom prst="rect">
            <a:avLst/>
          </a:prstGeom>
        </p:spPr>
      </p:pic>
      <p:sp>
        <p:nvSpPr>
          <p:cNvPr id="20" name="Text 11"/>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Snyk in the CLI</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30328"/>
        </a:solidFill>
      </p:bgPr>
    </p:bg>
    <p:spTree>
      <p:nvGrpSpPr>
        <p:cNvPr id="1" name=""/>
        <p:cNvGrpSpPr/>
        <p:nvPr/>
      </p:nvGrpSpPr>
      <p:grpSpPr>
        <a:xfrm>
          <a:off x="0" y="0"/>
          <a:ext cx="0" cy="0"/>
          <a:chOff x="0" y="0"/>
          <a:chExt cx="0" cy="0"/>
        </a:xfrm>
      </p:grpSpPr>
      <p:pic>
        <p:nvPicPr>
          <p:cNvPr id="2" name="Image 0" descr="assets/ULC_Fabric_Gradient.png">    </p:cNvPr>
          <p:cNvPicPr>
            <a:picLocks noChangeAspect="1"/>
          </p:cNvPicPr>
          <p:nvPr/>
        </p:nvPicPr>
        <p:blipFill>
          <a:blip r:embed="rId1">
            <a:alphaModFix amt="68000"/>
          </a:blip>
          <a:stretch>
            <a:fillRect/>
          </a:stretch>
        </p:blipFill>
        <p:spPr>
          <a:xfrm>
            <a:off x="-320040" y="-320040"/>
            <a:ext cx="4114800" cy="4114800"/>
          </a:xfrm>
          <a:prstGeom prst="rect">
            <a:avLst/>
          </a:prstGeom>
        </p:spPr>
      </p:pic>
      <p:pic>
        <p:nvPicPr>
          <p:cNvPr id="3" name="Image 1" descr="assets/BRC_Fabric_Gradient.png">    </p:cNvPr>
          <p:cNvPicPr>
            <a:picLocks noChangeAspect="1"/>
          </p:cNvPicPr>
          <p:nvPr/>
        </p:nvPicPr>
        <p:blipFill>
          <a:blip r:embed="rId2">
            <a:alphaModFix amt="54000"/>
          </a:blip>
          <a:stretch>
            <a:fillRect/>
          </a:stretch>
        </p:blipFill>
        <p:spPr>
          <a:xfrm>
            <a:off x="8808415" y="2697480"/>
            <a:ext cx="3657600" cy="3657600"/>
          </a:xfrm>
          <a:prstGeom prst="rect">
            <a:avLst/>
          </a:prstGeom>
        </p:spPr>
      </p:pic>
      <p:sp>
        <p:nvSpPr>
          <p:cNvPr id="4" name="Shape 0"/>
          <p:cNvSpPr/>
          <p:nvPr/>
        </p:nvSpPr>
        <p:spPr>
          <a:xfrm>
            <a:off x="0" y="5989320"/>
            <a:ext cx="12191695" cy="868680"/>
          </a:xfrm>
          <a:prstGeom prst="rect">
            <a:avLst/>
          </a:prstGeom>
          <a:solidFill>
            <a:srgbClr val="030328"/>
          </a:solidFill>
          <a:ln/>
        </p:spPr>
      </p:sp>
      <p:sp>
        <p:nvSpPr>
          <p:cNvPr id="5"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PART SIX</a:t>
            </a:r>
            <a:endParaRPr lang="en-US" sz="1050" dirty="0"/>
          </a:p>
        </p:txBody>
      </p:sp>
      <p:pic>
        <p:nvPicPr>
          <p:cNvPr id="6" name="Image 2" descr="assets/logo-snyk-white.png">    </p:cNvPr>
          <p:cNvPicPr>
            <a:picLocks noChangeAspect="1"/>
          </p:cNvPicPr>
          <p:nvPr/>
        </p:nvPicPr>
        <p:blipFill>
          <a:blip r:embed="rId3"/>
          <a:stretch>
            <a:fillRect/>
          </a:stretch>
        </p:blipFill>
        <p:spPr>
          <a:xfrm>
            <a:off x="10796321" y="435254"/>
            <a:ext cx="886968" cy="310896"/>
          </a:xfrm>
          <a:prstGeom prst="rect">
            <a:avLst/>
          </a:prstGeom>
        </p:spPr>
      </p:pic>
      <p:pic>
        <p:nvPicPr>
          <p:cNvPr id="7" name="Image 3" descr="assets/grad_bar_v.png">    </p:cNvPr>
          <p:cNvPicPr>
            <a:picLocks noChangeAspect="1"/>
          </p:cNvPicPr>
          <p:nvPr/>
        </p:nvPicPr>
        <p:blipFill>
          <a:blip r:embed="rId4"/>
          <a:stretch>
            <a:fillRect/>
          </a:stretch>
        </p:blipFill>
        <p:spPr>
          <a:xfrm>
            <a:off x="508406" y="2240280"/>
            <a:ext cx="50292" cy="1691640"/>
          </a:xfrm>
          <a:prstGeom prst="rect">
            <a:avLst/>
          </a:prstGeom>
        </p:spPr>
      </p:pic>
      <p:sp>
        <p:nvSpPr>
          <p:cNvPr id="8" name="Text 2"/>
          <p:cNvSpPr/>
          <p:nvPr/>
        </p:nvSpPr>
        <p:spPr>
          <a:xfrm>
            <a:off x="819302" y="2148840"/>
            <a:ext cx="1828800" cy="640080"/>
          </a:xfrm>
          <a:prstGeom prst="rect">
            <a:avLst/>
          </a:prstGeom>
          <a:noFill/>
          <a:ln/>
        </p:spPr>
        <p:txBody>
          <a:bodyPr wrap="square" lIns="0" tIns="0" rIns="0" bIns="0" rtlCol="0" anchor="ctr"/>
          <a:lstStyle/>
          <a:p>
            <a:pPr indent="0" marL="0">
              <a:buNone/>
            </a:pPr>
            <a:r>
              <a:rPr lang="en-US" sz="2200" b="1" spc="100" kern="0" dirty="0">
                <a:solidFill>
                  <a:srgbClr val="8A8AA3"/>
                </a:solidFill>
                <a:latin typeface="Geist Mono" pitchFamily="34" charset="0"/>
                <a:ea typeface="Geist Mono" pitchFamily="34" charset="-122"/>
                <a:cs typeface="Geist Mono" pitchFamily="34" charset="-120"/>
              </a:rPr>
              <a:t>06</a:t>
            </a:r>
            <a:endParaRPr lang="en-US" sz="2200" dirty="0"/>
          </a:p>
        </p:txBody>
      </p:sp>
      <p:sp>
        <p:nvSpPr>
          <p:cNvPr id="9" name="Text 3"/>
          <p:cNvSpPr/>
          <p:nvPr/>
        </p:nvSpPr>
        <p:spPr>
          <a:xfrm>
            <a:off x="819302" y="2697480"/>
            <a:ext cx="10077602" cy="1280160"/>
          </a:xfrm>
          <a:prstGeom prst="rect">
            <a:avLst/>
          </a:prstGeom>
          <a:noFill/>
          <a:ln/>
        </p:spPr>
        <p:txBody>
          <a:bodyPr wrap="square" lIns="0" tIns="0" rIns="0" bIns="0" rtlCol="0" anchor="ctr"/>
          <a:lstStyle/>
          <a:p>
            <a:pPr indent="0" marL="0">
              <a:lnSpc>
                <a:spcPts val="4800"/>
              </a:lnSpc>
              <a:buNone/>
            </a:pPr>
            <a:r>
              <a:rPr lang="en-US" sz="4600" b="1" spc="-150" kern="0" dirty="0">
                <a:solidFill>
                  <a:srgbClr val="FFFFFF"/>
                </a:solidFill>
                <a:latin typeface="Geist" pitchFamily="34" charset="0"/>
                <a:ea typeface="Geist" pitchFamily="34" charset="-122"/>
                <a:cs typeface="Geist" pitchFamily="34" charset="-120"/>
              </a:rPr>
              <a:t>Ignores and approvals</a:t>
            </a:r>
            <a:endParaRPr lang="en-US" sz="4600" dirty="0"/>
          </a:p>
        </p:txBody>
      </p:sp>
      <p:sp>
        <p:nvSpPr>
          <p:cNvPr id="10" name="Text 4"/>
          <p:cNvSpPr/>
          <p:nvPr/>
        </p:nvSpPr>
        <p:spPr>
          <a:xfrm>
            <a:off x="819302" y="4041648"/>
            <a:ext cx="6949440" cy="731520"/>
          </a:xfrm>
          <a:prstGeom prst="rect">
            <a:avLst/>
          </a:prstGeom>
          <a:noFill/>
          <a:ln/>
        </p:spPr>
        <p:txBody>
          <a:bodyPr wrap="square" lIns="0" tIns="0" rIns="0" bIns="0" rtlCol="0" anchor="ctr"/>
          <a:lstStyle/>
          <a:p>
            <a:pPr indent="0" marL="0">
              <a:lnSpc>
                <a:spcPts val="2200"/>
              </a:lnSpc>
              <a:buNone/>
            </a:pPr>
            <a:r>
              <a:rPr lang="en-US" sz="1400" dirty="0">
                <a:solidFill>
                  <a:srgbClr val="B8B8CC"/>
                </a:solidFill>
                <a:latin typeface="Geist" pitchFamily="34" charset="0"/>
                <a:ea typeface="Geist" pitchFamily="34" charset="-122"/>
                <a:cs typeface="Geist" pitchFamily="34" charset="-120"/>
              </a:rPr>
              <a:t>Two mechanisms, one governance problem.</a:t>
            </a:r>
            <a:endParaRPr lang="en-US" sz="1400" dirty="0"/>
          </a:p>
        </p:txBody>
      </p:sp>
      <p:sp>
        <p:nvSpPr>
          <p:cNvPr id="11" name="Shape 5"/>
          <p:cNvSpPr/>
          <p:nvPr/>
        </p:nvSpPr>
        <p:spPr>
          <a:xfrm>
            <a:off x="508406" y="6245352"/>
            <a:ext cx="11174882" cy="10973"/>
          </a:xfrm>
          <a:prstGeom prst="rect">
            <a:avLst/>
          </a:prstGeom>
          <a:solidFill>
            <a:srgbClr val="FFFFFF">
              <a:alpha val="12000"/>
            </a:srgbClr>
          </a:solidFill>
          <a:ln/>
        </p:spPr>
      </p:sp>
      <p:pic>
        <p:nvPicPr>
          <p:cNvPr id="12" name="Image 4" descr="assets/logo-snyk-white.png">    </p:cNvPr>
          <p:cNvPicPr>
            <a:picLocks noChangeAspect="1"/>
          </p:cNvPicPr>
          <p:nvPr/>
        </p:nvPicPr>
        <p:blipFill>
          <a:blip r:embed="rId5"/>
          <a:stretch>
            <a:fillRect/>
          </a:stretch>
        </p:blipFill>
        <p:spPr>
          <a:xfrm>
            <a:off x="508406" y="6336792"/>
            <a:ext cx="621792" cy="219456"/>
          </a:xfrm>
          <a:prstGeom prst="rect">
            <a:avLst/>
          </a:prstGeom>
        </p:spPr>
      </p:pic>
      <p:sp>
        <p:nvSpPr>
          <p:cNvPr id="13" name="Text 6"/>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Ignores and approvals</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TWO MECHANISMS</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Where "but I ignored it" comes from</a:t>
            </a:r>
            <a:endParaRPr lang="en-US" sz="3000" dirty="0"/>
          </a:p>
        </p:txBody>
      </p:sp>
      <p:sp>
        <p:nvSpPr>
          <p:cNvPr id="7" name="Shape 3"/>
          <p:cNvSpPr/>
          <p:nvPr/>
        </p:nvSpPr>
        <p:spPr>
          <a:xfrm>
            <a:off x="508406" y="1993392"/>
            <a:ext cx="5468569" cy="3968496"/>
          </a:xfrm>
          <a:prstGeom prst="roundRect">
            <a:avLst>
              <a:gd name="adj" fmla="val 1613"/>
            </a:avLst>
          </a:prstGeom>
          <a:solidFill>
            <a:srgbClr val="6F00DD">
              <a:alpha val="8000"/>
            </a:srgbClr>
          </a:solidFill>
          <a:ln w="9525">
            <a:solidFill>
              <a:srgbClr val="FFFFFF">
                <a:alpha val="14000"/>
              </a:srgbClr>
            </a:solidFill>
            <a:prstDash val="solid"/>
          </a:ln>
        </p:spPr>
      </p:sp>
      <p:pic>
        <p:nvPicPr>
          <p:cNvPr id="8" name="Image 2" descr="assets/grad_bar_v.png">    </p:cNvPr>
          <p:cNvPicPr>
            <a:picLocks noChangeAspect="1"/>
          </p:cNvPicPr>
          <p:nvPr/>
        </p:nvPicPr>
        <p:blipFill>
          <a:blip r:embed="rId3"/>
          <a:stretch>
            <a:fillRect/>
          </a:stretch>
        </p:blipFill>
        <p:spPr>
          <a:xfrm>
            <a:off x="508406" y="2121408"/>
            <a:ext cx="36576" cy="3712464"/>
          </a:xfrm>
          <a:prstGeom prst="rect">
            <a:avLst/>
          </a:prstGeom>
        </p:spPr>
      </p:pic>
      <p:sp>
        <p:nvSpPr>
          <p:cNvPr id="9" name="Text 4"/>
          <p:cNvSpPr/>
          <p:nvPr/>
        </p:nvSpPr>
        <p:spPr>
          <a:xfrm>
            <a:off x="727862" y="2130552"/>
            <a:ext cx="5066233"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OPEN SOURCE / CONTAINER / IAC</a:t>
            </a:r>
            <a:endParaRPr lang="en-US" sz="850" dirty="0"/>
          </a:p>
        </p:txBody>
      </p:sp>
      <p:sp>
        <p:nvSpPr>
          <p:cNvPr id="10" name="Text 5"/>
          <p:cNvSpPr/>
          <p:nvPr/>
        </p:nvSpPr>
        <p:spPr>
          <a:xfrm>
            <a:off x="727862" y="2368296"/>
            <a:ext cx="5066233"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The .snyk policy file</a:t>
            </a:r>
            <a:endParaRPr lang="en-US" sz="1500" dirty="0"/>
          </a:p>
        </p:txBody>
      </p:sp>
      <p:sp>
        <p:nvSpPr>
          <p:cNvPr id="11" name="Text 6"/>
          <p:cNvSpPr/>
          <p:nvPr/>
        </p:nvSpPr>
        <p:spPr>
          <a:xfrm>
            <a:off x="727862" y="2674620"/>
            <a:ext cx="5066233" cy="3159252"/>
          </a:xfrm>
          <a:prstGeom prst="rect">
            <a:avLst/>
          </a:prstGeom>
          <a:noFill/>
          <a:ln/>
        </p:spPr>
        <p:txBody>
          <a:bodyPr wrap="square" lIns="0" tIns="0" rIns="0" bIns="0" rtlCol="0" anchor="t"/>
          <a:lstStyle/>
          <a:p>
            <a:pPr indent="0" marL="0">
              <a:lnSpc>
                <a:spcPts val="1600"/>
              </a:lnSpc>
              <a:buNone/>
            </a:pPr>
            <a:r>
              <a:rPr lang="en-US" sz="1150" dirty="0">
                <a:solidFill>
                  <a:srgbClr val="B8B8CC"/>
                </a:solidFill>
                <a:latin typeface="Geist" pitchFamily="34" charset="0"/>
                <a:ea typeface="Geist" pitchFamily="34" charset="-122"/>
                <a:cs typeface="Geist" pitchFamily="34" charset="-120"/>
              </a:rPr>
              <a:t>Committed to your repo.</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snyk ignore --id=… --expiry=… --reason=…</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Travels only where the file is checked out. Auditable through Git history.</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There is no .snyk in this repo yet — your first ignore creates one.</a:t>
            </a:r>
            <a:endParaRPr lang="en-US" sz="1150" dirty="0"/>
          </a:p>
        </p:txBody>
      </p:sp>
      <p:sp>
        <p:nvSpPr>
          <p:cNvPr id="12" name="Shape 7"/>
          <p:cNvSpPr/>
          <p:nvPr/>
        </p:nvSpPr>
        <p:spPr>
          <a:xfrm>
            <a:off x="6214720" y="1993392"/>
            <a:ext cx="5468569" cy="3968496"/>
          </a:xfrm>
          <a:prstGeom prst="roundRect">
            <a:avLst>
              <a:gd name="adj" fmla="val 1613"/>
            </a:avLst>
          </a:prstGeom>
          <a:solidFill>
            <a:srgbClr val="6F00DD">
              <a:alpha val="8000"/>
            </a:srgbClr>
          </a:solidFill>
          <a:ln w="9525">
            <a:solidFill>
              <a:srgbClr val="FFFFFF">
                <a:alpha val="14000"/>
              </a:srgbClr>
            </a:solidFill>
            <a:prstDash val="solid"/>
          </a:ln>
        </p:spPr>
      </p:sp>
      <p:pic>
        <p:nvPicPr>
          <p:cNvPr id="13" name="Image 3" descr="assets/grad_bar_v.png">    </p:cNvPr>
          <p:cNvPicPr>
            <a:picLocks noChangeAspect="1"/>
          </p:cNvPicPr>
          <p:nvPr/>
        </p:nvPicPr>
        <p:blipFill>
          <a:blip r:embed="rId4"/>
          <a:stretch>
            <a:fillRect/>
          </a:stretch>
        </p:blipFill>
        <p:spPr>
          <a:xfrm>
            <a:off x="6214720" y="2121408"/>
            <a:ext cx="36576" cy="3712464"/>
          </a:xfrm>
          <a:prstGeom prst="rect">
            <a:avLst/>
          </a:prstGeom>
        </p:spPr>
      </p:pic>
      <p:sp>
        <p:nvSpPr>
          <p:cNvPr id="14" name="Text 8"/>
          <p:cNvSpPr/>
          <p:nvPr/>
        </p:nvSpPr>
        <p:spPr>
          <a:xfrm>
            <a:off x="6434176" y="2130552"/>
            <a:ext cx="5066233"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SNYK CODE + SNYK SECRETS</a:t>
            </a:r>
            <a:endParaRPr lang="en-US" sz="850" dirty="0"/>
          </a:p>
        </p:txBody>
      </p:sp>
      <p:sp>
        <p:nvSpPr>
          <p:cNvPr id="15" name="Text 9"/>
          <p:cNvSpPr/>
          <p:nvPr/>
        </p:nvSpPr>
        <p:spPr>
          <a:xfrm>
            <a:off x="6434176" y="2368296"/>
            <a:ext cx="5066233"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Consistent Ignores</a:t>
            </a:r>
            <a:endParaRPr lang="en-US" sz="1500" dirty="0"/>
          </a:p>
        </p:txBody>
      </p:sp>
      <p:sp>
        <p:nvSpPr>
          <p:cNvPr id="16" name="Text 10"/>
          <p:cNvSpPr/>
          <p:nvPr/>
        </p:nvSpPr>
        <p:spPr>
          <a:xfrm>
            <a:off x="6434176" y="2674620"/>
            <a:ext cx="5066233" cy="3159252"/>
          </a:xfrm>
          <a:prstGeom prst="rect">
            <a:avLst/>
          </a:prstGeom>
          <a:noFill/>
          <a:ln/>
        </p:spPr>
        <p:txBody>
          <a:bodyPr wrap="square" lIns="0" tIns="0" rIns="0" bIns="0" rtlCol="0" anchor="t"/>
          <a:lstStyle/>
          <a:p>
            <a:pPr indent="0" marL="0">
              <a:lnSpc>
                <a:spcPts val="1600"/>
              </a:lnSpc>
              <a:buNone/>
            </a:pPr>
            <a:r>
              <a:rPr lang="en-US" sz="1150" dirty="0">
                <a:solidFill>
                  <a:srgbClr val="B8B8CC"/>
                </a:solidFill>
                <a:latin typeface="Geist" pitchFamily="34" charset="0"/>
                <a:ea typeface="Geist" pitchFamily="34" charset="-122"/>
                <a:cs typeface="Geist" pitchFamily="34" charset="-120"/>
              </a:rPr>
              <a:t>Asset-scoped, stored in Snyk, attached to the finding's identity.</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snyk ignore create (EA), or the Web UI.</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Respected in UI, IDE, CLI, CI and PR checks — on every branch.</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.snyk files DO NOT work for Snyk Code.</a:t>
            </a:r>
            <a:endParaRPr lang="en-US" sz="1150" dirty="0"/>
          </a:p>
        </p:txBody>
      </p:sp>
      <p:sp>
        <p:nvSpPr>
          <p:cNvPr id="17" name="Shape 11"/>
          <p:cNvSpPr/>
          <p:nvPr/>
        </p:nvSpPr>
        <p:spPr>
          <a:xfrm>
            <a:off x="508406" y="6245352"/>
            <a:ext cx="11174882" cy="10973"/>
          </a:xfrm>
          <a:prstGeom prst="rect">
            <a:avLst/>
          </a:prstGeom>
          <a:solidFill>
            <a:srgbClr val="FFFFFF">
              <a:alpha val="12000"/>
            </a:srgbClr>
          </a:solidFill>
          <a:ln/>
        </p:spPr>
      </p:sp>
      <p:pic>
        <p:nvPicPr>
          <p:cNvPr id="18" name="Image 4" descr="assets/logo-snyk-white.png">    </p:cNvPr>
          <p:cNvPicPr>
            <a:picLocks noChangeAspect="1"/>
          </p:cNvPicPr>
          <p:nvPr/>
        </p:nvPicPr>
        <p:blipFill>
          <a:blip r:embed="rId5"/>
          <a:stretch>
            <a:fillRect/>
          </a:stretch>
        </p:blipFill>
        <p:spPr>
          <a:xfrm>
            <a:off x="508406" y="6336792"/>
            <a:ext cx="621792" cy="219456"/>
          </a:xfrm>
          <a:prstGeom prst="rect">
            <a:avLst/>
          </a:prstGeom>
        </p:spPr>
      </p:pic>
      <p:sp>
        <p:nvSpPr>
          <p:cNvPr id="19" name="Text 12"/>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Ignores and approvals</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30328"/>
        </a:solidFill>
      </p:bgPr>
    </p:bg>
    <p:spTree>
      <p:nvGrpSpPr>
        <p:cNvPr id="1" name=""/>
        <p:cNvGrpSpPr/>
        <p:nvPr/>
      </p:nvGrpSpPr>
      <p:grpSpPr>
        <a:xfrm>
          <a:off x="0" y="0"/>
          <a:ext cx="0" cy="0"/>
          <a:chOff x="0" y="0"/>
          <a:chExt cx="0" cy="0"/>
        </a:xfrm>
      </p:grpSpPr>
      <p:sp>
        <p:nvSpPr>
          <p:cNvPr id="2" name="Shape 0"/>
          <p:cNvSpPr/>
          <p:nvPr/>
        </p:nvSpPr>
        <p:spPr>
          <a:xfrm>
            <a:off x="0" y="5989320"/>
            <a:ext cx="12191695" cy="868680"/>
          </a:xfrm>
          <a:prstGeom prst="rect">
            <a:avLst/>
          </a:prstGeom>
          <a:solidFill>
            <a:srgbClr val="030328"/>
          </a:solidFill>
          <a:ln/>
        </p:spPr>
      </p:sp>
      <p:sp>
        <p:nvSpPr>
          <p:cNvPr id="3"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CREATING AN IGNORE</a:t>
            </a:r>
            <a:endParaRPr lang="en-US" sz="1050" dirty="0"/>
          </a:p>
        </p:txBody>
      </p:sp>
      <p:pic>
        <p:nvPicPr>
          <p:cNvPr id="4" name="Image 0" descr="assets/logo-snyk-white.png">    </p:cNvPr>
          <p:cNvPicPr>
            <a:picLocks noChangeAspect="1"/>
          </p:cNvPicPr>
          <p:nvPr/>
        </p:nvPicPr>
        <p:blipFill>
          <a:blip r:embed="rId1"/>
          <a:stretch>
            <a:fillRect/>
          </a:stretch>
        </p:blipFill>
        <p:spPr>
          <a:xfrm>
            <a:off x="10796321" y="435254"/>
            <a:ext cx="886968" cy="310896"/>
          </a:xfrm>
          <a:prstGeom prst="rect">
            <a:avLst/>
          </a:prstGeom>
        </p:spPr>
      </p:pic>
      <p:sp>
        <p:nvSpPr>
          <p:cNvPr id="5"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Both paths, side by side</a:t>
            </a:r>
            <a:endParaRPr lang="en-US" sz="3000" dirty="0"/>
          </a:p>
        </p:txBody>
      </p:sp>
      <p:sp>
        <p:nvSpPr>
          <p:cNvPr id="6" name="Text 3"/>
          <p:cNvSpPr/>
          <p:nvPr/>
        </p:nvSpPr>
        <p:spPr>
          <a:xfrm>
            <a:off x="508406" y="1773936"/>
            <a:ext cx="10607040" cy="402336"/>
          </a:xfrm>
          <a:prstGeom prst="rect">
            <a:avLst/>
          </a:prstGeom>
          <a:noFill/>
          <a:ln/>
        </p:spPr>
        <p:txBody>
          <a:bodyPr wrap="square" lIns="0" tIns="0" rIns="0" bIns="0" rtlCol="0" anchor="ctr"/>
          <a:lstStyle/>
          <a:p>
            <a:pPr indent="0" marL="0">
              <a:lnSpc>
                <a:spcPts val="1900"/>
              </a:lnSpc>
              <a:buNone/>
            </a:pPr>
            <a:r>
              <a:rPr lang="en-US" sz="1250" dirty="0">
                <a:solidFill>
                  <a:srgbClr val="8A8AA3"/>
                </a:solidFill>
                <a:latin typeface="Geist" pitchFamily="34" charset="0"/>
                <a:ea typeface="Geist" pitchFamily="34" charset="-122"/>
                <a:cs typeface="Geist" pitchFamily="34" charset="-120"/>
              </a:rPr>
              <a:t>Ignore types: not-vulnerable · wont-fix · temporary-ignore. Always write a reason the next person can act on.</a:t>
            </a:r>
            <a:endParaRPr lang="en-US" sz="1250" dirty="0"/>
          </a:p>
        </p:txBody>
      </p:sp>
      <p:sp>
        <p:nvSpPr>
          <p:cNvPr id="7" name="Shape 4"/>
          <p:cNvSpPr/>
          <p:nvPr/>
        </p:nvSpPr>
        <p:spPr>
          <a:xfrm>
            <a:off x="508406" y="2286000"/>
            <a:ext cx="5459425" cy="3657600"/>
          </a:xfrm>
          <a:prstGeom prst="roundRect">
            <a:avLst>
              <a:gd name="adj" fmla="val 1750"/>
            </a:avLst>
          </a:prstGeom>
          <a:solidFill>
            <a:srgbClr val="0B0B2E"/>
          </a:solidFill>
          <a:ln w="9525">
            <a:solidFill>
              <a:srgbClr val="FFFFFF">
                <a:alpha val="12000"/>
              </a:srgbClr>
            </a:solidFill>
            <a:prstDash val="solid"/>
          </a:ln>
        </p:spPr>
      </p:sp>
      <p:pic>
        <p:nvPicPr>
          <p:cNvPr id="8" name="Image 1" descr="assets/grad_bar_h.png">    </p:cNvPr>
          <p:cNvPicPr>
            <a:picLocks noChangeAspect="1"/>
          </p:cNvPicPr>
          <p:nvPr/>
        </p:nvPicPr>
        <p:blipFill>
          <a:blip r:embed="rId2"/>
          <a:stretch>
            <a:fillRect/>
          </a:stretch>
        </p:blipFill>
        <p:spPr>
          <a:xfrm>
            <a:off x="691286" y="2487168"/>
            <a:ext cx="777240" cy="32004"/>
          </a:xfrm>
          <a:prstGeom prst="rect">
            <a:avLst/>
          </a:prstGeom>
        </p:spPr>
      </p:pic>
      <p:sp>
        <p:nvSpPr>
          <p:cNvPr id="9" name="Text 5"/>
          <p:cNvSpPr/>
          <p:nvPr/>
        </p:nvSpPr>
        <p:spPr>
          <a:xfrm>
            <a:off x="691286" y="2596896"/>
            <a:ext cx="5093665" cy="237744"/>
          </a:xfrm>
          <a:prstGeom prst="rect">
            <a:avLst/>
          </a:prstGeom>
          <a:noFill/>
          <a:ln/>
        </p:spPr>
        <p:txBody>
          <a:bodyPr wrap="square" lIns="0" tIns="0" rIns="0" bIns="0" rtlCol="0" anchor="ctr"/>
          <a:lstStyle/>
          <a:p>
            <a:pPr indent="0" marL="0">
              <a:buNone/>
            </a:pPr>
            <a:r>
              <a:rPr lang="en-US" sz="850" b="1" spc="180" kern="0" dirty="0">
                <a:solidFill>
                  <a:srgbClr val="8A8AA3"/>
                </a:solidFill>
                <a:latin typeface="Geist Mono" pitchFamily="34" charset="0"/>
                <a:ea typeface="Geist Mono" pitchFamily="34" charset="-122"/>
                <a:cs typeface="Geist Mono" pitchFamily="34" charset="-120"/>
              </a:rPr>
              <a:t>OPEN SOURCE → .SNYK</a:t>
            </a:r>
            <a:endParaRPr lang="en-US" sz="850" dirty="0"/>
          </a:p>
        </p:txBody>
      </p:sp>
      <p:sp>
        <p:nvSpPr>
          <p:cNvPr id="10" name="Text 6"/>
          <p:cNvSpPr/>
          <p:nvPr/>
        </p:nvSpPr>
        <p:spPr>
          <a:xfrm>
            <a:off x="691286" y="2889504"/>
            <a:ext cx="5111953" cy="2871216"/>
          </a:xfrm>
          <a:prstGeom prst="rect">
            <a:avLst/>
          </a:prstGeom>
          <a:noFill/>
          <a:ln/>
        </p:spPr>
        <p:txBody>
          <a:bodyPr wrap="square" lIns="0" tIns="0" rIns="0" bIns="0" rtlCol="0" anchor="t"/>
          <a:lstStyle/>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snyk ignore \</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  --id='SNYK-JS-SANITIZEHTML-1070786' \</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  --expiry='2026-11-30' \</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  --reason='Server-rendered admin pages only,</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            behind auth; JIRA-1234'</a:t>
            </a:r>
            <a:endParaRPr lang="en-US" sz="900" dirty="0"/>
          </a:p>
          <a:p>
            <a:pPr indent="0" marL="0">
              <a:lnSpc>
                <a:spcPts val="1395"/>
              </a:lnSpc>
              <a:buNone/>
            </a:pP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 --expiry DEFAULTS TO 30 DAYS if you omit it</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 COMMIT the .snyk file or CI still fails</a:t>
            </a:r>
            <a:endParaRPr lang="en-US" sz="900" dirty="0"/>
          </a:p>
          <a:p>
            <a:pPr indent="0" marL="0">
              <a:lnSpc>
                <a:spcPts val="1395"/>
              </a:lnSpc>
              <a:buNone/>
            </a:pP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snyk policy   # print the effective policy</a:t>
            </a:r>
            <a:endParaRPr lang="en-US" sz="900" dirty="0"/>
          </a:p>
        </p:txBody>
      </p:sp>
      <p:sp>
        <p:nvSpPr>
          <p:cNvPr id="11" name="Shape 7"/>
          <p:cNvSpPr/>
          <p:nvPr/>
        </p:nvSpPr>
        <p:spPr>
          <a:xfrm>
            <a:off x="6223864" y="2286000"/>
            <a:ext cx="5459425" cy="3657600"/>
          </a:xfrm>
          <a:prstGeom prst="roundRect">
            <a:avLst>
              <a:gd name="adj" fmla="val 1750"/>
            </a:avLst>
          </a:prstGeom>
          <a:solidFill>
            <a:srgbClr val="0B0B2E"/>
          </a:solidFill>
          <a:ln w="9525">
            <a:solidFill>
              <a:srgbClr val="FFFFFF">
                <a:alpha val="12000"/>
              </a:srgbClr>
            </a:solidFill>
            <a:prstDash val="solid"/>
          </a:ln>
        </p:spPr>
      </p:sp>
      <p:pic>
        <p:nvPicPr>
          <p:cNvPr id="12" name="Image 2" descr="assets/grad_bar_h.png">    </p:cNvPr>
          <p:cNvPicPr>
            <a:picLocks noChangeAspect="1"/>
          </p:cNvPicPr>
          <p:nvPr/>
        </p:nvPicPr>
        <p:blipFill>
          <a:blip r:embed="rId3"/>
          <a:stretch>
            <a:fillRect/>
          </a:stretch>
        </p:blipFill>
        <p:spPr>
          <a:xfrm>
            <a:off x="6406744" y="2487168"/>
            <a:ext cx="777240" cy="32004"/>
          </a:xfrm>
          <a:prstGeom prst="rect">
            <a:avLst/>
          </a:prstGeom>
        </p:spPr>
      </p:pic>
      <p:sp>
        <p:nvSpPr>
          <p:cNvPr id="13" name="Text 8"/>
          <p:cNvSpPr/>
          <p:nvPr/>
        </p:nvSpPr>
        <p:spPr>
          <a:xfrm>
            <a:off x="6406744" y="2596896"/>
            <a:ext cx="5093665" cy="237744"/>
          </a:xfrm>
          <a:prstGeom prst="rect">
            <a:avLst/>
          </a:prstGeom>
          <a:noFill/>
          <a:ln/>
        </p:spPr>
        <p:txBody>
          <a:bodyPr wrap="square" lIns="0" tIns="0" rIns="0" bIns="0" rtlCol="0" anchor="ctr"/>
          <a:lstStyle/>
          <a:p>
            <a:pPr indent="0" marL="0">
              <a:buNone/>
            </a:pPr>
            <a:r>
              <a:rPr lang="en-US" sz="850" b="1" spc="180" kern="0" dirty="0">
                <a:solidFill>
                  <a:srgbClr val="8A8AA3"/>
                </a:solidFill>
                <a:latin typeface="Geist Mono" pitchFamily="34" charset="0"/>
                <a:ea typeface="Geist Mono" pitchFamily="34" charset="-122"/>
                <a:cs typeface="Geist Mono" pitchFamily="34" charset="-120"/>
              </a:rPr>
              <a:t>SNYK CODE → CONSISTENT IGNORES (EA)</a:t>
            </a:r>
            <a:endParaRPr lang="en-US" sz="850" dirty="0"/>
          </a:p>
        </p:txBody>
      </p:sp>
      <p:sp>
        <p:nvSpPr>
          <p:cNvPr id="14" name="Text 9"/>
          <p:cNvSpPr/>
          <p:nvPr/>
        </p:nvSpPr>
        <p:spPr>
          <a:xfrm>
            <a:off x="6406744" y="2889504"/>
            <a:ext cx="5111953" cy="2871216"/>
          </a:xfrm>
          <a:prstGeom prst="rect">
            <a:avLst/>
          </a:prstGeom>
          <a:noFill/>
          <a:ln/>
        </p:spPr>
        <p:txBody>
          <a:bodyPr wrap="square" lIns="0" tIns="0" rIns="0" bIns="0" rtlCol="0" anchor="t"/>
          <a:lstStyle/>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snyk code test --json &gt; snyk-code.json</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 id at runs[].results[].fingerprints</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      ."snyk/assets/finding/v1"</a:t>
            </a:r>
            <a:endParaRPr lang="en-US" sz="900" dirty="0"/>
          </a:p>
          <a:p>
            <a:pPr indent="0" marL="0">
              <a:lnSpc>
                <a:spcPts val="1395"/>
              </a:lnSpc>
              <a:buNone/>
            </a:pP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snyk ignore create        # interactive by default</a:t>
            </a:r>
            <a:endParaRPr lang="en-US" sz="900" dirty="0"/>
          </a:p>
          <a:p>
            <a:pPr indent="0" marL="0">
              <a:lnSpc>
                <a:spcPts val="1395"/>
              </a:lnSpc>
              <a:buNone/>
            </a:pP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snyk ignore create \</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  --finding-id='&lt;id&gt;' \</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  --ignore-type='temporary-ignore' \</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  --expiration='2026-10-31' \</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  --reason='Internal-only endpoint; JIRA-5678'</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 also: --org=  --remote-repo-url=</a:t>
            </a:r>
            <a:endParaRPr lang="en-US" sz="900" dirty="0"/>
          </a:p>
        </p:txBody>
      </p:sp>
      <p:sp>
        <p:nvSpPr>
          <p:cNvPr id="15" name="Shape 10"/>
          <p:cNvSpPr/>
          <p:nvPr/>
        </p:nvSpPr>
        <p:spPr>
          <a:xfrm>
            <a:off x="508406" y="6245352"/>
            <a:ext cx="11174882" cy="10973"/>
          </a:xfrm>
          <a:prstGeom prst="rect">
            <a:avLst/>
          </a:prstGeom>
          <a:solidFill>
            <a:srgbClr val="FFFFFF">
              <a:alpha val="12000"/>
            </a:srgbClr>
          </a:solidFill>
          <a:ln/>
        </p:spPr>
      </p:sp>
      <p:pic>
        <p:nvPicPr>
          <p:cNvPr id="16" name="Image 3" descr="assets/logo-snyk-white.png">    </p:cNvPr>
          <p:cNvPicPr>
            <a:picLocks noChangeAspect="1"/>
          </p:cNvPicPr>
          <p:nvPr/>
        </p:nvPicPr>
        <p:blipFill>
          <a:blip r:embed="rId4"/>
          <a:stretch>
            <a:fillRect/>
          </a:stretch>
        </p:blipFill>
        <p:spPr>
          <a:xfrm>
            <a:off x="508406" y="6336792"/>
            <a:ext cx="621792" cy="219456"/>
          </a:xfrm>
          <a:prstGeom prst="rect">
            <a:avLst/>
          </a:prstGeom>
        </p:spPr>
      </p:pic>
      <p:sp>
        <p:nvSpPr>
          <p:cNvPr id="17" name="Text 11"/>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Ignores and approvals</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BEFORE YOU IGNORE</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8595360" cy="914400"/>
          </a:xfrm>
          <a:prstGeom prst="rect">
            <a:avLst/>
          </a:prstGeom>
          <a:noFill/>
          <a:ln/>
        </p:spPr>
        <p:txBody>
          <a:bodyPr wrap="square" lIns="0" tIns="0" rIns="0" bIns="0" rtlCol="0" anchor="t"/>
          <a:lstStyle/>
          <a:p>
            <a:pPr indent="0" marL="0">
              <a:lnSpc>
                <a:spcPts val="3300"/>
              </a:lnSpc>
              <a:buNone/>
            </a:pPr>
            <a:r>
              <a:rPr lang="en-US" sz="3200" b="1" spc="-100" kern="0" dirty="0">
                <a:solidFill>
                  <a:srgbClr val="FFFFFF"/>
                </a:solidFill>
                <a:latin typeface="Geist" pitchFamily="34" charset="0"/>
                <a:ea typeface="Geist" pitchFamily="34" charset="-122"/>
                <a:cs typeface="Geist" pitchFamily="34" charset="-120"/>
              </a:rPr>
              <a:t>Best practice order</a:t>
            </a:r>
            <a:endParaRPr lang="en-US" sz="3200" dirty="0"/>
          </a:p>
        </p:txBody>
      </p:sp>
      <p:sp>
        <p:nvSpPr>
          <p:cNvPr id="7" name="Text 3"/>
          <p:cNvSpPr/>
          <p:nvPr/>
        </p:nvSpPr>
        <p:spPr>
          <a:xfrm>
            <a:off x="563270" y="1993392"/>
            <a:ext cx="8778240" cy="3950208"/>
          </a:xfrm>
          <a:prstGeom prst="rect">
            <a:avLst/>
          </a:prstGeom>
          <a:noFill/>
          <a:ln/>
        </p:spPr>
        <p:txBody>
          <a:bodyPr wrap="square" lIns="0" tIns="0" rIns="0" bIns="0" rtlCol="0" anchor="t"/>
          <a:lstStyle/>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1. Fix — upgrade the dependency, or change the line. Always the first answer.</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2. Remove or replace — do you still need this dependency? Check snyk.io/advisor for a better-maintained alternative.</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3. Ignore — with a reason, an expiry, and ideally someone else's approval. Not the default response.</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Two honest cases for ignoring — a genuine false positive, or no fix exists yet. "Until fix is available" resurfaces it automatically the moment one does, and it is the most defensible ignore you can create.</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A bad case — "not exploitable today." It may be exploitable tomorrow. Fix it anyway.</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After creating, changing or deleting an ignore the Project must be RETESTED before the status updates. A banner on the Project page tells you. Retests run nightly or weekly, or on demand.</a:t>
            </a:r>
            <a:endParaRPr lang="en-US" sz="1400" dirty="0"/>
          </a:p>
        </p:txBody>
      </p:sp>
      <p:sp>
        <p:nvSpPr>
          <p:cNvPr id="8" name="Shape 4"/>
          <p:cNvSpPr/>
          <p:nvPr/>
        </p:nvSpPr>
        <p:spPr>
          <a:xfrm>
            <a:off x="508406" y="6245352"/>
            <a:ext cx="11174882" cy="10973"/>
          </a:xfrm>
          <a:prstGeom prst="rect">
            <a:avLst/>
          </a:prstGeom>
          <a:solidFill>
            <a:srgbClr val="FFFFFF">
              <a:alpha val="12000"/>
            </a:srgbClr>
          </a:solidFill>
          <a:ln/>
        </p:spPr>
      </p:sp>
      <p:pic>
        <p:nvPicPr>
          <p:cNvPr id="9" name="Image 2" descr="assets/logo-snyk-white.png">    </p:cNvPr>
          <p:cNvPicPr>
            <a:picLocks noChangeAspect="1"/>
          </p:cNvPicPr>
          <p:nvPr/>
        </p:nvPicPr>
        <p:blipFill>
          <a:blip r:embed="rId3"/>
          <a:stretch>
            <a:fillRect/>
          </a:stretch>
        </p:blipFill>
        <p:spPr>
          <a:xfrm>
            <a:off x="508406" y="6336792"/>
            <a:ext cx="621792" cy="219456"/>
          </a:xfrm>
          <a:prstGeom prst="rect">
            <a:avLst/>
          </a:prstGeom>
        </p:spPr>
      </p:pic>
      <p:sp>
        <p:nvSpPr>
          <p:cNvPr id="10" name="Text 5"/>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Ignores and approvals</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IGNORE APPROVAL WORKFLOW · SNYK CODE + SECRETS</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The maker/checker step</a:t>
            </a:r>
            <a:endParaRPr lang="en-US" sz="3000" dirty="0"/>
          </a:p>
        </p:txBody>
      </p:sp>
      <p:sp>
        <p:nvSpPr>
          <p:cNvPr id="7" name="Shape 3"/>
          <p:cNvSpPr/>
          <p:nvPr/>
        </p:nvSpPr>
        <p:spPr>
          <a:xfrm>
            <a:off x="508406" y="1993392"/>
            <a:ext cx="5468569" cy="3968496"/>
          </a:xfrm>
          <a:prstGeom prst="roundRect">
            <a:avLst>
              <a:gd name="adj" fmla="val 1613"/>
            </a:avLst>
          </a:prstGeom>
          <a:solidFill>
            <a:srgbClr val="6F00DD">
              <a:alpha val="8000"/>
            </a:srgbClr>
          </a:solidFill>
          <a:ln w="9525">
            <a:solidFill>
              <a:srgbClr val="FFFFFF">
                <a:alpha val="14000"/>
              </a:srgbClr>
            </a:solidFill>
            <a:prstDash val="solid"/>
          </a:ln>
        </p:spPr>
      </p:sp>
      <p:pic>
        <p:nvPicPr>
          <p:cNvPr id="8" name="Image 2" descr="assets/grad_bar_v.png">    </p:cNvPr>
          <p:cNvPicPr>
            <a:picLocks noChangeAspect="1"/>
          </p:cNvPicPr>
          <p:nvPr/>
        </p:nvPicPr>
        <p:blipFill>
          <a:blip r:embed="rId3"/>
          <a:stretch>
            <a:fillRect/>
          </a:stretch>
        </p:blipFill>
        <p:spPr>
          <a:xfrm>
            <a:off x="508406" y="2121408"/>
            <a:ext cx="36576" cy="3712464"/>
          </a:xfrm>
          <a:prstGeom prst="rect">
            <a:avLst/>
          </a:prstGeom>
        </p:spPr>
      </p:pic>
      <p:sp>
        <p:nvSpPr>
          <p:cNvPr id="9" name="Text 4"/>
          <p:cNvSpPr/>
          <p:nvPr/>
        </p:nvSpPr>
        <p:spPr>
          <a:xfrm>
            <a:off x="727862" y="2130552"/>
            <a:ext cx="5066233"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WITHOUT IT, YOU PICK A BAD OPTION</a:t>
            </a:r>
            <a:endParaRPr lang="en-US" sz="850" dirty="0"/>
          </a:p>
        </p:txBody>
      </p:sp>
      <p:sp>
        <p:nvSpPr>
          <p:cNvPr id="10" name="Text 5"/>
          <p:cNvSpPr/>
          <p:nvPr/>
        </p:nvSpPr>
        <p:spPr>
          <a:xfrm>
            <a:off x="727862" y="2368296"/>
            <a:ext cx="5066233"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Both extremes fail</a:t>
            </a:r>
            <a:endParaRPr lang="en-US" sz="1500" dirty="0"/>
          </a:p>
        </p:txBody>
      </p:sp>
      <p:sp>
        <p:nvSpPr>
          <p:cNvPr id="11" name="Text 6"/>
          <p:cNvSpPr/>
          <p:nvPr/>
        </p:nvSpPr>
        <p:spPr>
          <a:xfrm>
            <a:off x="727862" y="2674620"/>
            <a:ext cx="5066233" cy="3159252"/>
          </a:xfrm>
          <a:prstGeom prst="rect">
            <a:avLst/>
          </a:prstGeom>
          <a:noFill/>
          <a:ln/>
        </p:spPr>
        <p:txBody>
          <a:bodyPr wrap="square" lIns="0" tIns="0" rIns="0" bIns="0" rtlCol="0" anchor="t"/>
          <a:lstStyle/>
          <a:p>
            <a:pPr indent="0" marL="0">
              <a:lnSpc>
                <a:spcPts val="1600"/>
              </a:lnSpc>
              <a:buNone/>
            </a:pPr>
            <a:r>
              <a:rPr lang="en-US" sz="1150" dirty="0">
                <a:solidFill>
                  <a:srgbClr val="B8B8CC"/>
                </a:solidFill>
                <a:latin typeface="Geist" pitchFamily="34" charset="0"/>
                <a:ea typeface="Geist" pitchFamily="34" charset="-122"/>
                <a:cs typeface="Geist" pitchFamily="34" charset="-120"/>
              </a:rPr>
              <a:t>Ignores open to everyone → any collaborator can suppress a critical, and AppSec finds out later, if ever.</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Ignores admin-only → a developer blocked by a false positive waits on a ticket queue, so the pressure moves to bypassing the check.</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The hand-built workaround — .snyk entries via PR, approved by security — works for Open Source and does nothing for Snyk Code.</a:t>
            </a:r>
            <a:endParaRPr lang="en-US" sz="1150" dirty="0"/>
          </a:p>
        </p:txBody>
      </p:sp>
      <p:sp>
        <p:nvSpPr>
          <p:cNvPr id="12" name="Shape 7"/>
          <p:cNvSpPr/>
          <p:nvPr/>
        </p:nvSpPr>
        <p:spPr>
          <a:xfrm>
            <a:off x="6214720" y="1993392"/>
            <a:ext cx="5468569" cy="3968496"/>
          </a:xfrm>
          <a:prstGeom prst="roundRect">
            <a:avLst>
              <a:gd name="adj" fmla="val 1613"/>
            </a:avLst>
          </a:prstGeom>
          <a:solidFill>
            <a:srgbClr val="6F00DD">
              <a:alpha val="8000"/>
            </a:srgbClr>
          </a:solidFill>
          <a:ln w="9525">
            <a:solidFill>
              <a:srgbClr val="FFFFFF">
                <a:alpha val="14000"/>
              </a:srgbClr>
            </a:solidFill>
            <a:prstDash val="solid"/>
          </a:ln>
        </p:spPr>
      </p:sp>
      <p:pic>
        <p:nvPicPr>
          <p:cNvPr id="13" name="Image 3" descr="assets/grad_bar_v.png">    </p:cNvPr>
          <p:cNvPicPr>
            <a:picLocks noChangeAspect="1"/>
          </p:cNvPicPr>
          <p:nvPr/>
        </p:nvPicPr>
        <p:blipFill>
          <a:blip r:embed="rId4"/>
          <a:stretch>
            <a:fillRect/>
          </a:stretch>
        </p:blipFill>
        <p:spPr>
          <a:xfrm>
            <a:off x="6214720" y="2121408"/>
            <a:ext cx="36576" cy="3712464"/>
          </a:xfrm>
          <a:prstGeom prst="rect">
            <a:avLst/>
          </a:prstGeom>
        </p:spPr>
      </p:pic>
      <p:sp>
        <p:nvSpPr>
          <p:cNvPr id="14" name="Text 8"/>
          <p:cNvSpPr/>
          <p:nvPr/>
        </p:nvSpPr>
        <p:spPr>
          <a:xfrm>
            <a:off x="6434176" y="2130552"/>
            <a:ext cx="5066233"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WITH IT</a:t>
            </a:r>
            <a:endParaRPr lang="en-US" sz="850" dirty="0"/>
          </a:p>
        </p:txBody>
      </p:sp>
      <p:sp>
        <p:nvSpPr>
          <p:cNvPr id="15" name="Text 9"/>
          <p:cNvSpPr/>
          <p:nvPr/>
        </p:nvSpPr>
        <p:spPr>
          <a:xfrm>
            <a:off x="6434176" y="2368296"/>
            <a:ext cx="5066233"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Propose, then decide</a:t>
            </a:r>
            <a:endParaRPr lang="en-US" sz="1500" dirty="0"/>
          </a:p>
        </p:txBody>
      </p:sp>
      <p:sp>
        <p:nvSpPr>
          <p:cNvPr id="16" name="Text 10"/>
          <p:cNvSpPr/>
          <p:nvPr/>
        </p:nvSpPr>
        <p:spPr>
          <a:xfrm>
            <a:off x="6434176" y="2674620"/>
            <a:ext cx="5066233" cy="3159252"/>
          </a:xfrm>
          <a:prstGeom prst="rect">
            <a:avLst/>
          </a:prstGeom>
          <a:noFill/>
          <a:ln/>
        </p:spPr>
        <p:txBody>
          <a:bodyPr wrap="square" lIns="0" tIns="0" rIns="0" bIns="0" rtlCol="0" anchor="t"/>
          <a:lstStyle/>
          <a:p>
            <a:pPr indent="0" marL="0">
              <a:lnSpc>
                <a:spcPts val="1600"/>
              </a:lnSpc>
              <a:buNone/>
            </a:pPr>
            <a:r>
              <a:rPr lang="en-US" sz="1150" dirty="0">
                <a:solidFill>
                  <a:srgbClr val="B8B8CC"/>
                </a:solidFill>
                <a:latin typeface="Geist" pitchFamily="34" charset="0"/>
                <a:ea typeface="Geist" pitchFamily="34" charset="-122"/>
                <a:cs typeface="Geist" pitchFamily="34" charset="-120"/>
              </a:rPr>
              <a:t>Developer requests the ignore from the IDE, CLI or API, with a reason.</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Request lands in the review queue as PENDING.</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Reviewer approves or rejects — PENDING, APPROVED, REJECTED, CANCELLED, NOT_REQUIRED.</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On approval it applies across CLI, IDE and SCM at the next re-scan, on every branch.</a:t>
            </a:r>
            <a:endParaRPr lang="en-US" sz="1150" dirty="0"/>
          </a:p>
        </p:txBody>
      </p:sp>
      <p:sp>
        <p:nvSpPr>
          <p:cNvPr id="17" name="Shape 11"/>
          <p:cNvSpPr/>
          <p:nvPr/>
        </p:nvSpPr>
        <p:spPr>
          <a:xfrm>
            <a:off x="508406" y="6245352"/>
            <a:ext cx="11174882" cy="10973"/>
          </a:xfrm>
          <a:prstGeom prst="rect">
            <a:avLst/>
          </a:prstGeom>
          <a:solidFill>
            <a:srgbClr val="FFFFFF">
              <a:alpha val="12000"/>
            </a:srgbClr>
          </a:solidFill>
          <a:ln/>
        </p:spPr>
      </p:sp>
      <p:pic>
        <p:nvPicPr>
          <p:cNvPr id="18" name="Image 4" descr="assets/logo-snyk-white.png">    </p:cNvPr>
          <p:cNvPicPr>
            <a:picLocks noChangeAspect="1"/>
          </p:cNvPicPr>
          <p:nvPr/>
        </p:nvPicPr>
        <p:blipFill>
          <a:blip r:embed="rId5"/>
          <a:stretch>
            <a:fillRect/>
          </a:stretch>
        </p:blipFill>
        <p:spPr>
          <a:xfrm>
            <a:off x="508406" y="6336792"/>
            <a:ext cx="621792" cy="219456"/>
          </a:xfrm>
          <a:prstGeom prst="rect">
            <a:avLst/>
          </a:prstGeom>
        </p:spPr>
      </p:pic>
      <p:sp>
        <p:nvSpPr>
          <p:cNvPr id="19" name="Text 12"/>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Ignores and approvals</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30328"/>
        </a:solidFill>
      </p:bgPr>
    </p:bg>
    <p:spTree>
      <p:nvGrpSpPr>
        <p:cNvPr id="1" name=""/>
        <p:cNvGrpSpPr/>
        <p:nvPr/>
      </p:nvGrpSpPr>
      <p:grpSpPr>
        <a:xfrm>
          <a:off x="0" y="0"/>
          <a:ext cx="0" cy="0"/>
          <a:chOff x="0" y="0"/>
          <a:chExt cx="0" cy="0"/>
        </a:xfrm>
      </p:grpSpPr>
      <p:sp>
        <p:nvSpPr>
          <p:cNvPr id="2" name="Shape 0"/>
          <p:cNvSpPr/>
          <p:nvPr/>
        </p:nvSpPr>
        <p:spPr>
          <a:xfrm>
            <a:off x="0" y="5989320"/>
            <a:ext cx="12191695" cy="868680"/>
          </a:xfrm>
          <a:prstGeom prst="rect">
            <a:avLst/>
          </a:prstGeom>
          <a:solidFill>
            <a:srgbClr val="030328"/>
          </a:solidFill>
          <a:ln/>
        </p:spPr>
      </p:sp>
      <p:sp>
        <p:nvSpPr>
          <p:cNvPr id="3"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IGNORE APPROVAL WORKFLOW</a:t>
            </a:r>
            <a:endParaRPr lang="en-US" sz="1050" dirty="0"/>
          </a:p>
        </p:txBody>
      </p:sp>
      <p:pic>
        <p:nvPicPr>
          <p:cNvPr id="4" name="Image 0" descr="assets/logo-snyk-white.png">    </p:cNvPr>
          <p:cNvPicPr>
            <a:picLocks noChangeAspect="1"/>
          </p:cNvPicPr>
          <p:nvPr/>
        </p:nvPicPr>
        <p:blipFill>
          <a:blip r:embed="rId1"/>
          <a:stretch>
            <a:fillRect/>
          </a:stretch>
        </p:blipFill>
        <p:spPr>
          <a:xfrm>
            <a:off x="10796321" y="435254"/>
            <a:ext cx="886968" cy="310896"/>
          </a:xfrm>
          <a:prstGeom prst="rect">
            <a:avLst/>
          </a:prstGeom>
        </p:spPr>
      </p:pic>
      <p:sp>
        <p:nvSpPr>
          <p:cNvPr id="5"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Prerequisites, permissions, caveats</a:t>
            </a:r>
            <a:endParaRPr lang="en-US" sz="3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08406" y="1810512"/>
          <a:ext cx="11174882" cy="914400"/>
        </p:xfrm>
        <a:graphic>
          <a:graphicData uri="http://schemas.openxmlformats.org/drawingml/2006/table">
            <a:tbl>
              <a:tblPr/>
              <a:tblGrid>
                <a:gridCol w="3017520"/>
                <a:gridCol w="8156448"/>
              </a:tblGrid>
              <a:tr h="413309">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Aspect</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Detail</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r>
              <a:tr h="413309">
                <a:tc>
                  <a:txBody>
                    <a:bodyPr/>
                    <a:lstStyle/>
                    <a:p>
                      <a:pPr indent="0" marL="0">
                        <a:buNone/>
                      </a:pPr>
                      <a:r>
                        <a:rPr lang="en-US" sz="1100" b="1" dirty="0">
                          <a:solidFill>
                            <a:srgbClr val="FFFFFF"/>
                          </a:solidFill>
                          <a:latin typeface="Geist" pitchFamily="34" charset="0"/>
                          <a:ea typeface="Geist" pitchFamily="34" charset="-122"/>
                          <a:cs typeface="Geist" pitchFamily="34" charset="-120"/>
                        </a:rPr>
                        <a:t>Scope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Snyk Code AND Snyk Secrets. NOT Open Source — those still go through .snyk, the UI, or Security Policies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413309">
                <a:tc>
                  <a:txBody>
                    <a:bodyPr/>
                    <a:lstStyle/>
                    <a:p>
                      <a:pPr indent="0" marL="0">
                        <a:buNone/>
                      </a:pPr>
                      <a:r>
                        <a:rPr lang="en-US" sz="1100" b="1" dirty="0">
                          <a:solidFill>
                            <a:srgbClr val="FFFFFF"/>
                          </a:solidFill>
                          <a:latin typeface="Geist" pitchFamily="34" charset="0"/>
                          <a:ea typeface="Geist" pitchFamily="34" charset="-122"/>
                          <a:cs typeface="Geist" pitchFamily="34" charset="-120"/>
                        </a:rPr>
                        <a:t>Release stage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Genuinely ambiguous: the release note says GA, the CLI docs still say Early Access. Ask your account team what applies to your tenant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r h="413309">
                <a:tc>
                  <a:txBody>
                    <a:bodyPr/>
                    <a:lstStyle/>
                    <a:p>
                      <a:pPr indent="0" marL="0">
                        <a:buNone/>
                      </a:pPr>
                      <a:r>
                        <a:rPr lang="en-US" sz="1100" b="1" dirty="0">
                          <a:solidFill>
                            <a:srgbClr val="FFFFFF"/>
                          </a:solidFill>
                          <a:latin typeface="Geist" pitchFamily="34" charset="0"/>
                          <a:ea typeface="Geist" pitchFamily="34" charset="-122"/>
                          <a:cs typeface="Geist" pitchFamily="34" charset="-120"/>
                        </a:rPr>
                        <a:t>Dependency</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Snyk Code Consistent Ignores must be enabled first — a hard prerequisite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413309">
                <a:tc>
                  <a:txBody>
                    <a:bodyPr/>
                    <a:lstStyle/>
                    <a:p>
                      <a:pPr indent="0" marL="0">
                        <a:buNone/>
                      </a:pPr>
                      <a:r>
                        <a:rPr lang="en-US" sz="1100" b="1" dirty="0">
                          <a:solidFill>
                            <a:srgbClr val="FFFFFF"/>
                          </a:solidFill>
                          <a:latin typeface="Geist" pitchFamily="34" charset="0"/>
                          <a:ea typeface="Geist" pitchFamily="34" charset="-122"/>
                          <a:cs typeface="Geist" pitchFamily="34" charset="-120"/>
                        </a:rPr>
                        <a:t>Tooling floor</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Snyk CLI v1.1297.1 or later, plus a supported IDE plugin version</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r h="413309">
                <a:tc>
                  <a:txBody>
                    <a:bodyPr/>
                    <a:lstStyle/>
                    <a:p>
                      <a:pPr indent="0" marL="0">
                        <a:buNone/>
                      </a:pPr>
                      <a:r>
                        <a:rPr lang="en-US" sz="1100" b="1" dirty="0">
                          <a:solidFill>
                            <a:srgbClr val="FFFFFF"/>
                          </a:solidFill>
                          <a:latin typeface="Geist" pitchFamily="34" charset="0"/>
                          <a:ea typeface="Geist" pitchFamily="34" charset="-122"/>
                          <a:cs typeface="Geist" pitchFamily="34" charset="-120"/>
                        </a:rPr>
                        <a:t>To request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Collaborator role, or the permission org.project.ignore.create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413309">
                <a:tc>
                  <a:txBody>
                    <a:bodyPr/>
                    <a:lstStyle/>
                    <a:p>
                      <a:pPr indent="0" marL="0">
                        <a:buNone/>
                      </a:pPr>
                      <a:r>
                        <a:rPr lang="en-US" sz="1100" b="1" dirty="0">
                          <a:solidFill>
                            <a:srgbClr val="FFFFFF"/>
                          </a:solidFill>
                          <a:latin typeface="Geist" pitchFamily="34" charset="0"/>
                          <a:ea typeface="Geist" pitchFamily="34" charset="-122"/>
                          <a:cs typeface="Geist" pitchFamily="34" charset="-120"/>
                        </a:rPr>
                        <a:t>To approve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the permission org.policy.ignore.review</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r h="413309">
                <a:tc>
                  <a:txBody>
                    <a:bodyPr/>
                    <a:lstStyle/>
                    <a:p>
                      <a:pPr indent="0" marL="0">
                        <a:buNone/>
                      </a:pPr>
                      <a:r>
                        <a:rPr lang="en-US" sz="1100" b="1" dirty="0">
                          <a:solidFill>
                            <a:srgbClr val="FFFFFF"/>
                          </a:solidFill>
                          <a:latin typeface="Geist" pitchFamily="34" charset="0"/>
                          <a:ea typeface="Geist" pitchFamily="34" charset="-122"/>
                          <a:cs typeface="Geist" pitchFamily="34" charset="-120"/>
                        </a:rPr>
                        <a:t>Request surfaces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IDE, CLI and API. PR comments are NOT a request surface — the inline comment only deep-links to the UI</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413309">
                <a:tc>
                  <a:txBody>
                    <a:bodyPr/>
                    <a:lstStyle/>
                    <a:p>
                      <a:pPr indent="0" marL="0">
                        <a:buNone/>
                      </a:pPr>
                      <a:r>
                        <a:rPr lang="en-US" sz="1100" b="1" dirty="0">
                          <a:solidFill>
                            <a:srgbClr val="FFFFFF"/>
                          </a:solidFill>
                          <a:latin typeface="Geist" pitchFamily="34" charset="0"/>
                          <a:ea typeface="Geist" pitchFamily="34" charset="-122"/>
                          <a:cs typeface="Geist" pitchFamily="34" charset="-120"/>
                        </a:rPr>
                        <a:t>Reviewer blind spot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if the finding never reached a monitored branch, Snyk has no source to render — so push your branch first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r h="413309">
                <a:tc>
                  <a:txBody>
                    <a:bodyPr/>
                    <a:lstStyle/>
                    <a:p>
                      <a:pPr indent="0" marL="0">
                        <a:buNone/>
                      </a:pPr>
                      <a:r>
                        <a:rPr lang="en-US" sz="1100" b="1" dirty="0">
                          <a:solidFill>
                            <a:srgbClr val="FFFFFF"/>
                          </a:solidFill>
                          <a:latin typeface="Geist" pitchFamily="34" charset="0"/>
                          <a:ea typeface="Geist" pitchFamily="34" charset="-122"/>
                          <a:cs typeface="Geist" pitchFamily="34" charset="-120"/>
                        </a:rPr>
                        <a:t>Notifications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every reviewer is notified for every request; requests are not assigned. Agree a rota</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bl>
          </a:graphicData>
        </a:graphic>
      </p:graphicFrame>
      <p:sp>
        <p:nvSpPr>
          <p:cNvPr id="7" name="Shape 3"/>
          <p:cNvSpPr/>
          <p:nvPr/>
        </p:nvSpPr>
        <p:spPr>
          <a:xfrm>
            <a:off x="508406" y="6245352"/>
            <a:ext cx="11174882" cy="10973"/>
          </a:xfrm>
          <a:prstGeom prst="rect">
            <a:avLst/>
          </a:prstGeom>
          <a:solidFill>
            <a:srgbClr val="FFFFFF">
              <a:alpha val="12000"/>
            </a:srgbClr>
          </a:solidFill>
          <a:ln/>
        </p:spPr>
      </p:sp>
      <p:pic>
        <p:nvPicPr>
          <p:cNvPr id="8" name="Image 1" descr="assets/logo-snyk-white.png">    </p:cNvPr>
          <p:cNvPicPr>
            <a:picLocks noChangeAspect="1"/>
          </p:cNvPicPr>
          <p:nvPr/>
        </p:nvPicPr>
        <p:blipFill>
          <a:blip r:embed="rId2"/>
          <a:stretch>
            <a:fillRect/>
          </a:stretch>
        </p:blipFill>
        <p:spPr>
          <a:xfrm>
            <a:off x="508406" y="6336792"/>
            <a:ext cx="621792" cy="219456"/>
          </a:xfrm>
          <a:prstGeom prst="rect">
            <a:avLst/>
          </a:prstGeom>
        </p:spPr>
      </p:pic>
      <p:sp>
        <p:nvSpPr>
          <p:cNvPr id="9" name="Text 4"/>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Ignores and approvals</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30328"/>
        </a:solidFill>
      </p:bgPr>
    </p:bg>
    <p:spTree>
      <p:nvGrpSpPr>
        <p:cNvPr id="1" name=""/>
        <p:cNvGrpSpPr/>
        <p:nvPr/>
      </p:nvGrpSpPr>
      <p:grpSpPr>
        <a:xfrm>
          <a:off x="0" y="0"/>
          <a:ext cx="0" cy="0"/>
          <a:chOff x="0" y="0"/>
          <a:chExt cx="0" cy="0"/>
        </a:xfrm>
      </p:grpSpPr>
      <p:pic>
        <p:nvPicPr>
          <p:cNvPr id="2" name="Image 0" descr="assets/ULC_Fabric_Gradient.png">    </p:cNvPr>
          <p:cNvPicPr>
            <a:picLocks noChangeAspect="1"/>
          </p:cNvPicPr>
          <p:nvPr/>
        </p:nvPicPr>
        <p:blipFill>
          <a:blip r:embed="rId1">
            <a:alphaModFix amt="68000"/>
          </a:blip>
          <a:stretch>
            <a:fillRect/>
          </a:stretch>
        </p:blipFill>
        <p:spPr>
          <a:xfrm>
            <a:off x="-320040" y="-320040"/>
            <a:ext cx="4114800" cy="4114800"/>
          </a:xfrm>
          <a:prstGeom prst="rect">
            <a:avLst/>
          </a:prstGeom>
        </p:spPr>
      </p:pic>
      <p:pic>
        <p:nvPicPr>
          <p:cNvPr id="3" name="Image 1" descr="assets/BRC_Fabric_Gradient.png">    </p:cNvPr>
          <p:cNvPicPr>
            <a:picLocks noChangeAspect="1"/>
          </p:cNvPicPr>
          <p:nvPr/>
        </p:nvPicPr>
        <p:blipFill>
          <a:blip r:embed="rId2">
            <a:alphaModFix amt="54000"/>
          </a:blip>
          <a:stretch>
            <a:fillRect/>
          </a:stretch>
        </p:blipFill>
        <p:spPr>
          <a:xfrm>
            <a:off x="8808415" y="2697480"/>
            <a:ext cx="3657600" cy="3657600"/>
          </a:xfrm>
          <a:prstGeom prst="rect">
            <a:avLst/>
          </a:prstGeom>
        </p:spPr>
      </p:pic>
      <p:sp>
        <p:nvSpPr>
          <p:cNvPr id="4" name="Shape 0"/>
          <p:cNvSpPr/>
          <p:nvPr/>
        </p:nvSpPr>
        <p:spPr>
          <a:xfrm>
            <a:off x="0" y="5989320"/>
            <a:ext cx="12191695" cy="868680"/>
          </a:xfrm>
          <a:prstGeom prst="rect">
            <a:avLst/>
          </a:prstGeom>
          <a:solidFill>
            <a:srgbClr val="030328"/>
          </a:solidFill>
          <a:ln/>
        </p:spPr>
      </p:sp>
      <p:sp>
        <p:nvSpPr>
          <p:cNvPr id="5"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PART SEVEN</a:t>
            </a:r>
            <a:endParaRPr lang="en-US" sz="1050" dirty="0"/>
          </a:p>
        </p:txBody>
      </p:sp>
      <p:pic>
        <p:nvPicPr>
          <p:cNvPr id="6" name="Image 2" descr="assets/logo-snyk-white.png">    </p:cNvPr>
          <p:cNvPicPr>
            <a:picLocks noChangeAspect="1"/>
          </p:cNvPicPr>
          <p:nvPr/>
        </p:nvPicPr>
        <p:blipFill>
          <a:blip r:embed="rId3"/>
          <a:stretch>
            <a:fillRect/>
          </a:stretch>
        </p:blipFill>
        <p:spPr>
          <a:xfrm>
            <a:off x="10796321" y="435254"/>
            <a:ext cx="886968" cy="310896"/>
          </a:xfrm>
          <a:prstGeom prst="rect">
            <a:avLst/>
          </a:prstGeom>
        </p:spPr>
      </p:pic>
      <p:pic>
        <p:nvPicPr>
          <p:cNvPr id="7" name="Image 3" descr="assets/grad_bar_v.png">    </p:cNvPr>
          <p:cNvPicPr>
            <a:picLocks noChangeAspect="1"/>
          </p:cNvPicPr>
          <p:nvPr/>
        </p:nvPicPr>
        <p:blipFill>
          <a:blip r:embed="rId4"/>
          <a:stretch>
            <a:fillRect/>
          </a:stretch>
        </p:blipFill>
        <p:spPr>
          <a:xfrm>
            <a:off x="508406" y="2240280"/>
            <a:ext cx="50292" cy="1691640"/>
          </a:xfrm>
          <a:prstGeom prst="rect">
            <a:avLst/>
          </a:prstGeom>
        </p:spPr>
      </p:pic>
      <p:sp>
        <p:nvSpPr>
          <p:cNvPr id="8" name="Text 2"/>
          <p:cNvSpPr/>
          <p:nvPr/>
        </p:nvSpPr>
        <p:spPr>
          <a:xfrm>
            <a:off x="819302" y="2148840"/>
            <a:ext cx="1828800" cy="640080"/>
          </a:xfrm>
          <a:prstGeom prst="rect">
            <a:avLst/>
          </a:prstGeom>
          <a:noFill/>
          <a:ln/>
        </p:spPr>
        <p:txBody>
          <a:bodyPr wrap="square" lIns="0" tIns="0" rIns="0" bIns="0" rtlCol="0" anchor="ctr"/>
          <a:lstStyle/>
          <a:p>
            <a:pPr indent="0" marL="0">
              <a:buNone/>
            </a:pPr>
            <a:r>
              <a:rPr lang="en-US" sz="2200" b="1" spc="100" kern="0" dirty="0">
                <a:solidFill>
                  <a:srgbClr val="8A8AA3"/>
                </a:solidFill>
                <a:latin typeface="Geist Mono" pitchFamily="34" charset="0"/>
                <a:ea typeface="Geist Mono" pitchFamily="34" charset="-122"/>
                <a:cs typeface="Geist Mono" pitchFamily="34" charset="-120"/>
              </a:rPr>
              <a:t>07</a:t>
            </a:r>
            <a:endParaRPr lang="en-US" sz="2200" dirty="0"/>
          </a:p>
        </p:txBody>
      </p:sp>
      <p:sp>
        <p:nvSpPr>
          <p:cNvPr id="9" name="Text 3"/>
          <p:cNvSpPr/>
          <p:nvPr/>
        </p:nvSpPr>
        <p:spPr>
          <a:xfrm>
            <a:off x="819302" y="2697480"/>
            <a:ext cx="10077602" cy="1280160"/>
          </a:xfrm>
          <a:prstGeom prst="rect">
            <a:avLst/>
          </a:prstGeom>
          <a:noFill/>
          <a:ln/>
        </p:spPr>
        <p:txBody>
          <a:bodyPr wrap="square" lIns="0" tIns="0" rIns="0" bIns="0" rtlCol="0" anchor="ctr"/>
          <a:lstStyle/>
          <a:p>
            <a:pPr indent="0" marL="0">
              <a:lnSpc>
                <a:spcPts val="4800"/>
              </a:lnSpc>
              <a:buNone/>
            </a:pPr>
            <a:r>
              <a:rPr lang="en-US" sz="4600" b="1" spc="-150" kern="0" dirty="0">
                <a:solidFill>
                  <a:srgbClr val="FFFFFF"/>
                </a:solidFill>
                <a:latin typeface="Geist" pitchFamily="34" charset="0"/>
                <a:ea typeface="Geist" pitchFamily="34" charset="-122"/>
                <a:cs typeface="Geist" pitchFamily="34" charset="-120"/>
              </a:rPr>
              <a:t>Fix, and gate</a:t>
            </a:r>
            <a:endParaRPr lang="en-US" sz="4600" dirty="0"/>
          </a:p>
        </p:txBody>
      </p:sp>
      <p:sp>
        <p:nvSpPr>
          <p:cNvPr id="10" name="Text 4"/>
          <p:cNvSpPr/>
          <p:nvPr/>
        </p:nvSpPr>
        <p:spPr>
          <a:xfrm>
            <a:off x="819302" y="4041648"/>
            <a:ext cx="6949440" cy="731520"/>
          </a:xfrm>
          <a:prstGeom prst="rect">
            <a:avLst/>
          </a:prstGeom>
          <a:noFill/>
          <a:ln/>
        </p:spPr>
        <p:txBody>
          <a:bodyPr wrap="square" lIns="0" tIns="0" rIns="0" bIns="0" rtlCol="0" anchor="ctr"/>
          <a:lstStyle/>
          <a:p>
            <a:pPr indent="0" marL="0">
              <a:lnSpc>
                <a:spcPts val="2200"/>
              </a:lnSpc>
              <a:buNone/>
            </a:pPr>
            <a:r>
              <a:rPr lang="en-US" sz="1400" dirty="0">
                <a:solidFill>
                  <a:srgbClr val="B8B8CC"/>
                </a:solidFill>
                <a:latin typeface="Geist" pitchFamily="34" charset="0"/>
                <a:ea typeface="Geist" pitchFamily="34" charset="-122"/>
                <a:cs typeface="Geist" pitchFamily="34" charset="-120"/>
              </a:rPr>
              <a:t>Manual fixes, three AI paths, and the pull-request check.</a:t>
            </a:r>
            <a:endParaRPr lang="en-US" sz="1400" dirty="0"/>
          </a:p>
        </p:txBody>
      </p:sp>
      <p:sp>
        <p:nvSpPr>
          <p:cNvPr id="11" name="Shape 5"/>
          <p:cNvSpPr/>
          <p:nvPr/>
        </p:nvSpPr>
        <p:spPr>
          <a:xfrm>
            <a:off x="508406" y="6245352"/>
            <a:ext cx="11174882" cy="10973"/>
          </a:xfrm>
          <a:prstGeom prst="rect">
            <a:avLst/>
          </a:prstGeom>
          <a:solidFill>
            <a:srgbClr val="FFFFFF">
              <a:alpha val="12000"/>
            </a:srgbClr>
          </a:solidFill>
          <a:ln/>
        </p:spPr>
      </p:sp>
      <p:pic>
        <p:nvPicPr>
          <p:cNvPr id="12" name="Image 4" descr="assets/logo-snyk-white.png">    </p:cNvPr>
          <p:cNvPicPr>
            <a:picLocks noChangeAspect="1"/>
          </p:cNvPicPr>
          <p:nvPr/>
        </p:nvPicPr>
        <p:blipFill>
          <a:blip r:embed="rId5"/>
          <a:stretch>
            <a:fillRect/>
          </a:stretch>
        </p:blipFill>
        <p:spPr>
          <a:xfrm>
            <a:off x="508406" y="6336792"/>
            <a:ext cx="621792" cy="219456"/>
          </a:xfrm>
          <a:prstGeom prst="rect">
            <a:avLst/>
          </a:prstGeom>
        </p:spPr>
      </p:pic>
      <p:sp>
        <p:nvSpPr>
          <p:cNvPr id="13" name="Text 6"/>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Fix, and gate</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35</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30328"/>
        </a:solidFill>
      </p:bgPr>
    </p:bg>
    <p:spTree>
      <p:nvGrpSpPr>
        <p:cNvPr id="1" name=""/>
        <p:cNvGrpSpPr/>
        <p:nvPr/>
      </p:nvGrpSpPr>
      <p:grpSpPr>
        <a:xfrm>
          <a:off x="0" y="0"/>
          <a:ext cx="0" cy="0"/>
          <a:chOff x="0" y="0"/>
          <a:chExt cx="0" cy="0"/>
        </a:xfrm>
      </p:grpSpPr>
      <p:sp>
        <p:nvSpPr>
          <p:cNvPr id="2" name="Shape 0"/>
          <p:cNvSpPr/>
          <p:nvPr/>
        </p:nvSpPr>
        <p:spPr>
          <a:xfrm>
            <a:off x="0" y="5989320"/>
            <a:ext cx="12191695" cy="868680"/>
          </a:xfrm>
          <a:prstGeom prst="rect">
            <a:avLst/>
          </a:prstGeom>
          <a:solidFill>
            <a:srgbClr val="030328"/>
          </a:solidFill>
          <a:ln/>
        </p:spPr>
      </p:sp>
      <p:sp>
        <p:nvSpPr>
          <p:cNvPr id="3"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FIX OPEN SOURCE</a:t>
            </a:r>
            <a:endParaRPr lang="en-US" sz="1050" dirty="0"/>
          </a:p>
        </p:txBody>
      </p:sp>
      <p:pic>
        <p:nvPicPr>
          <p:cNvPr id="4" name="Image 0" descr="assets/logo-snyk-white.png">    </p:cNvPr>
          <p:cNvPicPr>
            <a:picLocks noChangeAspect="1"/>
          </p:cNvPicPr>
          <p:nvPr/>
        </p:nvPicPr>
        <p:blipFill>
          <a:blip r:embed="rId1"/>
          <a:stretch>
            <a:fillRect/>
          </a:stretch>
        </p:blipFill>
        <p:spPr>
          <a:xfrm>
            <a:off x="10796321" y="435254"/>
            <a:ext cx="886968" cy="310896"/>
          </a:xfrm>
          <a:prstGeom prst="rect">
            <a:avLst/>
          </a:prstGeom>
        </p:spPr>
      </p:pic>
      <p:sp>
        <p:nvSpPr>
          <p:cNvPr id="5"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Change the version, then prove the build</a:t>
            </a:r>
            <a:endParaRPr lang="en-US" sz="3000" dirty="0"/>
          </a:p>
        </p:txBody>
      </p:sp>
      <p:sp>
        <p:nvSpPr>
          <p:cNvPr id="6" name="Text 3"/>
          <p:cNvSpPr/>
          <p:nvPr/>
        </p:nvSpPr>
        <p:spPr>
          <a:xfrm>
            <a:off x="508406" y="1773936"/>
            <a:ext cx="10607040" cy="402336"/>
          </a:xfrm>
          <a:prstGeom prst="rect">
            <a:avLst/>
          </a:prstGeom>
          <a:noFill/>
          <a:ln/>
        </p:spPr>
        <p:txBody>
          <a:bodyPr wrap="square" lIns="0" tIns="0" rIns="0" bIns="0" rtlCol="0" anchor="ctr"/>
          <a:lstStyle/>
          <a:p>
            <a:pPr indent="0" marL="0">
              <a:lnSpc>
                <a:spcPts val="1900"/>
              </a:lnSpc>
              <a:buNone/>
            </a:pPr>
            <a:r>
              <a:rPr lang="en-US" sz="1250" dirty="0">
                <a:solidFill>
                  <a:srgbClr val="8A8AA3"/>
                </a:solidFill>
                <a:latin typeface="Geist" pitchFamily="34" charset="0"/>
                <a:ea typeface="Geist" pitchFamily="34" charset="-122"/>
                <a:cs typeface="Geist" pitchFamily="34" charset="-120"/>
              </a:rPr>
              <a:t>Snyk recommends the smallest upgrade that resolves the issue. Sometimes the smallest upgrade is still a major version — or seven of them.</a:t>
            </a:r>
            <a:endParaRPr lang="en-US" sz="1250" dirty="0"/>
          </a:p>
        </p:txBody>
      </p:sp>
      <p:sp>
        <p:nvSpPr>
          <p:cNvPr id="7" name="Shape 4"/>
          <p:cNvSpPr/>
          <p:nvPr/>
        </p:nvSpPr>
        <p:spPr>
          <a:xfrm>
            <a:off x="508406" y="2286000"/>
            <a:ext cx="5459425" cy="3657600"/>
          </a:xfrm>
          <a:prstGeom prst="roundRect">
            <a:avLst>
              <a:gd name="adj" fmla="val 1750"/>
            </a:avLst>
          </a:prstGeom>
          <a:solidFill>
            <a:srgbClr val="0B0B2E"/>
          </a:solidFill>
          <a:ln w="9525">
            <a:solidFill>
              <a:srgbClr val="FFFFFF">
                <a:alpha val="12000"/>
              </a:srgbClr>
            </a:solidFill>
            <a:prstDash val="solid"/>
          </a:ln>
        </p:spPr>
      </p:sp>
      <p:pic>
        <p:nvPicPr>
          <p:cNvPr id="8" name="Image 1" descr="assets/grad_bar_h.png">    </p:cNvPr>
          <p:cNvPicPr>
            <a:picLocks noChangeAspect="1"/>
          </p:cNvPicPr>
          <p:nvPr/>
        </p:nvPicPr>
        <p:blipFill>
          <a:blip r:embed="rId2"/>
          <a:stretch>
            <a:fillRect/>
          </a:stretch>
        </p:blipFill>
        <p:spPr>
          <a:xfrm>
            <a:off x="691286" y="2487168"/>
            <a:ext cx="777240" cy="32004"/>
          </a:xfrm>
          <a:prstGeom prst="rect">
            <a:avLst/>
          </a:prstGeom>
        </p:spPr>
      </p:pic>
      <p:sp>
        <p:nvSpPr>
          <p:cNvPr id="9" name="Text 5"/>
          <p:cNvSpPr/>
          <p:nvPr/>
        </p:nvSpPr>
        <p:spPr>
          <a:xfrm>
            <a:off x="691286" y="2596896"/>
            <a:ext cx="5093665" cy="237744"/>
          </a:xfrm>
          <a:prstGeom prst="rect">
            <a:avLst/>
          </a:prstGeom>
          <a:noFill/>
          <a:ln/>
        </p:spPr>
        <p:txBody>
          <a:bodyPr wrap="square" lIns="0" tIns="0" rIns="0" bIns="0" rtlCol="0" anchor="ctr"/>
          <a:lstStyle/>
          <a:p>
            <a:pPr indent="0" marL="0">
              <a:buNone/>
            </a:pPr>
            <a:r>
              <a:rPr lang="en-US" sz="850" b="1" spc="180" kern="0" dirty="0">
                <a:solidFill>
                  <a:srgbClr val="8A8AA3"/>
                </a:solidFill>
                <a:latin typeface="Geist Mono" pitchFamily="34" charset="0"/>
                <a:ea typeface="Geist Mono" pitchFamily="34" charset="-122"/>
                <a:cs typeface="Geist Mono" pitchFamily="34" charset="-120"/>
              </a:rPr>
              <a:t>THE EDIT — PACKAGE.JSON</a:t>
            </a:r>
            <a:endParaRPr lang="en-US" sz="850" dirty="0"/>
          </a:p>
        </p:txBody>
      </p:sp>
      <p:sp>
        <p:nvSpPr>
          <p:cNvPr id="10" name="Text 6"/>
          <p:cNvSpPr/>
          <p:nvPr/>
        </p:nvSpPr>
        <p:spPr>
          <a:xfrm>
            <a:off x="691286" y="2889504"/>
            <a:ext cx="5111953" cy="2871216"/>
          </a:xfrm>
          <a:prstGeom prst="rect">
            <a:avLst/>
          </a:prstGeom>
          <a:noFill/>
          <a:ln/>
        </p:spPr>
        <p:txBody>
          <a:bodyPr wrap="square" lIns="0" tIns="0" rIns="0" bIns="0" rtlCol="0" anchor="t"/>
          <a:lstStyle/>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 "express-jwt":    "0.1.3"     # exact pin</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 "express-jwt":    "^8.5.1"</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 "jsonwebtoken":   "0.4.0"     # exact pin</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 "jsonwebtoken":   "^9.0.2"</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 "sanitize-html":  "1.4.2"     # exact pin</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 "sanitize-html":  "^2.17.0"</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 "js-yaml":        "^3.14.0"</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 "js-yaml":        "^4.1.0"</a:t>
            </a:r>
            <a:endParaRPr lang="en-US" sz="900" dirty="0"/>
          </a:p>
        </p:txBody>
      </p:sp>
      <p:sp>
        <p:nvSpPr>
          <p:cNvPr id="11" name="Shape 7"/>
          <p:cNvSpPr/>
          <p:nvPr/>
        </p:nvSpPr>
        <p:spPr>
          <a:xfrm>
            <a:off x="6223864" y="2286000"/>
            <a:ext cx="5459425" cy="3657600"/>
          </a:xfrm>
          <a:prstGeom prst="roundRect">
            <a:avLst>
              <a:gd name="adj" fmla="val 1750"/>
            </a:avLst>
          </a:prstGeom>
          <a:solidFill>
            <a:srgbClr val="0B0B2E"/>
          </a:solidFill>
          <a:ln w="9525">
            <a:solidFill>
              <a:srgbClr val="FFFFFF">
                <a:alpha val="12000"/>
              </a:srgbClr>
            </a:solidFill>
            <a:prstDash val="solid"/>
          </a:ln>
        </p:spPr>
      </p:sp>
      <p:pic>
        <p:nvPicPr>
          <p:cNvPr id="12" name="Image 2" descr="assets/grad_bar_h.png">    </p:cNvPr>
          <p:cNvPicPr>
            <a:picLocks noChangeAspect="1"/>
          </p:cNvPicPr>
          <p:nvPr/>
        </p:nvPicPr>
        <p:blipFill>
          <a:blip r:embed="rId3"/>
          <a:stretch>
            <a:fillRect/>
          </a:stretch>
        </p:blipFill>
        <p:spPr>
          <a:xfrm>
            <a:off x="6406744" y="2487168"/>
            <a:ext cx="777240" cy="32004"/>
          </a:xfrm>
          <a:prstGeom prst="rect">
            <a:avLst/>
          </a:prstGeom>
        </p:spPr>
      </p:pic>
      <p:sp>
        <p:nvSpPr>
          <p:cNvPr id="13" name="Text 8"/>
          <p:cNvSpPr/>
          <p:nvPr/>
        </p:nvSpPr>
        <p:spPr>
          <a:xfrm>
            <a:off x="6406744" y="2596896"/>
            <a:ext cx="5093665" cy="237744"/>
          </a:xfrm>
          <a:prstGeom prst="rect">
            <a:avLst/>
          </a:prstGeom>
          <a:noFill/>
          <a:ln/>
        </p:spPr>
        <p:txBody>
          <a:bodyPr wrap="square" lIns="0" tIns="0" rIns="0" bIns="0" rtlCol="0" anchor="ctr"/>
          <a:lstStyle/>
          <a:p>
            <a:pPr indent="0" marL="0">
              <a:buNone/>
            </a:pPr>
            <a:r>
              <a:rPr lang="en-US" sz="850" b="1" spc="180" kern="0" dirty="0">
                <a:solidFill>
                  <a:srgbClr val="8A8AA3"/>
                </a:solidFill>
                <a:latin typeface="Geist Mono" pitchFamily="34" charset="0"/>
                <a:ea typeface="Geist Mono" pitchFamily="34" charset="-122"/>
                <a:cs typeface="Geist Mono" pitchFamily="34" charset="-120"/>
              </a:rPr>
              <a:t>THE PROOF</a:t>
            </a:r>
            <a:endParaRPr lang="en-US" sz="850" dirty="0"/>
          </a:p>
        </p:txBody>
      </p:sp>
      <p:sp>
        <p:nvSpPr>
          <p:cNvPr id="14" name="Text 9"/>
          <p:cNvSpPr/>
          <p:nvPr/>
        </p:nvSpPr>
        <p:spPr>
          <a:xfrm>
            <a:off x="6406744" y="2889504"/>
            <a:ext cx="5111953" cy="2871216"/>
          </a:xfrm>
          <a:prstGeom prst="rect">
            <a:avLst/>
          </a:prstGeom>
          <a:noFill/>
          <a:ln/>
        </p:spPr>
        <p:txBody>
          <a:bodyPr wrap="square" lIns="0" tIns="0" rIns="0" bIns="0" rtlCol="0" anchor="t"/>
          <a:lstStyle/>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npm install</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npm run build      # ← lib/insecurity.ts BREAKS HERE</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npm run test:server &amp;&amp; npm run test:api</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snyk test --all-projects</a:t>
            </a:r>
            <a:endParaRPr lang="en-US" sz="900" dirty="0"/>
          </a:p>
          <a:p>
            <a:pPr indent="0" marL="0">
              <a:lnSpc>
                <a:spcPts val="1395"/>
              </a:lnSpc>
              <a:buNone/>
            </a:pP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 a security upgrade IS a code change.</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 the build and the tests are how you find out.</a:t>
            </a:r>
            <a:endParaRPr lang="en-US" sz="900" dirty="0"/>
          </a:p>
          <a:p>
            <a:pPr indent="0" marL="0">
              <a:lnSpc>
                <a:spcPts val="1395"/>
              </a:lnSpc>
              <a:buNone/>
            </a:pP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 no upgrade path? remove it, replace it</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 (snyk.io/advisor), or ignore with a review date.</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 snyk protect is DEPRECATED — do not patch.</a:t>
            </a:r>
            <a:endParaRPr lang="en-US" sz="900" dirty="0"/>
          </a:p>
        </p:txBody>
      </p:sp>
      <p:sp>
        <p:nvSpPr>
          <p:cNvPr id="15" name="Shape 10"/>
          <p:cNvSpPr/>
          <p:nvPr/>
        </p:nvSpPr>
        <p:spPr>
          <a:xfrm>
            <a:off x="508406" y="6245352"/>
            <a:ext cx="11174882" cy="10973"/>
          </a:xfrm>
          <a:prstGeom prst="rect">
            <a:avLst/>
          </a:prstGeom>
          <a:solidFill>
            <a:srgbClr val="FFFFFF">
              <a:alpha val="12000"/>
            </a:srgbClr>
          </a:solidFill>
          <a:ln/>
        </p:spPr>
      </p:sp>
      <p:pic>
        <p:nvPicPr>
          <p:cNvPr id="16" name="Image 3" descr="assets/logo-snyk-white.png">    </p:cNvPr>
          <p:cNvPicPr>
            <a:picLocks noChangeAspect="1"/>
          </p:cNvPicPr>
          <p:nvPr/>
        </p:nvPicPr>
        <p:blipFill>
          <a:blip r:embed="rId4"/>
          <a:stretch>
            <a:fillRect/>
          </a:stretch>
        </p:blipFill>
        <p:spPr>
          <a:xfrm>
            <a:off x="508406" y="6336792"/>
            <a:ext cx="621792" cy="219456"/>
          </a:xfrm>
          <a:prstGeom prst="rect">
            <a:avLst/>
          </a:prstGeom>
        </p:spPr>
      </p:pic>
      <p:sp>
        <p:nvSpPr>
          <p:cNvPr id="17" name="Text 11"/>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Fix, and gate</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36</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30328"/>
        </a:solidFill>
      </p:bgPr>
    </p:bg>
    <p:spTree>
      <p:nvGrpSpPr>
        <p:cNvPr id="1" name=""/>
        <p:cNvGrpSpPr/>
        <p:nvPr/>
      </p:nvGrpSpPr>
      <p:grpSpPr>
        <a:xfrm>
          <a:off x="0" y="0"/>
          <a:ext cx="0" cy="0"/>
          <a:chOff x="0" y="0"/>
          <a:chExt cx="0" cy="0"/>
        </a:xfrm>
      </p:grpSpPr>
      <p:sp>
        <p:nvSpPr>
          <p:cNvPr id="2" name="Shape 0"/>
          <p:cNvSpPr/>
          <p:nvPr/>
        </p:nvSpPr>
        <p:spPr>
          <a:xfrm>
            <a:off x="0" y="5989320"/>
            <a:ext cx="12191695" cy="868680"/>
          </a:xfrm>
          <a:prstGeom prst="rect">
            <a:avLst/>
          </a:prstGeom>
          <a:solidFill>
            <a:srgbClr val="030328"/>
          </a:solidFill>
          <a:ln/>
        </p:spPr>
      </p:sp>
      <p:sp>
        <p:nvSpPr>
          <p:cNvPr id="3"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FIX SNYK CODE</a:t>
            </a:r>
            <a:endParaRPr lang="en-US" sz="1050" dirty="0"/>
          </a:p>
        </p:txBody>
      </p:sp>
      <p:pic>
        <p:nvPicPr>
          <p:cNvPr id="4" name="Image 0" descr="assets/logo-snyk-white.png">    </p:cNvPr>
          <p:cNvPicPr>
            <a:picLocks noChangeAspect="1"/>
          </p:cNvPicPr>
          <p:nvPr/>
        </p:nvPicPr>
        <p:blipFill>
          <a:blip r:embed="rId1"/>
          <a:stretch>
            <a:fillRect/>
          </a:stretch>
        </p:blipFill>
        <p:spPr>
          <a:xfrm>
            <a:off x="10796321" y="435254"/>
            <a:ext cx="886968" cy="310896"/>
          </a:xfrm>
          <a:prstGeom prst="rect">
            <a:avLst/>
          </a:prstGeom>
        </p:spPr>
      </p:pic>
      <p:sp>
        <p:nvSpPr>
          <p:cNvPr id="5"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Real files, real flaws, highest value first</a:t>
            </a:r>
            <a:endParaRPr lang="en-US" sz="3000" dirty="0"/>
          </a:p>
        </p:txBody>
      </p:sp>
      <p:sp>
        <p:nvSpPr>
          <p:cNvPr id="6" name="Text 3"/>
          <p:cNvSpPr/>
          <p:nvPr/>
        </p:nvSpPr>
        <p:spPr>
          <a:xfrm>
            <a:off x="508406" y="1755648"/>
            <a:ext cx="10424160" cy="384048"/>
          </a:xfrm>
          <a:prstGeom prst="rect">
            <a:avLst/>
          </a:prstGeom>
          <a:noFill/>
          <a:ln/>
        </p:spPr>
        <p:txBody>
          <a:bodyPr wrap="square" lIns="0" tIns="0" rIns="0" bIns="0" rtlCol="0" anchor="ctr"/>
          <a:lstStyle/>
          <a:p>
            <a:pPr indent="0" marL="0">
              <a:lnSpc>
                <a:spcPts val="1900"/>
              </a:lnSpc>
              <a:buNone/>
            </a:pPr>
            <a:r>
              <a:rPr lang="en-US" sz="1250" dirty="0">
                <a:solidFill>
                  <a:srgbClr val="8A8AA3"/>
                </a:solidFill>
                <a:latin typeface="Geist" pitchFamily="34" charset="0"/>
                <a:ea typeface="Geist" pitchFamily="34" charset="-122"/>
                <a:cs typeface="Geist" pitchFamily="34" charset="-120"/>
              </a:rPr>
              <a:t>Every path below exists in this repository. Dependency bumps do not touch any of them.</a:t>
            </a:r>
            <a:endParaRPr lang="en-US" sz="12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08406" y="2231136"/>
          <a:ext cx="11174882" cy="914400"/>
        </p:xfrm>
        <a:graphic>
          <a:graphicData uri="http://schemas.openxmlformats.org/drawingml/2006/table">
            <a:tbl>
              <a:tblPr/>
              <a:tblGrid>
                <a:gridCol w="3749040"/>
                <a:gridCol w="2743200"/>
                <a:gridCol w="4681728"/>
              </a:tblGrid>
              <a:tr h="371246">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File</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Flaw</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The fix, in one line</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r>
              <a:tr h="371246">
                <a:tc>
                  <a:txBody>
                    <a:bodyPr/>
                    <a:lstStyle/>
                    <a:p>
                      <a:pPr indent="0" marL="0">
                        <a:buNone/>
                      </a:pPr>
                      <a:r>
                        <a:rPr lang="en-US" sz="1100" b="1" dirty="0">
                          <a:solidFill>
                            <a:srgbClr val="FFFFFF"/>
                          </a:solidFill>
                          <a:latin typeface="Geist" pitchFamily="34" charset="0"/>
                          <a:ea typeface="Geist" pitchFamily="34" charset="-122"/>
                          <a:cs typeface="Geist" pitchFamily="34" charset="-120"/>
                        </a:rPr>
                        <a:t>routes/login.ts:34</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SQL injection (CWE-89)</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parameterize; never interpolate into SQL</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371246">
                <a:tc>
                  <a:txBody>
                    <a:bodyPr/>
                    <a:lstStyle/>
                    <a:p>
                      <a:pPr indent="0" marL="0">
                        <a:buNone/>
                      </a:pPr>
                      <a:r>
                        <a:rPr lang="en-US" sz="1100" b="1" dirty="0">
                          <a:solidFill>
                            <a:srgbClr val="FFFFFF"/>
                          </a:solidFill>
                          <a:latin typeface="Geist" pitchFamily="34" charset="0"/>
                          <a:ea typeface="Geist" pitchFamily="34" charset="-122"/>
                          <a:cs typeface="Geist" pitchFamily="34" charset="-120"/>
                        </a:rPr>
                        <a:t>routes/search.ts:23</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UNION SQLi (CWE-89)</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query builder or bound parameters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r h="371246">
                <a:tc>
                  <a:txBody>
                    <a:bodyPr/>
                    <a:lstStyle/>
                    <a:p>
                      <a:pPr indent="0" marL="0">
                        <a:buNone/>
                      </a:pPr>
                      <a:r>
                        <a:rPr lang="en-US" sz="1100" b="1" dirty="0">
                          <a:solidFill>
                            <a:srgbClr val="FFFFFF"/>
                          </a:solidFill>
                          <a:latin typeface="Geist" pitchFamily="34" charset="0"/>
                          <a:ea typeface="Geist" pitchFamily="34" charset="-122"/>
                          <a:cs typeface="Geist" pitchFamily="34" charset="-120"/>
                        </a:rPr>
                        <a:t>routes/trackOrder.ts:18</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NoSQL injection (CWE-943)</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field equality; never build $where from input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371246">
                <a:tc>
                  <a:txBody>
                    <a:bodyPr/>
                    <a:lstStyle/>
                    <a:p>
                      <a:pPr indent="0" marL="0">
                        <a:buNone/>
                      </a:pPr>
                      <a:r>
                        <a:rPr lang="en-US" sz="1100" b="1" dirty="0">
                          <a:solidFill>
                            <a:srgbClr val="FFFFFF"/>
                          </a:solidFill>
                          <a:latin typeface="Geist" pitchFamily="34" charset="0"/>
                          <a:ea typeface="Geist" pitchFamily="34" charset="-122"/>
                          <a:cs typeface="Geist" pitchFamily="34" charset="-120"/>
                        </a:rPr>
                        <a:t>lib/xml.ts:35</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XXE (CWE-611)</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drop XML_PARSE_NOENT and XML_PARSE_DTDLOAD</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r h="371246">
                <a:tc>
                  <a:txBody>
                    <a:bodyPr/>
                    <a:lstStyle/>
                    <a:p>
                      <a:pPr indent="0" marL="0">
                        <a:buNone/>
                      </a:pPr>
                      <a:r>
                        <a:rPr lang="en-US" sz="1100" b="1" dirty="0">
                          <a:solidFill>
                            <a:srgbClr val="FFFFFF"/>
                          </a:solidFill>
                          <a:latin typeface="Geist" pitchFamily="34" charset="0"/>
                          <a:ea typeface="Geist" pitchFamily="34" charset="-122"/>
                          <a:cs typeface="Geist" pitchFamily="34" charset="-120"/>
                        </a:rPr>
                        <a:t>routes/fileUpload.ts:31-34</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Zip slip (CWE-22)</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assert each entry resolves UNDER the target dir</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371246">
                <a:tc>
                  <a:txBody>
                    <a:bodyPr/>
                    <a:lstStyle/>
                    <a:p>
                      <a:pPr indent="0" marL="0">
                        <a:buNone/>
                      </a:pPr>
                      <a:r>
                        <a:rPr lang="en-US" sz="1100" b="1" dirty="0">
                          <a:solidFill>
                            <a:srgbClr val="FFFFFF"/>
                          </a:solidFill>
                          <a:latin typeface="Geist" pitchFamily="34" charset="0"/>
                          <a:ea typeface="Geist" pitchFamily="34" charset="-122"/>
                          <a:cs typeface="Geist" pitchFamily="34" charset="-120"/>
                        </a:rPr>
                        <a:t>routes/fileServer.ts:33</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Path traversal (CWE-22)</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path.resolve, then assert the allowed root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r h="371246">
                <a:tc>
                  <a:txBody>
                    <a:bodyPr/>
                    <a:lstStyle/>
                    <a:p>
                      <a:pPr indent="0" marL="0">
                        <a:buNone/>
                      </a:pPr>
                      <a:r>
                        <a:rPr lang="en-US" sz="1100" b="1" dirty="0">
                          <a:solidFill>
                            <a:srgbClr val="FFFFFF"/>
                          </a:solidFill>
                          <a:latin typeface="Geist" pitchFamily="34" charset="0"/>
                          <a:ea typeface="Geist" pitchFamily="34" charset="-122"/>
                          <a:cs typeface="Geist" pitchFamily="34" charset="-120"/>
                        </a:rPr>
                        <a:t>routes/profileImageUrlUpload.ts:24</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SSRF (CWE-918)</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allow-list schemes and hosts; block private ranges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371246">
                <a:tc>
                  <a:txBody>
                    <a:bodyPr/>
                    <a:lstStyle/>
                    <a:p>
                      <a:pPr indent="0" marL="0">
                        <a:buNone/>
                      </a:pPr>
                      <a:r>
                        <a:rPr lang="en-US" sz="1100" b="1" dirty="0">
                          <a:solidFill>
                            <a:srgbClr val="FFFFFF"/>
                          </a:solidFill>
                          <a:latin typeface="Geist" pitchFamily="34" charset="0"/>
                          <a:ea typeface="Geist" pitchFamily="34" charset="-122"/>
                          <a:cs typeface="Geist" pitchFamily="34" charset="-120"/>
                        </a:rPr>
                        <a:t>routes/b2bOrder.ts:21-23</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Code injection (CWE-94)</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parse the payload; delete notevil safeEval and the vm context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r h="371246">
                <a:tc>
                  <a:txBody>
                    <a:bodyPr/>
                    <a:lstStyle/>
                    <a:p>
                      <a:pPr indent="0" marL="0">
                        <a:buNone/>
                      </a:pPr>
                      <a:r>
                        <a:rPr lang="en-US" sz="1100" b="1" dirty="0">
                          <a:solidFill>
                            <a:srgbClr val="FFFFFF"/>
                          </a:solidFill>
                          <a:latin typeface="Geist" pitchFamily="34" charset="0"/>
                          <a:ea typeface="Geist" pitchFamily="34" charset="-122"/>
                          <a:cs typeface="Geist" pitchFamily="34" charset="-120"/>
                        </a:rPr>
                        <a:t>lib/insecurity.ts:21 / :41</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Hardcoded key, MD5 (CWE-798/327)</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secret store; a real password KDF</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bl>
          </a:graphicData>
        </a:graphic>
      </p:graphicFrame>
      <p:sp>
        <p:nvSpPr>
          <p:cNvPr id="8" name="Shape 4"/>
          <p:cNvSpPr/>
          <p:nvPr/>
        </p:nvSpPr>
        <p:spPr>
          <a:xfrm>
            <a:off x="508406" y="6245352"/>
            <a:ext cx="11174882" cy="10973"/>
          </a:xfrm>
          <a:prstGeom prst="rect">
            <a:avLst/>
          </a:prstGeom>
          <a:solidFill>
            <a:srgbClr val="FFFFFF">
              <a:alpha val="12000"/>
            </a:srgbClr>
          </a:solidFill>
          <a:ln/>
        </p:spPr>
      </p:sp>
      <p:pic>
        <p:nvPicPr>
          <p:cNvPr id="9" name="Image 1" descr="assets/logo-snyk-white.png">    </p:cNvPr>
          <p:cNvPicPr>
            <a:picLocks noChangeAspect="1"/>
          </p:cNvPicPr>
          <p:nvPr/>
        </p:nvPicPr>
        <p:blipFill>
          <a:blip r:embed="rId2"/>
          <a:stretch>
            <a:fillRect/>
          </a:stretch>
        </p:blipFill>
        <p:spPr>
          <a:xfrm>
            <a:off x="508406" y="6336792"/>
            <a:ext cx="621792" cy="219456"/>
          </a:xfrm>
          <a:prstGeom prst="rect">
            <a:avLst/>
          </a:prstGeom>
        </p:spPr>
      </p:pic>
      <p:sp>
        <p:nvSpPr>
          <p:cNvPr id="10" name="Text 5"/>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Fix, and gate</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37</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THE SAST BOUNDARY</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11174882" cy="914400"/>
          </a:xfrm>
          <a:prstGeom prst="rect">
            <a:avLst/>
          </a:prstGeom>
          <a:noFill/>
          <a:ln/>
        </p:spPr>
        <p:txBody>
          <a:bodyPr wrap="square" lIns="0" tIns="0" rIns="0" bIns="0" rtlCol="0" anchor="t"/>
          <a:lstStyle/>
          <a:p>
            <a:pPr indent="0" marL="0">
              <a:lnSpc>
                <a:spcPts val="3300"/>
              </a:lnSpc>
              <a:buNone/>
            </a:pPr>
            <a:r>
              <a:rPr lang="en-US" sz="3200" b="1" spc="-100" kern="0" dirty="0">
                <a:solidFill>
                  <a:srgbClr val="FFFFFF"/>
                </a:solidFill>
                <a:latin typeface="Geist" pitchFamily="34" charset="0"/>
                <a:ea typeface="Geist" pitchFamily="34" charset="-122"/>
                <a:cs typeface="Geist" pitchFamily="34" charset="-120"/>
              </a:rPr>
              <a:t>The flaw that is not on the previous slide</a:t>
            </a:r>
            <a:endParaRPr lang="en-US" sz="3200" dirty="0"/>
          </a:p>
        </p:txBody>
      </p:sp>
      <p:sp>
        <p:nvSpPr>
          <p:cNvPr id="7" name="Text 3"/>
          <p:cNvSpPr/>
          <p:nvPr/>
        </p:nvSpPr>
        <p:spPr>
          <a:xfrm>
            <a:off x="508406" y="1847088"/>
            <a:ext cx="9326880" cy="457200"/>
          </a:xfrm>
          <a:prstGeom prst="rect">
            <a:avLst/>
          </a:prstGeom>
          <a:noFill/>
          <a:ln/>
        </p:spPr>
        <p:txBody>
          <a:bodyPr wrap="square" lIns="0" tIns="0" rIns="0" bIns="0" rtlCol="0" anchor="ctr"/>
          <a:lstStyle/>
          <a:p>
            <a:pPr indent="0" marL="0">
              <a:lnSpc>
                <a:spcPts val="2000"/>
              </a:lnSpc>
              <a:buNone/>
            </a:pPr>
            <a:r>
              <a:rPr lang="en-US" sz="1300" dirty="0">
                <a:solidFill>
                  <a:srgbClr val="8A8AA3"/>
                </a:solidFill>
                <a:latin typeface="Geist" pitchFamily="34" charset="0"/>
                <a:ea typeface="Geist" pitchFamily="34" charset="-122"/>
                <a:cs typeface="Geist" pitchFamily="34" charset="-120"/>
              </a:rPr>
              <a:t>Four authorization flaws in this repo never appear in snyk code test output. That is not a Snyk gap — it is the boundary of static analysis.</a:t>
            </a:r>
            <a:endParaRPr lang="en-US" sz="1300" dirty="0"/>
          </a:p>
        </p:txBody>
      </p:sp>
      <p:sp>
        <p:nvSpPr>
          <p:cNvPr id="8" name="Text 4"/>
          <p:cNvSpPr/>
          <p:nvPr/>
        </p:nvSpPr>
        <p:spPr>
          <a:xfrm>
            <a:off x="563270" y="2487168"/>
            <a:ext cx="10809122" cy="3456432"/>
          </a:xfrm>
          <a:prstGeom prst="rect">
            <a:avLst/>
          </a:prstGeom>
          <a:noFill/>
          <a:ln/>
        </p:spPr>
        <p:txBody>
          <a:bodyPr wrap="square" lIns="0" tIns="0" rIns="0" bIns="0" rtlCol="0" anchor="t"/>
          <a:lstStyle/>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routes/basket.ts:18 — the basket is fetched by req.params.id with no ownership check at all. Classic IDOR / BOLA, CWE-639.</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routes/orderHistory.ts:25 — allOrders() returns every order in the system. It IS role-gated (server.ts:643 wraps it in security.isAccounting()), so the flaw is coarse role-based access with no per-object check. Do not say "no auth at all" — someone will grep server.ts.</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server.ts:389 — the authorization line is right there, commented out, with a vuln-code-snippet marker beside it.</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Why no scanner catches these — inferring an application's intended authorization model is not a static-analysis problem. Nothing in the code says "this basket belongs to that user".</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What this means for you — code review and threat modelling still matter. Tooling narrows the search; it does not close it.</a:t>
            </a:r>
            <a:endParaRPr lang="en-US" sz="1400" dirty="0"/>
          </a:p>
        </p:txBody>
      </p:sp>
      <p:sp>
        <p:nvSpPr>
          <p:cNvPr id="9" name="Shape 5"/>
          <p:cNvSpPr/>
          <p:nvPr/>
        </p:nvSpPr>
        <p:spPr>
          <a:xfrm>
            <a:off x="508406" y="6245352"/>
            <a:ext cx="11174882" cy="10973"/>
          </a:xfrm>
          <a:prstGeom prst="rect">
            <a:avLst/>
          </a:prstGeom>
          <a:solidFill>
            <a:srgbClr val="FFFFFF">
              <a:alpha val="12000"/>
            </a:srgbClr>
          </a:solidFill>
          <a:ln/>
        </p:spPr>
      </p:sp>
      <p:pic>
        <p:nvPicPr>
          <p:cNvPr id="10" name="Image 2" descr="assets/logo-snyk-white.png">    </p:cNvPr>
          <p:cNvPicPr>
            <a:picLocks noChangeAspect="1"/>
          </p:cNvPicPr>
          <p:nvPr/>
        </p:nvPicPr>
        <p:blipFill>
          <a:blip r:embed="rId3"/>
          <a:stretch>
            <a:fillRect/>
          </a:stretch>
        </p:blipFill>
        <p:spPr>
          <a:xfrm>
            <a:off x="508406" y="6336792"/>
            <a:ext cx="621792" cy="219456"/>
          </a:xfrm>
          <a:prstGeom prst="rect">
            <a:avLst/>
          </a:prstGeom>
        </p:spPr>
      </p:pic>
      <p:sp>
        <p:nvSpPr>
          <p:cNvPr id="11" name="Text 6"/>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Fix, and gate</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38</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30328"/>
        </a:solidFill>
      </p:bgPr>
    </p:bg>
    <p:spTree>
      <p:nvGrpSpPr>
        <p:cNvPr id="1" name=""/>
        <p:cNvGrpSpPr/>
        <p:nvPr/>
      </p:nvGrpSpPr>
      <p:grpSpPr>
        <a:xfrm>
          <a:off x="0" y="0"/>
          <a:ext cx="0" cy="0"/>
          <a:chOff x="0" y="0"/>
          <a:chExt cx="0" cy="0"/>
        </a:xfrm>
      </p:grpSpPr>
      <p:sp>
        <p:nvSpPr>
          <p:cNvPr id="2" name="Shape 0"/>
          <p:cNvSpPr/>
          <p:nvPr/>
        </p:nvSpPr>
        <p:spPr>
          <a:xfrm>
            <a:off x="0" y="5989320"/>
            <a:ext cx="12191695" cy="868680"/>
          </a:xfrm>
          <a:prstGeom prst="rect">
            <a:avLst/>
          </a:prstGeom>
          <a:solidFill>
            <a:srgbClr val="030328"/>
          </a:solidFill>
          <a:ln/>
        </p:spPr>
      </p:sp>
      <p:sp>
        <p:nvSpPr>
          <p:cNvPr id="3"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/SNYK-FIX</a:t>
            </a:r>
            <a:endParaRPr lang="en-US" sz="1050" dirty="0"/>
          </a:p>
        </p:txBody>
      </p:sp>
      <p:pic>
        <p:nvPicPr>
          <p:cNvPr id="4" name="Image 0" descr="assets/logo-snyk-white.png">    </p:cNvPr>
          <p:cNvPicPr>
            <a:picLocks noChangeAspect="1"/>
          </p:cNvPicPr>
          <p:nvPr/>
        </p:nvPicPr>
        <p:blipFill>
          <a:blip r:embed="rId1"/>
          <a:stretch>
            <a:fillRect/>
          </a:stretch>
        </p:blipFill>
        <p:spPr>
          <a:xfrm>
            <a:off x="10796321" y="435254"/>
            <a:ext cx="886968" cy="310896"/>
          </a:xfrm>
          <a:prstGeom prst="rect">
            <a:avLst/>
          </a:prstGeom>
        </p:spPr>
      </p:pic>
      <p:sp>
        <p:nvSpPr>
          <p:cNvPr id="5"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Remediation inside your AI assistant</a:t>
            </a:r>
            <a:endParaRPr lang="en-US" sz="3000" dirty="0"/>
          </a:p>
        </p:txBody>
      </p:sp>
      <p:sp>
        <p:nvSpPr>
          <p:cNvPr id="6" name="Text 3"/>
          <p:cNvSpPr/>
          <p:nvPr/>
        </p:nvSpPr>
        <p:spPr>
          <a:xfrm>
            <a:off x="508406" y="1773936"/>
            <a:ext cx="10607040" cy="402336"/>
          </a:xfrm>
          <a:prstGeom prst="rect">
            <a:avLst/>
          </a:prstGeom>
          <a:noFill/>
          <a:ln/>
        </p:spPr>
        <p:txBody>
          <a:bodyPr wrap="square" lIns="0" tIns="0" rIns="0" bIns="0" rtlCol="0" anchor="ctr"/>
          <a:lstStyle/>
          <a:p>
            <a:pPr indent="0" marL="0">
              <a:lnSpc>
                <a:spcPts val="1900"/>
              </a:lnSpc>
              <a:buNone/>
            </a:pPr>
            <a:r>
              <a:rPr lang="en-US" sz="1250" dirty="0">
                <a:solidFill>
                  <a:srgbClr val="8A8AA3"/>
                </a:solidFill>
                <a:latin typeface="Geist" pitchFamily="34" charset="0"/>
                <a:ea typeface="Geist" pitchFamily="34" charset="-122"/>
                <a:cs typeface="Geist" pitchFamily="34" charset="-120"/>
              </a:rPr>
              <a:t>/snyk-fix is a Snyk Studio command directive, not a CLI subcommand. There is no snyk fix.</a:t>
            </a:r>
            <a:endParaRPr lang="en-US" sz="1250" dirty="0"/>
          </a:p>
        </p:txBody>
      </p:sp>
      <p:sp>
        <p:nvSpPr>
          <p:cNvPr id="7" name="Shape 4"/>
          <p:cNvSpPr/>
          <p:nvPr/>
        </p:nvSpPr>
        <p:spPr>
          <a:xfrm>
            <a:off x="508406" y="2286000"/>
            <a:ext cx="5459425" cy="3657600"/>
          </a:xfrm>
          <a:prstGeom prst="roundRect">
            <a:avLst>
              <a:gd name="adj" fmla="val 1750"/>
            </a:avLst>
          </a:prstGeom>
          <a:solidFill>
            <a:srgbClr val="0B0B2E"/>
          </a:solidFill>
          <a:ln w="9525">
            <a:solidFill>
              <a:srgbClr val="FFFFFF">
                <a:alpha val="12000"/>
              </a:srgbClr>
            </a:solidFill>
            <a:prstDash val="solid"/>
          </a:ln>
        </p:spPr>
      </p:sp>
      <p:pic>
        <p:nvPicPr>
          <p:cNvPr id="8" name="Image 1" descr="assets/grad_bar_h.png">    </p:cNvPr>
          <p:cNvPicPr>
            <a:picLocks noChangeAspect="1"/>
          </p:cNvPicPr>
          <p:nvPr/>
        </p:nvPicPr>
        <p:blipFill>
          <a:blip r:embed="rId2"/>
          <a:stretch>
            <a:fillRect/>
          </a:stretch>
        </p:blipFill>
        <p:spPr>
          <a:xfrm>
            <a:off x="691286" y="2487168"/>
            <a:ext cx="777240" cy="32004"/>
          </a:xfrm>
          <a:prstGeom prst="rect">
            <a:avLst/>
          </a:prstGeom>
        </p:spPr>
      </p:pic>
      <p:sp>
        <p:nvSpPr>
          <p:cNvPr id="9" name="Text 5"/>
          <p:cNvSpPr/>
          <p:nvPr/>
        </p:nvSpPr>
        <p:spPr>
          <a:xfrm>
            <a:off x="691286" y="2596896"/>
            <a:ext cx="5093665" cy="237744"/>
          </a:xfrm>
          <a:prstGeom prst="rect">
            <a:avLst/>
          </a:prstGeom>
          <a:noFill/>
          <a:ln/>
        </p:spPr>
        <p:txBody>
          <a:bodyPr wrap="square" lIns="0" tIns="0" rIns="0" bIns="0" rtlCol="0" anchor="ctr"/>
          <a:lstStyle/>
          <a:p>
            <a:pPr indent="0" marL="0">
              <a:buNone/>
            </a:pPr>
            <a:r>
              <a:rPr lang="en-US" sz="850" b="1" spc="180" kern="0" dirty="0">
                <a:solidFill>
                  <a:srgbClr val="8A8AA3"/>
                </a:solidFill>
                <a:latin typeface="Geist Mono" pitchFamily="34" charset="0"/>
                <a:ea typeface="Geist Mono" pitchFamily="34" charset="-122"/>
                <a:cs typeface="Geist Mono" pitchFamily="34" charset="-120"/>
              </a:rPr>
              <a:t>INSTALL SNYK STUDIO</a:t>
            </a:r>
            <a:endParaRPr lang="en-US" sz="850" dirty="0"/>
          </a:p>
        </p:txBody>
      </p:sp>
      <p:sp>
        <p:nvSpPr>
          <p:cNvPr id="10" name="Text 6"/>
          <p:cNvSpPr/>
          <p:nvPr/>
        </p:nvSpPr>
        <p:spPr>
          <a:xfrm>
            <a:off x="691286" y="2889504"/>
            <a:ext cx="5111953" cy="2871216"/>
          </a:xfrm>
          <a:prstGeom prst="rect">
            <a:avLst/>
          </a:prstGeom>
          <a:noFill/>
          <a:ln/>
        </p:spPr>
        <p:txBody>
          <a:bodyPr wrap="square" lIns="0" tIns="0" rIns="0" bIns="0" rtlCol="0" anchor="t"/>
          <a:lstStyle/>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 macOS / Linux — two steps, not a pipe-to-shell</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curl -fsSL 'https://raw.githubusercontent.com/\</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snyk/studio-recipes/main/installer/dist/\</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snyk-studio-install.sh' -o snyk-studio-install.sh</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bash ./snyk-studio-install.sh</a:t>
            </a:r>
            <a:endParaRPr lang="en-US" sz="900" dirty="0"/>
          </a:p>
          <a:p>
            <a:pPr indent="0" marL="0">
              <a:lnSpc>
                <a:spcPts val="1395"/>
              </a:lnSpc>
              <a:buNone/>
            </a:pP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 installs: MCP server + guardrail hooks +</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           /snyk-fix and /snyk-batch-fix</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 hooks: Claude Code, Cursor, Codex CLI, Gemini CLI</a:t>
            </a:r>
            <a:endParaRPr lang="en-US" sz="900" dirty="0"/>
          </a:p>
        </p:txBody>
      </p:sp>
      <p:sp>
        <p:nvSpPr>
          <p:cNvPr id="11" name="Shape 7"/>
          <p:cNvSpPr/>
          <p:nvPr/>
        </p:nvSpPr>
        <p:spPr>
          <a:xfrm>
            <a:off x="6223864" y="2286000"/>
            <a:ext cx="5459425" cy="3657600"/>
          </a:xfrm>
          <a:prstGeom prst="roundRect">
            <a:avLst>
              <a:gd name="adj" fmla="val 1750"/>
            </a:avLst>
          </a:prstGeom>
          <a:solidFill>
            <a:srgbClr val="0B0B2E"/>
          </a:solidFill>
          <a:ln w="9525">
            <a:solidFill>
              <a:srgbClr val="FFFFFF">
                <a:alpha val="12000"/>
              </a:srgbClr>
            </a:solidFill>
            <a:prstDash val="solid"/>
          </a:ln>
        </p:spPr>
      </p:sp>
      <p:pic>
        <p:nvPicPr>
          <p:cNvPr id="12" name="Image 2" descr="assets/grad_bar_h.png">    </p:cNvPr>
          <p:cNvPicPr>
            <a:picLocks noChangeAspect="1"/>
          </p:cNvPicPr>
          <p:nvPr/>
        </p:nvPicPr>
        <p:blipFill>
          <a:blip r:embed="rId3"/>
          <a:stretch>
            <a:fillRect/>
          </a:stretch>
        </p:blipFill>
        <p:spPr>
          <a:xfrm>
            <a:off x="6406744" y="2487168"/>
            <a:ext cx="777240" cy="32004"/>
          </a:xfrm>
          <a:prstGeom prst="rect">
            <a:avLst/>
          </a:prstGeom>
        </p:spPr>
      </p:pic>
      <p:sp>
        <p:nvSpPr>
          <p:cNvPr id="13" name="Text 8"/>
          <p:cNvSpPr/>
          <p:nvPr/>
        </p:nvSpPr>
        <p:spPr>
          <a:xfrm>
            <a:off x="6406744" y="2596896"/>
            <a:ext cx="5093665" cy="237744"/>
          </a:xfrm>
          <a:prstGeom prst="rect">
            <a:avLst/>
          </a:prstGeom>
          <a:noFill/>
          <a:ln/>
        </p:spPr>
        <p:txBody>
          <a:bodyPr wrap="square" lIns="0" tIns="0" rIns="0" bIns="0" rtlCol="0" anchor="ctr"/>
          <a:lstStyle/>
          <a:p>
            <a:pPr indent="0" marL="0">
              <a:buNone/>
            </a:pPr>
            <a:r>
              <a:rPr lang="en-US" sz="850" b="1" spc="180" kern="0" dirty="0">
                <a:solidFill>
                  <a:srgbClr val="8A8AA3"/>
                </a:solidFill>
                <a:latin typeface="Geist Mono" pitchFamily="34" charset="0"/>
                <a:ea typeface="Geist Mono" pitchFamily="34" charset="-122"/>
                <a:cs typeface="Geist Mono" pitchFamily="34" charset="-120"/>
              </a:rPr>
              <a:t>USE IT</a:t>
            </a:r>
            <a:endParaRPr lang="en-US" sz="850" dirty="0"/>
          </a:p>
        </p:txBody>
      </p:sp>
      <p:sp>
        <p:nvSpPr>
          <p:cNvPr id="14" name="Text 9"/>
          <p:cNvSpPr/>
          <p:nvPr/>
        </p:nvSpPr>
        <p:spPr>
          <a:xfrm>
            <a:off x="6406744" y="2889504"/>
            <a:ext cx="5111953" cy="2871216"/>
          </a:xfrm>
          <a:prstGeom prst="rect">
            <a:avLst/>
          </a:prstGeom>
          <a:noFill/>
          <a:ln/>
        </p:spPr>
        <p:txBody>
          <a:bodyPr wrap="square" lIns="0" tIns="0" rIns="0" bIns="0" rtlCol="0" anchor="t"/>
          <a:lstStyle/>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/snyk-fix</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/snyk-fix the XXE finding in lib/xml.ts</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/snyk-fix only the Open Source findings</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/snyk-batch-fix</a:t>
            </a:r>
            <a:endParaRPr lang="en-US" sz="900" dirty="0"/>
          </a:p>
          <a:p>
            <a:pPr indent="0" marL="0">
              <a:lnSpc>
                <a:spcPts val="1395"/>
              </a:lnSpc>
              <a:buNone/>
            </a:pP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 MCP only, any other assistant:</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npx -y snyk@latest mcp -t stdio</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snyk mcp config --tool=cursor</a:t>
            </a:r>
            <a:endParaRPr lang="en-US" sz="900" dirty="0"/>
          </a:p>
          <a:p>
            <a:pPr indent="0" marL="0">
              <a:lnSpc>
                <a:spcPts val="1395"/>
              </a:lnSpc>
              <a:buNone/>
            </a:pP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 profile gates which of the 12 tools load:</a:t>
            </a:r>
            <a:endParaRPr lang="en-US" sz="900" dirty="0"/>
          </a:p>
          <a:p>
            <a:pPr indent="0" marL="0">
              <a:lnSpc>
                <a:spcPts val="1395"/>
              </a:lnSpc>
              <a:buNone/>
            </a:pPr>
            <a:r>
              <a:rPr lang="en-US" sz="900" dirty="0">
                <a:solidFill>
                  <a:srgbClr val="D8D8EA"/>
                </a:solidFill>
                <a:latin typeface="Geist Mono" pitchFamily="34" charset="0"/>
                <a:ea typeface="Geist Mono" pitchFamily="34" charset="-122"/>
                <a:cs typeface="Geist Mono" pitchFamily="34" charset="-120"/>
              </a:rPr>
              <a:t># --profile=lite | full | experimental</a:t>
            </a:r>
            <a:endParaRPr lang="en-US" sz="900" dirty="0"/>
          </a:p>
        </p:txBody>
      </p:sp>
      <p:sp>
        <p:nvSpPr>
          <p:cNvPr id="15" name="Shape 10"/>
          <p:cNvSpPr/>
          <p:nvPr/>
        </p:nvSpPr>
        <p:spPr>
          <a:xfrm>
            <a:off x="508406" y="6245352"/>
            <a:ext cx="11174882" cy="10973"/>
          </a:xfrm>
          <a:prstGeom prst="rect">
            <a:avLst/>
          </a:prstGeom>
          <a:solidFill>
            <a:srgbClr val="FFFFFF">
              <a:alpha val="12000"/>
            </a:srgbClr>
          </a:solidFill>
          <a:ln/>
        </p:spPr>
      </p:sp>
      <p:pic>
        <p:nvPicPr>
          <p:cNvPr id="16" name="Image 3" descr="assets/logo-snyk-white.png">    </p:cNvPr>
          <p:cNvPicPr>
            <a:picLocks noChangeAspect="1"/>
          </p:cNvPicPr>
          <p:nvPr/>
        </p:nvPicPr>
        <p:blipFill>
          <a:blip r:embed="rId4"/>
          <a:stretch>
            <a:fillRect/>
          </a:stretch>
        </p:blipFill>
        <p:spPr>
          <a:xfrm>
            <a:off x="508406" y="6336792"/>
            <a:ext cx="621792" cy="219456"/>
          </a:xfrm>
          <a:prstGeom prst="rect">
            <a:avLst/>
          </a:prstGeom>
        </p:spPr>
      </p:pic>
      <p:sp>
        <p:nvSpPr>
          <p:cNvPr id="17" name="Text 11"/>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Fix, and gate</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39</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/SNYK-FIX</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8595360" cy="914400"/>
          </a:xfrm>
          <a:prstGeom prst="rect">
            <a:avLst/>
          </a:prstGeom>
          <a:noFill/>
          <a:ln/>
        </p:spPr>
        <p:txBody>
          <a:bodyPr wrap="square" lIns="0" tIns="0" rIns="0" bIns="0" rtlCol="0" anchor="t"/>
          <a:lstStyle/>
          <a:p>
            <a:pPr indent="0" marL="0">
              <a:lnSpc>
                <a:spcPts val="3300"/>
              </a:lnSpc>
              <a:buNone/>
            </a:pPr>
            <a:r>
              <a:rPr lang="en-US" sz="3200" b="1" spc="-100" kern="0" dirty="0">
                <a:solidFill>
                  <a:srgbClr val="FFFFFF"/>
                </a:solidFill>
                <a:latin typeface="Geist" pitchFamily="34" charset="0"/>
                <a:ea typeface="Geist" pitchFamily="34" charset="-122"/>
                <a:cs typeface="Geist" pitchFamily="34" charset="-120"/>
              </a:rPr>
              <a:t>What a good run looks like</a:t>
            </a:r>
            <a:endParaRPr lang="en-US" sz="3200" dirty="0"/>
          </a:p>
        </p:txBody>
      </p:sp>
      <p:sp>
        <p:nvSpPr>
          <p:cNvPr id="7" name="Text 3"/>
          <p:cNvSpPr/>
          <p:nvPr/>
        </p:nvSpPr>
        <p:spPr>
          <a:xfrm>
            <a:off x="563270" y="1993392"/>
            <a:ext cx="10809122" cy="3950208"/>
          </a:xfrm>
          <a:prstGeom prst="rect">
            <a:avLst/>
          </a:prstGeom>
          <a:noFill/>
          <a:ln/>
        </p:spPr>
        <p:txBody>
          <a:bodyPr wrap="square" lIns="0" tIns="0" rIns="0" bIns="0" rtlCol="0" anchor="t"/>
          <a:lstStyle/>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Scans first — it calls the Snyk MCP scan tools (snyk_code_scan, snyk_sca_scan) rather than guessing from the code.</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Changes narrowly — one focused edit per finding, not a refactor.</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Re-scans — confirms the finding is gone AND that nothing new appeared. If it skips this, it has not finished.</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Builds and tests — then summarizes what changed.</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Watch for — a fix that only moves the vulnerability; a suppression comment instead of a fix; a change that also quietly edits a test so it stops failing.</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snyk_package_health_check — GA and on by default in the full profile. It vets a package BEFORE the agent adds it to package.json. This is the shift-left move that prevents the finding instead of reporting it, and it is the best new demo in the course.</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Guardrail mode — hooks make the agent scan its own generated code before declaring a task done. A lower-token "smart apply" mode lets the LLM decide when to scan: faster, more chances for insecure code to land. That is a risk decision, so make it consciously.</a:t>
            </a:r>
            <a:endParaRPr lang="en-US" sz="1400" dirty="0"/>
          </a:p>
        </p:txBody>
      </p:sp>
      <p:sp>
        <p:nvSpPr>
          <p:cNvPr id="8" name="Shape 4"/>
          <p:cNvSpPr/>
          <p:nvPr/>
        </p:nvSpPr>
        <p:spPr>
          <a:xfrm>
            <a:off x="508406" y="6245352"/>
            <a:ext cx="11174882" cy="10973"/>
          </a:xfrm>
          <a:prstGeom prst="rect">
            <a:avLst/>
          </a:prstGeom>
          <a:solidFill>
            <a:srgbClr val="FFFFFF">
              <a:alpha val="12000"/>
            </a:srgbClr>
          </a:solidFill>
          <a:ln/>
        </p:spPr>
      </p:sp>
      <p:pic>
        <p:nvPicPr>
          <p:cNvPr id="9" name="Image 2" descr="assets/logo-snyk-white.png">    </p:cNvPr>
          <p:cNvPicPr>
            <a:picLocks noChangeAspect="1"/>
          </p:cNvPicPr>
          <p:nvPr/>
        </p:nvPicPr>
        <p:blipFill>
          <a:blip r:embed="rId3"/>
          <a:stretch>
            <a:fillRect/>
          </a:stretch>
        </p:blipFill>
        <p:spPr>
          <a:xfrm>
            <a:off x="508406" y="6336792"/>
            <a:ext cx="621792" cy="219456"/>
          </a:xfrm>
          <a:prstGeom prst="rect">
            <a:avLst/>
          </a:prstGeom>
        </p:spPr>
      </p:pic>
      <p:sp>
        <p:nvSpPr>
          <p:cNvPr id="10" name="Text 5"/>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Fix, and gate</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40</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30328"/>
        </a:solidFill>
      </p:bgPr>
    </p:bg>
    <p:spTree>
      <p:nvGrpSpPr>
        <p:cNvPr id="1" name=""/>
        <p:cNvGrpSpPr/>
        <p:nvPr/>
      </p:nvGrpSpPr>
      <p:grpSpPr>
        <a:xfrm>
          <a:off x="0" y="0"/>
          <a:ext cx="0" cy="0"/>
          <a:chOff x="0" y="0"/>
          <a:chExt cx="0" cy="0"/>
        </a:xfrm>
      </p:grpSpPr>
      <p:pic>
        <p:nvPicPr>
          <p:cNvPr id="2" name="Image 0" descr="assets/ULC_Fabric_Gradient.png">    </p:cNvPr>
          <p:cNvPicPr>
            <a:picLocks noChangeAspect="1"/>
          </p:cNvPicPr>
          <p:nvPr/>
        </p:nvPicPr>
        <p:blipFill>
          <a:blip r:embed="rId1">
            <a:alphaModFix amt="68000"/>
          </a:blip>
          <a:stretch>
            <a:fillRect/>
          </a:stretch>
        </p:blipFill>
        <p:spPr>
          <a:xfrm>
            <a:off x="-320040" y="-320040"/>
            <a:ext cx="4114800" cy="4114800"/>
          </a:xfrm>
          <a:prstGeom prst="rect">
            <a:avLst/>
          </a:prstGeom>
        </p:spPr>
      </p:pic>
      <p:pic>
        <p:nvPicPr>
          <p:cNvPr id="3" name="Image 1" descr="assets/BRC_Fabric_Gradient.png">    </p:cNvPr>
          <p:cNvPicPr>
            <a:picLocks noChangeAspect="1"/>
          </p:cNvPicPr>
          <p:nvPr/>
        </p:nvPicPr>
        <p:blipFill>
          <a:blip r:embed="rId2">
            <a:alphaModFix amt="54000"/>
          </a:blip>
          <a:stretch>
            <a:fillRect/>
          </a:stretch>
        </p:blipFill>
        <p:spPr>
          <a:xfrm>
            <a:off x="8808415" y="2697480"/>
            <a:ext cx="3657600" cy="3657600"/>
          </a:xfrm>
          <a:prstGeom prst="rect">
            <a:avLst/>
          </a:prstGeom>
        </p:spPr>
      </p:pic>
      <p:sp>
        <p:nvSpPr>
          <p:cNvPr id="4" name="Shape 0"/>
          <p:cNvSpPr/>
          <p:nvPr/>
        </p:nvSpPr>
        <p:spPr>
          <a:xfrm>
            <a:off x="0" y="5989320"/>
            <a:ext cx="12191695" cy="868680"/>
          </a:xfrm>
          <a:prstGeom prst="rect">
            <a:avLst/>
          </a:prstGeom>
          <a:solidFill>
            <a:srgbClr val="030328"/>
          </a:solidFill>
          <a:ln/>
        </p:spPr>
      </p:sp>
      <p:sp>
        <p:nvSpPr>
          <p:cNvPr id="5"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REMEDIATION AGENT · PREVIEW · DESIGN PARTNERS</a:t>
            </a:r>
            <a:endParaRPr lang="en-US" sz="1050" dirty="0"/>
          </a:p>
        </p:txBody>
      </p:sp>
      <p:pic>
        <p:nvPicPr>
          <p:cNvPr id="6" name="Image 2" descr="assets/logo-snyk-white.png">    </p:cNvPr>
          <p:cNvPicPr>
            <a:picLocks noChangeAspect="1"/>
          </p:cNvPicPr>
          <p:nvPr/>
        </p:nvPicPr>
        <p:blipFill>
          <a:blip r:embed="rId3"/>
          <a:stretch>
            <a:fillRect/>
          </a:stretch>
        </p:blipFill>
        <p:spPr>
          <a:xfrm>
            <a:off x="10796321" y="435254"/>
            <a:ext cx="886968" cy="310896"/>
          </a:xfrm>
          <a:prstGeom prst="rect">
            <a:avLst/>
          </a:prstGeom>
        </p:spPr>
      </p:pic>
      <p:sp>
        <p:nvSpPr>
          <p:cNvPr id="7"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Why the security context matters</a:t>
            </a:r>
            <a:endParaRPr lang="en-US" sz="3000" dirty="0"/>
          </a:p>
        </p:txBody>
      </p:sp>
      <p:sp>
        <p:nvSpPr>
          <p:cNvPr id="8" name="Text 3"/>
          <p:cNvSpPr/>
          <p:nvPr/>
        </p:nvSpPr>
        <p:spPr>
          <a:xfrm>
            <a:off x="508406" y="2286000"/>
            <a:ext cx="3542081" cy="914400"/>
          </a:xfrm>
          <a:prstGeom prst="rect">
            <a:avLst/>
          </a:prstGeom>
          <a:noFill/>
          <a:ln/>
        </p:spPr>
        <p:txBody>
          <a:bodyPr wrap="square" lIns="0" tIns="0" rIns="0" bIns="0" rtlCol="0" anchor="ctr"/>
          <a:lstStyle/>
          <a:p>
            <a:pPr indent="0" marL="0">
              <a:buNone/>
            </a:pPr>
            <a:r>
              <a:rPr lang="en-US" sz="4200" b="1" spc="-160" kern="0" dirty="0">
                <a:solidFill>
                  <a:srgbClr val="FFFFFF"/>
                </a:solidFill>
                <a:latin typeface="Geist" pitchFamily="34" charset="0"/>
                <a:ea typeface="Geist" pitchFamily="34" charset="-122"/>
                <a:cs typeface="Geist" pitchFamily="34" charset="-120"/>
              </a:rPr>
              <a:t>23% → 45%</a:t>
            </a:r>
            <a:endParaRPr lang="en-US" sz="4200" dirty="0"/>
          </a:p>
        </p:txBody>
      </p:sp>
      <p:pic>
        <p:nvPicPr>
          <p:cNvPr id="9" name="Image 3" descr="assets/grad_bar_h.png">    </p:cNvPr>
          <p:cNvPicPr>
            <a:picLocks noChangeAspect="1"/>
          </p:cNvPicPr>
          <p:nvPr/>
        </p:nvPicPr>
        <p:blipFill>
          <a:blip r:embed="rId4"/>
          <a:stretch>
            <a:fillRect/>
          </a:stretch>
        </p:blipFill>
        <p:spPr>
          <a:xfrm>
            <a:off x="508406" y="3255264"/>
            <a:ext cx="1463040" cy="41148"/>
          </a:xfrm>
          <a:prstGeom prst="rect">
            <a:avLst/>
          </a:prstGeom>
        </p:spPr>
      </p:pic>
      <p:sp>
        <p:nvSpPr>
          <p:cNvPr id="10" name="Text 4"/>
          <p:cNvSpPr/>
          <p:nvPr/>
        </p:nvSpPr>
        <p:spPr>
          <a:xfrm>
            <a:off x="508406" y="3474720"/>
            <a:ext cx="3414065" cy="1737360"/>
          </a:xfrm>
          <a:prstGeom prst="rect">
            <a:avLst/>
          </a:prstGeom>
          <a:noFill/>
          <a:ln/>
        </p:spPr>
        <p:txBody>
          <a:bodyPr wrap="square" lIns="0" tIns="0" rIns="0" bIns="0" rtlCol="0" anchor="t"/>
          <a:lstStyle/>
          <a:p>
            <a:pPr indent="0" marL="0">
              <a:lnSpc>
                <a:spcPts val="1800"/>
              </a:lnSpc>
              <a:buNone/>
            </a:pPr>
            <a:r>
              <a:rPr lang="en-US" sz="1200" dirty="0">
                <a:solidFill>
                  <a:srgbClr val="B8B8CC"/>
                </a:solidFill>
                <a:latin typeface="Geist" pitchFamily="34" charset="0"/>
                <a:ea typeface="Geist" pitchFamily="34" charset="-122"/>
                <a:cs typeface="Geist" pitchFamily="34" charset="-120"/>
              </a:rPr>
              <a:t>overall fix rate — the same model alone, versus the model guided by Snyk's security intelligence.</a:t>
            </a:r>
            <a:endParaRPr lang="en-US" sz="1200" dirty="0"/>
          </a:p>
        </p:txBody>
      </p:sp>
      <p:sp>
        <p:nvSpPr>
          <p:cNvPr id="11" name="Text 5"/>
          <p:cNvSpPr/>
          <p:nvPr/>
        </p:nvSpPr>
        <p:spPr>
          <a:xfrm>
            <a:off x="4324807" y="2286000"/>
            <a:ext cx="3542081" cy="914400"/>
          </a:xfrm>
          <a:prstGeom prst="rect">
            <a:avLst/>
          </a:prstGeom>
          <a:noFill/>
          <a:ln/>
        </p:spPr>
        <p:txBody>
          <a:bodyPr wrap="square" lIns="0" tIns="0" rIns="0" bIns="0" rtlCol="0" anchor="ctr"/>
          <a:lstStyle/>
          <a:p>
            <a:pPr indent="0" marL="0">
              <a:buNone/>
            </a:pPr>
            <a:r>
              <a:rPr lang="en-US" sz="4200" b="1" spc="-160" kern="0" dirty="0">
                <a:solidFill>
                  <a:srgbClr val="FFFFFF"/>
                </a:solidFill>
                <a:latin typeface="Geist" pitchFamily="34" charset="0"/>
                <a:ea typeface="Geist" pitchFamily="34" charset="-122"/>
                <a:cs typeface="Geist" pitchFamily="34" charset="-120"/>
              </a:rPr>
              <a:t>44% → 91%</a:t>
            </a:r>
            <a:endParaRPr lang="en-US" sz="4200" dirty="0"/>
          </a:p>
        </p:txBody>
      </p:sp>
      <p:pic>
        <p:nvPicPr>
          <p:cNvPr id="12" name="Image 4" descr="assets/grad_bar_h.png">    </p:cNvPr>
          <p:cNvPicPr>
            <a:picLocks noChangeAspect="1"/>
          </p:cNvPicPr>
          <p:nvPr/>
        </p:nvPicPr>
        <p:blipFill>
          <a:blip r:embed="rId5"/>
          <a:stretch>
            <a:fillRect/>
          </a:stretch>
        </p:blipFill>
        <p:spPr>
          <a:xfrm>
            <a:off x="4324807" y="3255264"/>
            <a:ext cx="1463040" cy="41148"/>
          </a:xfrm>
          <a:prstGeom prst="rect">
            <a:avLst/>
          </a:prstGeom>
        </p:spPr>
      </p:pic>
      <p:sp>
        <p:nvSpPr>
          <p:cNvPr id="13" name="Text 6"/>
          <p:cNvSpPr/>
          <p:nvPr/>
        </p:nvSpPr>
        <p:spPr>
          <a:xfrm>
            <a:off x="4324807" y="3474720"/>
            <a:ext cx="3414065" cy="1737360"/>
          </a:xfrm>
          <a:prstGeom prst="rect">
            <a:avLst/>
          </a:prstGeom>
          <a:noFill/>
          <a:ln/>
        </p:spPr>
        <p:txBody>
          <a:bodyPr wrap="square" lIns="0" tIns="0" rIns="0" bIns="0" rtlCol="0" anchor="t"/>
          <a:lstStyle/>
          <a:p>
            <a:pPr indent="0" marL="0">
              <a:lnSpc>
                <a:spcPts val="1800"/>
              </a:lnSpc>
              <a:buNone/>
            </a:pPr>
            <a:r>
              <a:rPr lang="en-US" sz="1200" dirty="0">
                <a:solidFill>
                  <a:srgbClr val="B8B8CC"/>
                </a:solidFill>
                <a:latin typeface="Geist" pitchFamily="34" charset="0"/>
                <a:ea typeface="Geist" pitchFamily="34" charset="-122"/>
                <a:cs typeface="Geist" pitchFamily="34" charset="-120"/>
              </a:rPr>
              <a:t>fix rate on critical, high and medium severity findings.</a:t>
            </a:r>
            <a:endParaRPr lang="en-US" sz="1200" dirty="0"/>
          </a:p>
        </p:txBody>
      </p:sp>
      <p:sp>
        <p:nvSpPr>
          <p:cNvPr id="14" name="Text 7"/>
          <p:cNvSpPr/>
          <p:nvPr/>
        </p:nvSpPr>
        <p:spPr>
          <a:xfrm>
            <a:off x="8141208" y="2286000"/>
            <a:ext cx="3542081" cy="914400"/>
          </a:xfrm>
          <a:prstGeom prst="rect">
            <a:avLst/>
          </a:prstGeom>
          <a:noFill/>
          <a:ln/>
        </p:spPr>
        <p:txBody>
          <a:bodyPr wrap="square" lIns="0" tIns="0" rIns="0" bIns="0" rtlCol="0" anchor="ctr"/>
          <a:lstStyle/>
          <a:p>
            <a:pPr indent="0" marL="0">
              <a:buNone/>
            </a:pPr>
            <a:r>
              <a:rPr lang="en-US" sz="4200" b="1" spc="-160" kern="0" dirty="0">
                <a:solidFill>
                  <a:srgbClr val="FFFFFF"/>
                </a:solidFill>
                <a:latin typeface="Geist" pitchFamily="34" charset="0"/>
                <a:ea typeface="Geist" pitchFamily="34" charset="-122"/>
                <a:cs typeface="Geist" pitchFamily="34" charset="-120"/>
              </a:rPr>
              <a:t>−61%</a:t>
            </a:r>
            <a:endParaRPr lang="en-US" sz="4200" dirty="0"/>
          </a:p>
        </p:txBody>
      </p:sp>
      <p:pic>
        <p:nvPicPr>
          <p:cNvPr id="15" name="Image 5" descr="assets/grad_bar_h.png">    </p:cNvPr>
          <p:cNvPicPr>
            <a:picLocks noChangeAspect="1"/>
          </p:cNvPicPr>
          <p:nvPr/>
        </p:nvPicPr>
        <p:blipFill>
          <a:blip r:embed="rId6"/>
          <a:stretch>
            <a:fillRect/>
          </a:stretch>
        </p:blipFill>
        <p:spPr>
          <a:xfrm>
            <a:off x="8141208" y="3255264"/>
            <a:ext cx="1463040" cy="41148"/>
          </a:xfrm>
          <a:prstGeom prst="rect">
            <a:avLst/>
          </a:prstGeom>
        </p:spPr>
      </p:pic>
      <p:sp>
        <p:nvSpPr>
          <p:cNvPr id="16" name="Text 8"/>
          <p:cNvSpPr/>
          <p:nvPr/>
        </p:nvSpPr>
        <p:spPr>
          <a:xfrm>
            <a:off x="8141208" y="3474720"/>
            <a:ext cx="3414065" cy="1737360"/>
          </a:xfrm>
          <a:prstGeom prst="rect">
            <a:avLst/>
          </a:prstGeom>
          <a:noFill/>
          <a:ln/>
        </p:spPr>
        <p:txBody>
          <a:bodyPr wrap="square" lIns="0" tIns="0" rIns="0" bIns="0" rtlCol="0" anchor="t"/>
          <a:lstStyle/>
          <a:p>
            <a:pPr indent="0" marL="0">
              <a:lnSpc>
                <a:spcPts val="1800"/>
              </a:lnSpc>
              <a:buNone/>
            </a:pPr>
            <a:r>
              <a:rPr lang="en-US" sz="1200" dirty="0">
                <a:solidFill>
                  <a:srgbClr val="B8B8CC"/>
                </a:solidFill>
                <a:latin typeface="Geist" pitchFamily="34" charset="0"/>
                <a:ea typeface="Geist" pitchFamily="34" charset="-122"/>
                <a:cs typeface="Geist" pitchFamily="34" charset="-120"/>
              </a:rPr>
              <a:t>token cost per fix. Better context means fewer wasted attempts — a budget argument as well as a security one.</a:t>
            </a:r>
            <a:endParaRPr lang="en-US" sz="1200" dirty="0"/>
          </a:p>
        </p:txBody>
      </p:sp>
      <p:sp>
        <p:nvSpPr>
          <p:cNvPr id="17" name="Text 9"/>
          <p:cNvSpPr/>
          <p:nvPr/>
        </p:nvSpPr>
        <p:spPr>
          <a:xfrm>
            <a:off x="508406" y="5440680"/>
            <a:ext cx="11174882" cy="658368"/>
          </a:xfrm>
          <a:prstGeom prst="rect">
            <a:avLst/>
          </a:prstGeom>
          <a:noFill/>
          <a:ln/>
        </p:spPr>
        <p:txBody>
          <a:bodyPr wrap="square" lIns="0" tIns="0" rIns="0" bIns="0" rtlCol="0" anchor="ctr"/>
          <a:lstStyle/>
          <a:p>
            <a:pPr indent="0" marL="0">
              <a:lnSpc>
                <a:spcPts val="1500"/>
              </a:lnSpc>
              <a:buNone/>
            </a:pPr>
            <a:r>
              <a:rPr lang="en-US" sz="1050" dirty="0">
                <a:solidFill>
                  <a:srgbClr val="5C5C78"/>
                </a:solidFill>
                <a:latin typeface="Geist" pitchFamily="34" charset="0"/>
                <a:ea typeface="Geist" pitchFamily="34" charset="-122"/>
                <a:cs typeface="Geist" pitchFamily="34" charset="-120"/>
              </a:rPr>
              <a:t>Keep the qualifiers. These are Snyk-reported figures from a controlled benchmark that added Snyk tooling to claude-haiku-4-5; the methodology is stated as "to be published soon". The −61% is cost PER FIX, not total spend. Breakability analysis is the other half of the story: roughly half a typical backlog is low-breakability, which makes "fix all the low-breakability findings" a defensible single campaign rather than a year of tickets.</a:t>
            </a:r>
            <a:endParaRPr lang="en-US" sz="1050" dirty="0"/>
          </a:p>
        </p:txBody>
      </p:sp>
      <p:sp>
        <p:nvSpPr>
          <p:cNvPr id="18" name="Shape 10"/>
          <p:cNvSpPr/>
          <p:nvPr/>
        </p:nvSpPr>
        <p:spPr>
          <a:xfrm>
            <a:off x="508406" y="6245352"/>
            <a:ext cx="11174882" cy="10973"/>
          </a:xfrm>
          <a:prstGeom prst="rect">
            <a:avLst/>
          </a:prstGeom>
          <a:solidFill>
            <a:srgbClr val="FFFFFF">
              <a:alpha val="12000"/>
            </a:srgbClr>
          </a:solidFill>
          <a:ln/>
        </p:spPr>
      </p:sp>
      <p:pic>
        <p:nvPicPr>
          <p:cNvPr id="19" name="Image 6" descr="assets/logo-snyk-white.png">    </p:cNvPr>
          <p:cNvPicPr>
            <a:picLocks noChangeAspect="1"/>
          </p:cNvPicPr>
          <p:nvPr/>
        </p:nvPicPr>
        <p:blipFill>
          <a:blip r:embed="rId7"/>
          <a:stretch>
            <a:fillRect/>
          </a:stretch>
        </p:blipFill>
        <p:spPr>
          <a:xfrm>
            <a:off x="508406" y="6336792"/>
            <a:ext cx="621792" cy="219456"/>
          </a:xfrm>
          <a:prstGeom prst="rect">
            <a:avLst/>
          </a:prstGeom>
        </p:spPr>
      </p:pic>
      <p:sp>
        <p:nvSpPr>
          <p:cNvPr id="20" name="Text 11"/>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Fix, and gate</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41</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REMEDIATION AGENT</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11174882" cy="914400"/>
          </a:xfrm>
          <a:prstGeom prst="rect">
            <a:avLst/>
          </a:prstGeom>
          <a:noFill/>
          <a:ln/>
        </p:spPr>
        <p:txBody>
          <a:bodyPr wrap="square" lIns="0" tIns="0" rIns="0" bIns="0" rtlCol="0" anchor="t"/>
          <a:lstStyle/>
          <a:p>
            <a:pPr indent="0" marL="0">
              <a:lnSpc>
                <a:spcPts val="3300"/>
              </a:lnSpc>
              <a:buNone/>
            </a:pPr>
            <a:r>
              <a:rPr lang="en-US" sz="3200" b="1" spc="-100" kern="0" dirty="0">
                <a:solidFill>
                  <a:srgbClr val="FFFFFF"/>
                </a:solidFill>
                <a:latin typeface="Geist" pitchFamily="34" charset="0"/>
                <a:ea typeface="Geist" pitchFamily="34" charset="-122"/>
                <a:cs typeface="Geist" pitchFamily="34" charset="-120"/>
              </a:rPr>
              <a:t>Read this before you plan around it</a:t>
            </a:r>
            <a:endParaRPr lang="en-US" sz="3200" dirty="0"/>
          </a:p>
        </p:txBody>
      </p:sp>
      <p:sp>
        <p:nvSpPr>
          <p:cNvPr id="7" name="Text 3"/>
          <p:cNvSpPr/>
          <p:nvPr/>
        </p:nvSpPr>
        <p:spPr>
          <a:xfrm>
            <a:off x="508406" y="1847088"/>
            <a:ext cx="9326880" cy="457200"/>
          </a:xfrm>
          <a:prstGeom prst="rect">
            <a:avLst/>
          </a:prstGeom>
          <a:noFill/>
          <a:ln/>
        </p:spPr>
        <p:txBody>
          <a:bodyPr wrap="square" lIns="0" tIns="0" rIns="0" bIns="0" rtlCol="0" anchor="ctr"/>
          <a:lstStyle/>
          <a:p>
            <a:pPr indent="0" marL="0">
              <a:lnSpc>
                <a:spcPts val="2000"/>
              </a:lnSpc>
              <a:buNone/>
            </a:pPr>
            <a:r>
              <a:rPr lang="en-US" sz="1300" dirty="0">
                <a:solidFill>
                  <a:srgbClr val="8A8AA3"/>
                </a:solidFill>
                <a:latin typeface="Geist" pitchFamily="34" charset="0"/>
                <a:ea typeface="Geist" pitchFamily="34" charset="-122"/>
                <a:cs typeface="Geist" pitchFamily="34" charset="-120"/>
              </a:rPr>
              <a:t>If it is not enabled for your organization, that is normal. /snyk-fix is the generally available path to the same idea.</a:t>
            </a:r>
            <a:endParaRPr lang="en-US" sz="1300" dirty="0"/>
          </a:p>
        </p:txBody>
      </p:sp>
      <p:sp>
        <p:nvSpPr>
          <p:cNvPr id="8" name="Text 4"/>
          <p:cNvSpPr/>
          <p:nvPr/>
        </p:nvSpPr>
        <p:spPr>
          <a:xfrm>
            <a:off x="563270" y="2487168"/>
            <a:ext cx="10809122" cy="3456432"/>
          </a:xfrm>
          <a:prstGeom prst="rect">
            <a:avLst/>
          </a:prstGeom>
          <a:noFill/>
          <a:ln/>
        </p:spPr>
        <p:txBody>
          <a:bodyPr wrap="square" lIns="0" tIns="0" rIns="0" bIns="0" rtlCol="0" anchor="t"/>
          <a:lstStyle/>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What it is — the remediation loop in your terminal rather than your chat window, so you can fix en masse. Runs locally; bring your own model, frontier or locally hosted.</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Scope today is Snyk Open Source only. SAST, Container and IaC are described as in active development. If you want agentic remediation of Snyk Code findings today, that is /snyk-fix — not this.</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Status — experimental, for design partners. Snyk's own words. There is no paid feature gate, and no docs.snyk.io page.</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Syntax — the command name and flags are not public. Run snyk --help on your installed CLI and check docs.snyk.io. Do not copy syntax off a slide, including this one. The legacy snyk fix command is NOT the Remediation Agent.</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Model auth — design-partner builds authenticate through LiteLLM. Your model, your inference cost.</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What's next — a cloud remediation agent, then an asynchronous agent that runs unprompted against a backlog filter and produces validated, mergeable PRs. Both listed under "what's next" with no committed date.</a:t>
            </a:r>
            <a:endParaRPr lang="en-US" sz="1400" dirty="0"/>
          </a:p>
        </p:txBody>
      </p:sp>
      <p:sp>
        <p:nvSpPr>
          <p:cNvPr id="9" name="Shape 5"/>
          <p:cNvSpPr/>
          <p:nvPr/>
        </p:nvSpPr>
        <p:spPr>
          <a:xfrm>
            <a:off x="508406" y="6245352"/>
            <a:ext cx="11174882" cy="10973"/>
          </a:xfrm>
          <a:prstGeom prst="rect">
            <a:avLst/>
          </a:prstGeom>
          <a:solidFill>
            <a:srgbClr val="FFFFFF">
              <a:alpha val="12000"/>
            </a:srgbClr>
          </a:solidFill>
          <a:ln/>
        </p:spPr>
      </p:sp>
      <p:pic>
        <p:nvPicPr>
          <p:cNvPr id="10" name="Image 2" descr="assets/logo-snyk-white.png">    </p:cNvPr>
          <p:cNvPicPr>
            <a:picLocks noChangeAspect="1"/>
          </p:cNvPicPr>
          <p:nvPr/>
        </p:nvPicPr>
        <p:blipFill>
          <a:blip r:embed="rId3"/>
          <a:stretch>
            <a:fillRect/>
          </a:stretch>
        </p:blipFill>
        <p:spPr>
          <a:xfrm>
            <a:off x="508406" y="6336792"/>
            <a:ext cx="621792" cy="219456"/>
          </a:xfrm>
          <a:prstGeom prst="rect">
            <a:avLst/>
          </a:prstGeom>
        </p:spPr>
      </p:pic>
      <p:sp>
        <p:nvSpPr>
          <p:cNvPr id="11" name="Text 6"/>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Fix, and gate</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42</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30328"/>
        </a:solidFill>
      </p:bgPr>
    </p:bg>
    <p:spTree>
      <p:nvGrpSpPr>
        <p:cNvPr id="1" name=""/>
        <p:cNvGrpSpPr/>
        <p:nvPr/>
      </p:nvGrpSpPr>
      <p:grpSpPr>
        <a:xfrm>
          <a:off x="0" y="0"/>
          <a:ext cx="0" cy="0"/>
          <a:chOff x="0" y="0"/>
          <a:chExt cx="0" cy="0"/>
        </a:xfrm>
      </p:grpSpPr>
      <p:sp>
        <p:nvSpPr>
          <p:cNvPr id="2" name="Shape 0"/>
          <p:cNvSpPr/>
          <p:nvPr/>
        </p:nvSpPr>
        <p:spPr>
          <a:xfrm>
            <a:off x="0" y="5989320"/>
            <a:ext cx="12191695" cy="868680"/>
          </a:xfrm>
          <a:prstGeom prst="rect">
            <a:avLst/>
          </a:prstGeom>
          <a:solidFill>
            <a:srgbClr val="030328"/>
          </a:solidFill>
          <a:ln/>
        </p:spPr>
      </p:sp>
      <p:sp>
        <p:nvSpPr>
          <p:cNvPr id="3"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THREE AI FIX PATHS</a:t>
            </a:r>
            <a:endParaRPr lang="en-US" sz="1050" dirty="0"/>
          </a:p>
        </p:txBody>
      </p:sp>
      <p:pic>
        <p:nvPicPr>
          <p:cNvPr id="4" name="Image 0" descr="assets/logo-snyk-white.png">    </p:cNvPr>
          <p:cNvPicPr>
            <a:picLocks noChangeAspect="1"/>
          </p:cNvPicPr>
          <p:nvPr/>
        </p:nvPicPr>
        <p:blipFill>
          <a:blip r:embed="rId1"/>
          <a:stretch>
            <a:fillRect/>
          </a:stretch>
        </p:blipFill>
        <p:spPr>
          <a:xfrm>
            <a:off x="10796321" y="435254"/>
            <a:ext cx="886968" cy="310896"/>
          </a:xfrm>
          <a:prstGeom prst="rect">
            <a:avLst/>
          </a:prstGeom>
        </p:spPr>
      </p:pic>
      <p:sp>
        <p:nvSpPr>
          <p:cNvPr id="5"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Same discipline applies to all three</a:t>
            </a:r>
            <a:endParaRPr lang="en-US" sz="3000" dirty="0"/>
          </a:p>
        </p:txBody>
      </p:sp>
      <p:sp>
        <p:nvSpPr>
          <p:cNvPr id="6" name="Text 3"/>
          <p:cNvSpPr/>
          <p:nvPr/>
        </p:nvSpPr>
        <p:spPr>
          <a:xfrm>
            <a:off x="508406" y="1755648"/>
            <a:ext cx="10424160" cy="384048"/>
          </a:xfrm>
          <a:prstGeom prst="rect">
            <a:avLst/>
          </a:prstGeom>
          <a:noFill/>
          <a:ln/>
        </p:spPr>
        <p:txBody>
          <a:bodyPr wrap="square" lIns="0" tIns="0" rIns="0" bIns="0" rtlCol="0" anchor="ctr"/>
          <a:lstStyle/>
          <a:p>
            <a:pPr indent="0" marL="0">
              <a:lnSpc>
                <a:spcPts val="1900"/>
              </a:lnSpc>
              <a:buNone/>
            </a:pPr>
            <a:r>
              <a:rPr lang="en-US" sz="1250" dirty="0">
                <a:solidFill>
                  <a:srgbClr val="8A8AA3"/>
                </a:solidFill>
                <a:latin typeface="Geist" pitchFamily="34" charset="0"/>
                <a:ea typeface="Geist" pitchFamily="34" charset="-122"/>
                <a:cs typeface="Geist" pitchFamily="34" charset="-120"/>
              </a:rPr>
              <a:t>You review the diff. You run the tests. You own the commit. None of these is run-and-merge.</a:t>
            </a:r>
            <a:endParaRPr lang="en-US" sz="125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08406" y="2620670"/>
          <a:ext cx="11174882" cy="914400"/>
        </p:xfrm>
        <a:graphic>
          <a:graphicData uri="http://schemas.openxmlformats.org/drawingml/2006/table">
            <a:tbl>
              <a:tblPr/>
              <a:tblGrid>
                <a:gridCol w="2468880"/>
                <a:gridCol w="2468880"/>
                <a:gridCol w="2286000"/>
                <a:gridCol w="1828800"/>
                <a:gridCol w="2121408"/>
              </a:tblGrid>
              <a:tr h="603504">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Path</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Where you are</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Scope</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Whose model</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Status</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Snyk Agent Fix</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IDE, and PR comments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one finding at a time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Snyk's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GA in IDE · EA in the PR</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/snyk-fix</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your assistant's chat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a file, folder or product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your assistant's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GA</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Remediation Agent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your terminal</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backlog-scale, en masse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yours, local</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Preview · SCA only</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bl>
          </a:graphicData>
        </a:graphic>
      </p:graphicFrame>
      <p:sp>
        <p:nvSpPr>
          <p:cNvPr id="8" name="Shape 4"/>
          <p:cNvSpPr/>
          <p:nvPr/>
        </p:nvSpPr>
        <p:spPr>
          <a:xfrm>
            <a:off x="508406" y="6245352"/>
            <a:ext cx="11174882" cy="10973"/>
          </a:xfrm>
          <a:prstGeom prst="rect">
            <a:avLst/>
          </a:prstGeom>
          <a:solidFill>
            <a:srgbClr val="FFFFFF">
              <a:alpha val="12000"/>
            </a:srgbClr>
          </a:solidFill>
          <a:ln/>
        </p:spPr>
      </p:sp>
      <p:pic>
        <p:nvPicPr>
          <p:cNvPr id="9" name="Image 1" descr="assets/logo-snyk-white.png">    </p:cNvPr>
          <p:cNvPicPr>
            <a:picLocks noChangeAspect="1"/>
          </p:cNvPicPr>
          <p:nvPr/>
        </p:nvPicPr>
        <p:blipFill>
          <a:blip r:embed="rId2"/>
          <a:stretch>
            <a:fillRect/>
          </a:stretch>
        </p:blipFill>
        <p:spPr>
          <a:xfrm>
            <a:off x="508406" y="6336792"/>
            <a:ext cx="621792" cy="219456"/>
          </a:xfrm>
          <a:prstGeom prst="rect">
            <a:avLst/>
          </a:prstGeom>
        </p:spPr>
      </p:pic>
      <p:sp>
        <p:nvSpPr>
          <p:cNvPr id="10" name="Text 5"/>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Fix, and gate</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43</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30328"/>
        </a:solidFill>
      </p:bgPr>
    </p:bg>
    <p:spTree>
      <p:nvGrpSpPr>
        <p:cNvPr id="1" name=""/>
        <p:cNvGrpSpPr/>
        <p:nvPr/>
      </p:nvGrpSpPr>
      <p:grpSpPr>
        <a:xfrm>
          <a:off x="0" y="0"/>
          <a:ext cx="0" cy="0"/>
          <a:chOff x="0" y="0"/>
          <a:chExt cx="0" cy="0"/>
        </a:xfrm>
      </p:grpSpPr>
      <p:sp>
        <p:nvSpPr>
          <p:cNvPr id="2" name="Shape 0"/>
          <p:cNvSpPr/>
          <p:nvPr/>
        </p:nvSpPr>
        <p:spPr>
          <a:xfrm>
            <a:off x="0" y="5989320"/>
            <a:ext cx="12191695" cy="868680"/>
          </a:xfrm>
          <a:prstGeom prst="rect">
            <a:avLst/>
          </a:prstGeom>
          <a:solidFill>
            <a:srgbClr val="030328"/>
          </a:solidFill>
          <a:ln/>
        </p:spPr>
      </p:sp>
      <p:sp>
        <p:nvSpPr>
          <p:cNvPr id="3"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SNYK PR CHECKS</a:t>
            </a:r>
            <a:endParaRPr lang="en-US" sz="1050" dirty="0"/>
          </a:p>
        </p:txBody>
      </p:sp>
      <p:pic>
        <p:nvPicPr>
          <p:cNvPr id="4" name="Image 0" descr="assets/logo-snyk-white.png">    </p:cNvPr>
          <p:cNvPicPr>
            <a:picLocks noChangeAspect="1"/>
          </p:cNvPicPr>
          <p:nvPr/>
        </p:nvPicPr>
        <p:blipFill>
          <a:blip r:embed="rId1"/>
          <a:stretch>
            <a:fillRect/>
          </a:stretch>
        </p:blipFill>
        <p:spPr>
          <a:xfrm>
            <a:off x="10796321" y="435254"/>
            <a:ext cx="886968" cy="310896"/>
          </a:xfrm>
          <a:prstGeom prst="rect">
            <a:avLst/>
          </a:prstGeom>
        </p:spPr>
      </p:pic>
      <p:sp>
        <p:nvSpPr>
          <p:cNvPr id="5"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What the status means</a:t>
            </a:r>
            <a:endParaRPr lang="en-US" sz="3000" dirty="0"/>
          </a:p>
        </p:txBody>
      </p:sp>
      <p:sp>
        <p:nvSpPr>
          <p:cNvPr id="6" name="Text 3"/>
          <p:cNvSpPr/>
          <p:nvPr/>
        </p:nvSpPr>
        <p:spPr>
          <a:xfrm>
            <a:off x="508406" y="1755648"/>
            <a:ext cx="10424160" cy="384048"/>
          </a:xfrm>
          <a:prstGeom prst="rect">
            <a:avLst/>
          </a:prstGeom>
          <a:noFill/>
          <a:ln/>
        </p:spPr>
        <p:txBody>
          <a:bodyPr wrap="square" lIns="0" tIns="0" rIns="0" bIns="0" rtlCol="0" anchor="ctr"/>
          <a:lstStyle/>
          <a:p>
            <a:pPr indent="0" marL="0">
              <a:lnSpc>
                <a:spcPts val="1900"/>
              </a:lnSpc>
              <a:buNone/>
            </a:pPr>
            <a:r>
              <a:rPr lang="en-US" sz="1250" dirty="0">
                <a:solidFill>
                  <a:srgbClr val="8A8AA3"/>
                </a:solidFill>
                <a:latin typeface="Geist" pitchFamily="34" charset="0"/>
                <a:ea typeface="Geist" pitchFamily="34" charset="-122"/>
                <a:cs typeface="Geist" pitchFamily="34" charset="-120"/>
              </a:rPr>
              <a:t>One security check and one license check per PR, plus inline comments on the changed lines — max 10 — and a summary comment counting active findings.</a:t>
            </a:r>
            <a:endParaRPr lang="en-US" sz="125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08406" y="2258568"/>
          <a:ext cx="11174882" cy="914400"/>
        </p:xfrm>
        <a:graphic>
          <a:graphicData uri="http://schemas.openxmlformats.org/drawingml/2006/table">
            <a:tbl>
              <a:tblPr/>
              <a:tblGrid>
                <a:gridCol w="3017520"/>
                <a:gridCol w="4937760"/>
                <a:gridCol w="3218688"/>
              </a:tblGrid>
              <a:tr h="603504">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Status</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Meaning</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c>
                  <a:txBody>
                    <a:bodyPr/>
                    <a:lstStyle/>
                    <a:p>
                      <a:pPr indent="0" marL="0">
                        <a:buNone/>
                      </a:pPr>
                      <a:r>
                        <a:rPr lang="en-US" sz="950" b="1" spc="150" kern="0" dirty="0">
                          <a:solidFill>
                            <a:srgbClr val="FFFFFF"/>
                          </a:solidFill>
                          <a:latin typeface="Geist Mono" pitchFamily="34" charset="0"/>
                          <a:ea typeface="Geist Mono" pitchFamily="34" charset="-122"/>
                          <a:cs typeface="Geist Mono" pitchFamily="34" charset="-120"/>
                        </a:rPr>
                        <a:t>What you do</a:t>
                      </a:r>
                      <a:endParaRPr lang="en-US" sz="950" dirty="0">
                        <a:latin typeface="Geist Mono" charset="0"/>
                        <a:ea typeface="Geist Mono" charset="0"/>
                        <a:cs typeface="Geist Mono"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6F00DD">
                        <a:alpha val="22000"/>
                      </a:srgbClr>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Success / Passed</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nothing violating the configured fail conditions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merge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Pending</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the test is still running</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wait</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Failed / Issues found</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issues that must be fixed for the check to pass</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select Details, fix, push</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Error</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build file out of sync, unreadable, or not found</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check your manifest and lockfile</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1A003D">
                        <a:alpha val="60000"/>
                      </a:srgbClr>
                    </a:solidFill>
                  </a:tcPr>
                </a:tc>
              </a:tr>
              <a:tr h="603504">
                <a:tc>
                  <a:txBody>
                    <a:bodyPr/>
                    <a:lstStyle/>
                    <a:p>
                      <a:pPr indent="0" marL="0">
                        <a:buNone/>
                      </a:pPr>
                      <a:r>
                        <a:rPr lang="en-US" sz="1100" b="1" dirty="0">
                          <a:solidFill>
                            <a:srgbClr val="FFFFFF"/>
                          </a:solidFill>
                          <a:latin typeface="Geist" pitchFamily="34" charset="0"/>
                          <a:ea typeface="Geist" pitchFamily="34" charset="-122"/>
                          <a:cs typeface="Geist" pitchFamily="34" charset="-120"/>
                        </a:rPr>
                        <a:t>Canceled</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monthly test limit reached</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c>
                  <a:txBody>
                    <a:bodyPr/>
                    <a:lstStyle/>
                    <a:p>
                      <a:pPr indent="0" marL="0">
                        <a:buNone/>
                      </a:pPr>
                      <a:r>
                        <a:rPr lang="en-US" sz="1100" dirty="0">
                          <a:solidFill>
                            <a:srgbClr val="B8B8CC"/>
                          </a:solidFill>
                          <a:latin typeface="Geist" pitchFamily="34" charset="0"/>
                          <a:ea typeface="Geist" pitchFamily="34" charset="-122"/>
                          <a:cs typeface="Geist" pitchFamily="34" charset="-120"/>
                        </a:rPr>
                        <a:t>talk to your admin</a:t>
                      </a:r>
                      <a:endParaRPr lang="en-US" sz="1100" dirty="0">
                        <a:latin typeface="Geist" charset="0"/>
                        <a:ea typeface="Geist" charset="0"/>
                        <a:cs typeface="Geist" charset="0"/>
                      </a:endParaRPr>
                    </a:p>
                  </a:txBody>
                  <a:tcPr marL="101600" marR="101600" marT="76200" marB="76200" anchor="ctr">
                    <a:lnL w="6350" cap="flat" cmpd="sng" algn="ctr">
                      <a:solidFill>
                        <a:srgbClr val="2B2B4A"/>
                      </a:solidFill>
                      <a:prstDash val="solid"/>
                      <a:round/>
                      <a:headEnd type="none" w="med" len="med"/>
                      <a:tailEnd type="none" w="med" len="med"/>
                    </a:lnL>
                    <a:lnR w="6350" cap="flat" cmpd="sng" algn="ctr">
                      <a:solidFill>
                        <a:srgbClr val="2B2B4A"/>
                      </a:solidFill>
                      <a:prstDash val="solid"/>
                      <a:round/>
                      <a:headEnd type="none" w="med" len="med"/>
                      <a:tailEnd type="none" w="med" len="med"/>
                    </a:lnR>
                    <a:lnT w="6350" cap="flat" cmpd="sng" algn="ctr">
                      <a:solidFill>
                        <a:srgbClr val="2B2B4A"/>
                      </a:solidFill>
                      <a:prstDash val="solid"/>
                      <a:round/>
                      <a:headEnd type="none" w="med" len="med"/>
                      <a:tailEnd type="none" w="med" len="med"/>
                    </a:lnT>
                    <a:lnB w="6350" cap="flat" cmpd="sng" algn="ctr">
                      <a:solidFill>
                        <a:srgbClr val="2B2B4A"/>
                      </a:solidFill>
                      <a:prstDash val="solid"/>
                      <a:round/>
                      <a:headEnd type="none" w="med" len="med"/>
                      <a:tailEnd type="none" w="med" len="med"/>
                    </a:lnB>
                    <a:solidFill>
                      <a:srgbClr val="030328"/>
                    </a:solidFill>
                  </a:tcPr>
                </a:tc>
              </a:tr>
            </a:tbl>
          </a:graphicData>
        </a:graphic>
      </p:graphicFrame>
      <p:sp>
        <p:nvSpPr>
          <p:cNvPr id="8" name="Shape 4"/>
          <p:cNvSpPr/>
          <p:nvPr/>
        </p:nvSpPr>
        <p:spPr>
          <a:xfrm>
            <a:off x="508406" y="6245352"/>
            <a:ext cx="11174882" cy="10973"/>
          </a:xfrm>
          <a:prstGeom prst="rect">
            <a:avLst/>
          </a:prstGeom>
          <a:solidFill>
            <a:srgbClr val="FFFFFF">
              <a:alpha val="12000"/>
            </a:srgbClr>
          </a:solidFill>
          <a:ln/>
        </p:spPr>
      </p:sp>
      <p:pic>
        <p:nvPicPr>
          <p:cNvPr id="9" name="Image 1" descr="assets/logo-snyk-white.png">    </p:cNvPr>
          <p:cNvPicPr>
            <a:picLocks noChangeAspect="1"/>
          </p:cNvPicPr>
          <p:nvPr/>
        </p:nvPicPr>
        <p:blipFill>
          <a:blip r:embed="rId2"/>
          <a:stretch>
            <a:fillRect/>
          </a:stretch>
        </p:blipFill>
        <p:spPr>
          <a:xfrm>
            <a:off x="508406" y="6336792"/>
            <a:ext cx="621792" cy="219456"/>
          </a:xfrm>
          <a:prstGeom prst="rect">
            <a:avLst/>
          </a:prstGeom>
        </p:spPr>
      </p:pic>
      <p:sp>
        <p:nvSpPr>
          <p:cNvPr id="10" name="Text 5"/>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Fix, and gate</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44</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PR CHECKS</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Fail conditions, and how ignores interact</a:t>
            </a:r>
            <a:endParaRPr lang="en-US" sz="3000" dirty="0"/>
          </a:p>
        </p:txBody>
      </p:sp>
      <p:sp>
        <p:nvSpPr>
          <p:cNvPr id="7" name="Shape 3"/>
          <p:cNvSpPr/>
          <p:nvPr/>
        </p:nvSpPr>
        <p:spPr>
          <a:xfrm>
            <a:off x="508406" y="1993392"/>
            <a:ext cx="5468569" cy="3968496"/>
          </a:xfrm>
          <a:prstGeom prst="roundRect">
            <a:avLst>
              <a:gd name="adj" fmla="val 1613"/>
            </a:avLst>
          </a:prstGeom>
          <a:solidFill>
            <a:srgbClr val="6F00DD">
              <a:alpha val="8000"/>
            </a:srgbClr>
          </a:solidFill>
          <a:ln w="9525">
            <a:solidFill>
              <a:srgbClr val="FFFFFF">
                <a:alpha val="14000"/>
              </a:srgbClr>
            </a:solidFill>
            <a:prstDash val="solid"/>
          </a:ln>
        </p:spPr>
      </p:sp>
      <p:pic>
        <p:nvPicPr>
          <p:cNvPr id="8" name="Image 2" descr="assets/grad_bar_v.png">    </p:cNvPr>
          <p:cNvPicPr>
            <a:picLocks noChangeAspect="1"/>
          </p:cNvPicPr>
          <p:nvPr/>
        </p:nvPicPr>
        <p:blipFill>
          <a:blip r:embed="rId3"/>
          <a:stretch>
            <a:fillRect/>
          </a:stretch>
        </p:blipFill>
        <p:spPr>
          <a:xfrm>
            <a:off x="508406" y="2121408"/>
            <a:ext cx="36576" cy="3712464"/>
          </a:xfrm>
          <a:prstGeom prst="rect">
            <a:avLst/>
          </a:prstGeom>
        </p:spPr>
      </p:pic>
      <p:sp>
        <p:nvSpPr>
          <p:cNvPr id="9" name="Text 4"/>
          <p:cNvSpPr/>
          <p:nvPr/>
        </p:nvSpPr>
        <p:spPr>
          <a:xfrm>
            <a:off x="727862" y="2130552"/>
            <a:ext cx="5066233"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FAIL CONDITIONS (YOUR ADMIN SETS THESE)</a:t>
            </a:r>
            <a:endParaRPr lang="en-US" sz="850" dirty="0"/>
          </a:p>
        </p:txBody>
      </p:sp>
      <p:sp>
        <p:nvSpPr>
          <p:cNvPr id="10" name="Text 5"/>
          <p:cNvSpPr/>
          <p:nvPr/>
        </p:nvSpPr>
        <p:spPr>
          <a:xfrm>
            <a:off x="727862" y="2368296"/>
            <a:ext cx="5066233"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Two rules, two narrowers</a:t>
            </a:r>
            <a:endParaRPr lang="en-US" sz="1500" dirty="0"/>
          </a:p>
        </p:txBody>
      </p:sp>
      <p:sp>
        <p:nvSpPr>
          <p:cNvPr id="11" name="Text 6"/>
          <p:cNvSpPr/>
          <p:nvPr/>
        </p:nvSpPr>
        <p:spPr>
          <a:xfrm>
            <a:off x="727862" y="2674620"/>
            <a:ext cx="5066233" cy="3159252"/>
          </a:xfrm>
          <a:prstGeom prst="rect">
            <a:avLst/>
          </a:prstGeom>
          <a:noFill/>
          <a:ln/>
        </p:spPr>
        <p:txBody>
          <a:bodyPr wrap="square" lIns="0" tIns="0" rIns="0" bIns="0" rtlCol="0" anchor="t"/>
          <a:lstStyle/>
          <a:p>
            <a:pPr indent="0" marL="0">
              <a:lnSpc>
                <a:spcPts val="1600"/>
              </a:lnSpc>
              <a:buNone/>
            </a:pPr>
            <a:r>
              <a:rPr lang="en-US" sz="1150" dirty="0">
                <a:solidFill>
                  <a:srgbClr val="B8B8CC"/>
                </a:solidFill>
                <a:latin typeface="Geist" pitchFamily="34" charset="0"/>
                <a:ea typeface="Geist" pitchFamily="34" charset="-122"/>
                <a:cs typeface="Geist" pitchFamily="34" charset="-120"/>
              </a:rPr>
              <a:t>Only fail when the PR ADDS a dependency with issues — you own what you introduce, not the inherited backlog.</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Fail if the repo has ANY issues — strict; needs the backlog cleared first. Mutually exclusive with the first.</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Only high / critical severity — less noise while you ramp.</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Only when a fix is available — never blocks on something you cannot act on.</a:t>
            </a:r>
            <a:endParaRPr lang="en-US" sz="1150" dirty="0"/>
          </a:p>
        </p:txBody>
      </p:sp>
      <p:sp>
        <p:nvSpPr>
          <p:cNvPr id="12" name="Shape 7"/>
          <p:cNvSpPr/>
          <p:nvPr/>
        </p:nvSpPr>
        <p:spPr>
          <a:xfrm>
            <a:off x="6214720" y="1993392"/>
            <a:ext cx="5468569" cy="3968496"/>
          </a:xfrm>
          <a:prstGeom prst="roundRect">
            <a:avLst>
              <a:gd name="adj" fmla="val 1613"/>
            </a:avLst>
          </a:prstGeom>
          <a:solidFill>
            <a:srgbClr val="6F00DD">
              <a:alpha val="8000"/>
            </a:srgbClr>
          </a:solidFill>
          <a:ln w="9525">
            <a:solidFill>
              <a:srgbClr val="FFFFFF">
                <a:alpha val="14000"/>
              </a:srgbClr>
            </a:solidFill>
            <a:prstDash val="solid"/>
          </a:ln>
        </p:spPr>
      </p:sp>
      <p:pic>
        <p:nvPicPr>
          <p:cNvPr id="13" name="Image 3" descr="assets/grad_bar_v.png">    </p:cNvPr>
          <p:cNvPicPr>
            <a:picLocks noChangeAspect="1"/>
          </p:cNvPicPr>
          <p:nvPr/>
        </p:nvPicPr>
        <p:blipFill>
          <a:blip r:embed="rId4"/>
          <a:stretch>
            <a:fillRect/>
          </a:stretch>
        </p:blipFill>
        <p:spPr>
          <a:xfrm>
            <a:off x="6214720" y="2121408"/>
            <a:ext cx="36576" cy="3712464"/>
          </a:xfrm>
          <a:prstGeom prst="rect">
            <a:avLst/>
          </a:prstGeom>
        </p:spPr>
      </p:pic>
      <p:sp>
        <p:nvSpPr>
          <p:cNvPr id="14" name="Text 8"/>
          <p:cNvSpPr/>
          <p:nvPr/>
        </p:nvSpPr>
        <p:spPr>
          <a:xfrm>
            <a:off x="6434176" y="2130552"/>
            <a:ext cx="5066233"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IGNORES AND THE GATE</a:t>
            </a:r>
            <a:endParaRPr lang="en-US" sz="850" dirty="0"/>
          </a:p>
        </p:txBody>
      </p:sp>
      <p:sp>
        <p:nvSpPr>
          <p:cNvPr id="15" name="Text 9"/>
          <p:cNvSpPr/>
          <p:nvPr/>
        </p:nvSpPr>
        <p:spPr>
          <a:xfrm>
            <a:off x="6434176" y="2368296"/>
            <a:ext cx="5066233"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The interaction that surprises people</a:t>
            </a:r>
            <a:endParaRPr lang="en-US" sz="1500" dirty="0"/>
          </a:p>
        </p:txBody>
      </p:sp>
      <p:sp>
        <p:nvSpPr>
          <p:cNvPr id="16" name="Text 10"/>
          <p:cNvSpPr/>
          <p:nvPr/>
        </p:nvSpPr>
        <p:spPr>
          <a:xfrm>
            <a:off x="6434176" y="2674620"/>
            <a:ext cx="5066233" cy="3159252"/>
          </a:xfrm>
          <a:prstGeom prst="rect">
            <a:avLst/>
          </a:prstGeom>
          <a:noFill/>
          <a:ln/>
        </p:spPr>
        <p:txBody>
          <a:bodyPr wrap="square" lIns="0" tIns="0" rIns="0" bIns="0" rtlCol="0" anchor="t"/>
          <a:lstStyle/>
          <a:p>
            <a:pPr indent="0" marL="0">
              <a:lnSpc>
                <a:spcPts val="1600"/>
              </a:lnSpc>
              <a:buNone/>
            </a:pPr>
            <a:r>
              <a:rPr lang="en-US" sz="1150" dirty="0">
                <a:solidFill>
                  <a:srgbClr val="B8B8CC"/>
                </a:solidFill>
                <a:latin typeface="Geist" pitchFamily="34" charset="0"/>
                <a:ea typeface="Geist" pitchFamily="34" charset="-122"/>
                <a:cs typeface="Geist" pitchFamily="34" charset="-120"/>
              </a:rPr>
              <a:t>Ignored findings do not fail a check and are not counted in the summary.</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Ignore something AFTER a check completed? It must be retriggered by a new commit.</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On retrigger the inline comment collapses and is marked resolved.</a:t>
            </a:r>
            <a:endParaRPr lang="en-US" sz="1150" dirty="0"/>
          </a:p>
          <a:p>
            <a:pPr indent="0" marL="0">
              <a:lnSpc>
                <a:spcPts val="1600"/>
              </a:lnSpc>
              <a:buNone/>
            </a:pPr>
            <a:endParaRPr lang="en-US" sz="1150" dirty="0"/>
          </a:p>
          <a:p>
            <a:pPr indent="0" marL="0">
              <a:lnSpc>
                <a:spcPts val="1600"/>
              </a:lnSpc>
              <a:buNone/>
            </a:pPr>
            <a:r>
              <a:rPr lang="en-US" sz="1150" dirty="0">
                <a:solidFill>
                  <a:srgbClr val="B8B8CC"/>
                </a:solidFill>
                <a:latin typeface="Geist" pitchFamily="34" charset="0"/>
                <a:ea typeface="Geist" pitchFamily="34" charset="-122"/>
                <a:cs typeface="Geist" pitchFamily="34" charset="-120"/>
              </a:rPr>
              <a:t>Same logic in CI: snyk code test --severity-threshold=high exits 0 if the only highs are ignored.</a:t>
            </a:r>
            <a:endParaRPr lang="en-US" sz="1150" dirty="0"/>
          </a:p>
        </p:txBody>
      </p:sp>
      <p:sp>
        <p:nvSpPr>
          <p:cNvPr id="17" name="Shape 11"/>
          <p:cNvSpPr/>
          <p:nvPr/>
        </p:nvSpPr>
        <p:spPr>
          <a:xfrm>
            <a:off x="508406" y="6245352"/>
            <a:ext cx="11174882" cy="10973"/>
          </a:xfrm>
          <a:prstGeom prst="rect">
            <a:avLst/>
          </a:prstGeom>
          <a:solidFill>
            <a:srgbClr val="FFFFFF">
              <a:alpha val="12000"/>
            </a:srgbClr>
          </a:solidFill>
          <a:ln/>
        </p:spPr>
      </p:sp>
      <p:pic>
        <p:nvPicPr>
          <p:cNvPr id="18" name="Image 4" descr="assets/logo-snyk-white.png">    </p:cNvPr>
          <p:cNvPicPr>
            <a:picLocks noChangeAspect="1"/>
          </p:cNvPicPr>
          <p:nvPr/>
        </p:nvPicPr>
        <p:blipFill>
          <a:blip r:embed="rId5"/>
          <a:stretch>
            <a:fillRect/>
          </a:stretch>
        </p:blipFill>
        <p:spPr>
          <a:xfrm>
            <a:off x="508406" y="6336792"/>
            <a:ext cx="621792" cy="219456"/>
          </a:xfrm>
          <a:prstGeom prst="rect">
            <a:avLst/>
          </a:prstGeom>
        </p:spPr>
      </p:pic>
      <p:sp>
        <p:nvSpPr>
          <p:cNvPr id="19" name="Text 12"/>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Fix, and gate</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45</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30328"/>
        </a:solidFill>
      </p:bgPr>
    </p:bg>
    <p:spTree>
      <p:nvGrpSpPr>
        <p:cNvPr id="1" name=""/>
        <p:cNvGrpSpPr/>
        <p:nvPr/>
      </p:nvGrpSpPr>
      <p:grpSpPr>
        <a:xfrm>
          <a:off x="0" y="0"/>
          <a:ext cx="0" cy="0"/>
          <a:chOff x="0" y="0"/>
          <a:chExt cx="0" cy="0"/>
        </a:xfrm>
      </p:grpSpPr>
      <p:sp>
        <p:nvSpPr>
          <p:cNvPr id="2" name="Shape 0"/>
          <p:cNvSpPr/>
          <p:nvPr/>
        </p:nvSpPr>
        <p:spPr>
          <a:xfrm>
            <a:off x="0" y="5989320"/>
            <a:ext cx="12191695" cy="868680"/>
          </a:xfrm>
          <a:prstGeom prst="rect">
            <a:avLst/>
          </a:prstGeom>
          <a:solidFill>
            <a:srgbClr val="030328"/>
          </a:solidFill>
          <a:ln/>
        </p:spPr>
      </p:sp>
      <p:sp>
        <p:nvSpPr>
          <p:cNvPr id="3"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CI IN THIS REPO</a:t>
            </a:r>
            <a:endParaRPr lang="en-US" sz="1050" dirty="0"/>
          </a:p>
        </p:txBody>
      </p:sp>
      <p:pic>
        <p:nvPicPr>
          <p:cNvPr id="4" name="Image 0" descr="assets/logo-snyk-white.png">    </p:cNvPr>
          <p:cNvPicPr>
            <a:picLocks noChangeAspect="1"/>
          </p:cNvPicPr>
          <p:nvPr/>
        </p:nvPicPr>
        <p:blipFill>
          <a:blip r:embed="rId1"/>
          <a:stretch>
            <a:fillRect/>
          </a:stretch>
        </p:blipFill>
        <p:spPr>
          <a:xfrm>
            <a:off x="10796321" y="435254"/>
            <a:ext cx="886968" cy="310896"/>
          </a:xfrm>
          <a:prstGeom prst="rect">
            <a:avLst/>
          </a:prstGeom>
        </p:spPr>
      </p:pic>
      <p:sp>
        <p:nvSpPr>
          <p:cNvPr id="5"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There is no Snyk workflow — adding one is the exercise</a:t>
            </a:r>
            <a:endParaRPr lang="en-US" sz="3000" dirty="0"/>
          </a:p>
        </p:txBody>
      </p:sp>
      <p:sp>
        <p:nvSpPr>
          <p:cNvPr id="6" name="Text 3"/>
          <p:cNvSpPr/>
          <p:nvPr/>
        </p:nvSpPr>
        <p:spPr>
          <a:xfrm>
            <a:off x="508406" y="1773936"/>
            <a:ext cx="10607040" cy="402336"/>
          </a:xfrm>
          <a:prstGeom prst="rect">
            <a:avLst/>
          </a:prstGeom>
          <a:noFill/>
          <a:ln/>
        </p:spPr>
        <p:txBody>
          <a:bodyPr wrap="square" lIns="0" tIns="0" rIns="0" bIns="0" rtlCol="0" anchor="ctr"/>
          <a:lstStyle/>
          <a:p>
            <a:pPr indent="0" marL="0">
              <a:lnSpc>
                <a:spcPts val="1900"/>
              </a:lnSpc>
              <a:buNone/>
            </a:pPr>
            <a:r>
              <a:rPr lang="en-US" sz="1250" dirty="0">
                <a:solidFill>
                  <a:srgbClr val="8A8AA3"/>
                </a:solidFill>
                <a:latin typeface="Geist" pitchFamily="34" charset="0"/>
                <a:ea typeface="Geist" pitchFamily="34" charset="-122"/>
                <a:cs typeface="Geist" pitchFamily="34" charset="-120"/>
              </a:rPr>
              <a:t>.github/workflows/ has ci.yml, codeql-analysis.yml and zap_scan.yml. Nothing Snyk. Clean slate.</a:t>
            </a:r>
            <a:endParaRPr lang="en-US" sz="1250" dirty="0"/>
          </a:p>
        </p:txBody>
      </p:sp>
      <p:sp>
        <p:nvSpPr>
          <p:cNvPr id="7" name="Shape 4"/>
          <p:cNvSpPr/>
          <p:nvPr/>
        </p:nvSpPr>
        <p:spPr>
          <a:xfrm>
            <a:off x="508406" y="2286000"/>
            <a:ext cx="5459425" cy="3657600"/>
          </a:xfrm>
          <a:prstGeom prst="roundRect">
            <a:avLst>
              <a:gd name="adj" fmla="val 1750"/>
            </a:avLst>
          </a:prstGeom>
          <a:solidFill>
            <a:srgbClr val="0B0B2E"/>
          </a:solidFill>
          <a:ln w="9525">
            <a:solidFill>
              <a:srgbClr val="FFFFFF">
                <a:alpha val="12000"/>
              </a:srgbClr>
            </a:solidFill>
            <a:prstDash val="solid"/>
          </a:ln>
        </p:spPr>
      </p:sp>
      <p:pic>
        <p:nvPicPr>
          <p:cNvPr id="8" name="Image 1" descr="assets/grad_bar_h.png">    </p:cNvPr>
          <p:cNvPicPr>
            <a:picLocks noChangeAspect="1"/>
          </p:cNvPicPr>
          <p:nvPr/>
        </p:nvPicPr>
        <p:blipFill>
          <a:blip r:embed="rId2"/>
          <a:stretch>
            <a:fillRect/>
          </a:stretch>
        </p:blipFill>
        <p:spPr>
          <a:xfrm>
            <a:off x="691286" y="2487168"/>
            <a:ext cx="777240" cy="32004"/>
          </a:xfrm>
          <a:prstGeom prst="rect">
            <a:avLst/>
          </a:prstGeom>
        </p:spPr>
      </p:pic>
      <p:sp>
        <p:nvSpPr>
          <p:cNvPr id="9" name="Text 5"/>
          <p:cNvSpPr/>
          <p:nvPr/>
        </p:nvSpPr>
        <p:spPr>
          <a:xfrm>
            <a:off x="691286" y="2596896"/>
            <a:ext cx="5093665" cy="237744"/>
          </a:xfrm>
          <a:prstGeom prst="rect">
            <a:avLst/>
          </a:prstGeom>
          <a:noFill/>
          <a:ln/>
        </p:spPr>
        <p:txBody>
          <a:bodyPr wrap="square" lIns="0" tIns="0" rIns="0" bIns="0" rtlCol="0" anchor="ctr"/>
          <a:lstStyle/>
          <a:p>
            <a:pPr indent="0" marL="0">
              <a:buNone/>
            </a:pPr>
            <a:r>
              <a:rPr lang="en-US" sz="850" b="1" spc="180" kern="0" dirty="0">
                <a:solidFill>
                  <a:srgbClr val="8A8AA3"/>
                </a:solidFill>
                <a:latin typeface="Geist Mono" pitchFamily="34" charset="0"/>
                <a:ea typeface="Geist Mono" pitchFamily="34" charset="-122"/>
                <a:cs typeface="Geist Mono" pitchFamily="34" charset="-120"/>
              </a:rPr>
              <a:t>THE GATE — .GITHUB/WORKFLOWS/SNYK.YML</a:t>
            </a:r>
            <a:endParaRPr lang="en-US" sz="850" dirty="0"/>
          </a:p>
        </p:txBody>
      </p:sp>
      <p:sp>
        <p:nvSpPr>
          <p:cNvPr id="10" name="Text 6"/>
          <p:cNvSpPr/>
          <p:nvPr/>
        </p:nvSpPr>
        <p:spPr>
          <a:xfrm>
            <a:off x="691286" y="2889504"/>
            <a:ext cx="5111953" cy="2871216"/>
          </a:xfrm>
          <a:prstGeom prst="rect">
            <a:avLst/>
          </a:prstGeom>
          <a:noFill/>
          <a:ln/>
        </p:spPr>
        <p:txBody>
          <a:bodyPr wrap="square" lIns="0" tIns="0" rIns="0" bIns="0" rtlCol="0" anchor="t"/>
          <a:lstStyle/>
          <a:p>
            <a:pPr indent="0" marL="0">
              <a:lnSpc>
                <a:spcPts val="1318"/>
              </a:lnSpc>
              <a:buNone/>
            </a:pPr>
            <a:r>
              <a:rPr lang="en-US" sz="850" dirty="0">
                <a:solidFill>
                  <a:srgbClr val="D8D8EA"/>
                </a:solidFill>
                <a:latin typeface="Geist Mono" pitchFamily="34" charset="0"/>
                <a:ea typeface="Geist Mono" pitchFamily="34" charset="-122"/>
                <a:cs typeface="Geist Mono" pitchFamily="34" charset="-120"/>
              </a:rPr>
              <a:t>- name: Snyk Open Source test</a:t>
            </a:r>
            <a:endParaRPr lang="en-US" sz="850" dirty="0"/>
          </a:p>
          <a:p>
            <a:pPr indent="0" marL="0">
              <a:lnSpc>
                <a:spcPts val="1318"/>
              </a:lnSpc>
              <a:buNone/>
            </a:pPr>
            <a:r>
              <a:rPr lang="en-US" sz="850" dirty="0">
                <a:solidFill>
                  <a:srgbClr val="D8D8EA"/>
                </a:solidFill>
                <a:latin typeface="Geist Mono" pitchFamily="34" charset="0"/>
                <a:ea typeface="Geist Mono" pitchFamily="34" charset="-122"/>
                <a:cs typeface="Geist Mono" pitchFamily="34" charset="-120"/>
              </a:rPr>
              <a:t>  env:</a:t>
            </a:r>
            <a:endParaRPr lang="en-US" sz="850" dirty="0"/>
          </a:p>
          <a:p>
            <a:pPr indent="0" marL="0">
              <a:lnSpc>
                <a:spcPts val="1318"/>
              </a:lnSpc>
              <a:buNone/>
            </a:pPr>
            <a:r>
              <a:rPr lang="en-US" sz="850" dirty="0">
                <a:solidFill>
                  <a:srgbClr val="D8D8EA"/>
                </a:solidFill>
                <a:latin typeface="Geist Mono" pitchFamily="34" charset="0"/>
                <a:ea typeface="Geist Mono" pitchFamily="34" charset="-122"/>
                <a:cs typeface="Geist Mono" pitchFamily="34" charset="-120"/>
              </a:rPr>
              <a:t>    SNYK_TOKEN: ${{ secrets.SNYK_TOKEN }}</a:t>
            </a:r>
            <a:endParaRPr lang="en-US" sz="850" dirty="0"/>
          </a:p>
          <a:p>
            <a:pPr indent="0" marL="0">
              <a:lnSpc>
                <a:spcPts val="1318"/>
              </a:lnSpc>
              <a:buNone/>
            </a:pPr>
            <a:r>
              <a:rPr lang="en-US" sz="850" dirty="0">
                <a:solidFill>
                  <a:srgbClr val="D8D8EA"/>
                </a:solidFill>
                <a:latin typeface="Geist Mono" pitchFamily="34" charset="0"/>
                <a:ea typeface="Geist Mono" pitchFamily="34" charset="-122"/>
                <a:cs typeface="Geist Mono" pitchFamily="34" charset="-120"/>
              </a:rPr>
              <a:t>  run: snyk test --all-projects \</a:t>
            </a:r>
            <a:endParaRPr lang="en-US" sz="850" dirty="0"/>
          </a:p>
          <a:p>
            <a:pPr indent="0" marL="0">
              <a:lnSpc>
                <a:spcPts val="1318"/>
              </a:lnSpc>
              <a:buNone/>
            </a:pPr>
            <a:r>
              <a:rPr lang="en-US" sz="850" dirty="0">
                <a:solidFill>
                  <a:srgbClr val="D8D8EA"/>
                </a:solidFill>
                <a:latin typeface="Geist Mono" pitchFamily="34" charset="0"/>
                <a:ea typeface="Geist Mono" pitchFamily="34" charset="-122"/>
                <a:cs typeface="Geist Mono" pitchFamily="34" charset="-120"/>
              </a:rPr>
              <a:t>         --severity-threshold=high</a:t>
            </a:r>
            <a:endParaRPr lang="en-US" sz="850" dirty="0"/>
          </a:p>
          <a:p>
            <a:pPr indent="0" marL="0">
              <a:lnSpc>
                <a:spcPts val="1318"/>
              </a:lnSpc>
              <a:buNone/>
            </a:pPr>
            <a:endParaRPr lang="en-US" sz="850" dirty="0"/>
          </a:p>
          <a:p>
            <a:pPr indent="0" marL="0">
              <a:lnSpc>
                <a:spcPts val="1318"/>
              </a:lnSpc>
              <a:buNone/>
            </a:pPr>
            <a:r>
              <a:rPr lang="en-US" sz="850" dirty="0">
                <a:solidFill>
                  <a:srgbClr val="D8D8EA"/>
                </a:solidFill>
                <a:latin typeface="Geist Mono" pitchFamily="34" charset="0"/>
                <a:ea typeface="Geist Mono" pitchFamily="34" charset="-122"/>
                <a:cs typeface="Geist Mono" pitchFamily="34" charset="-120"/>
              </a:rPr>
              <a:t>- name: Snyk Code test</a:t>
            </a:r>
            <a:endParaRPr lang="en-US" sz="850" dirty="0"/>
          </a:p>
          <a:p>
            <a:pPr indent="0" marL="0">
              <a:lnSpc>
                <a:spcPts val="1318"/>
              </a:lnSpc>
              <a:buNone/>
            </a:pPr>
            <a:r>
              <a:rPr lang="en-US" sz="850" dirty="0">
                <a:solidFill>
                  <a:srgbClr val="D8D8EA"/>
                </a:solidFill>
                <a:latin typeface="Geist Mono" pitchFamily="34" charset="0"/>
                <a:ea typeface="Geist Mono" pitchFamily="34" charset="-122"/>
                <a:cs typeface="Geist Mono" pitchFamily="34" charset="-120"/>
              </a:rPr>
              <a:t>  env:</a:t>
            </a:r>
            <a:endParaRPr lang="en-US" sz="850" dirty="0"/>
          </a:p>
          <a:p>
            <a:pPr indent="0" marL="0">
              <a:lnSpc>
                <a:spcPts val="1318"/>
              </a:lnSpc>
              <a:buNone/>
            </a:pPr>
            <a:r>
              <a:rPr lang="en-US" sz="850" dirty="0">
                <a:solidFill>
                  <a:srgbClr val="D8D8EA"/>
                </a:solidFill>
                <a:latin typeface="Geist Mono" pitchFamily="34" charset="0"/>
                <a:ea typeface="Geist Mono" pitchFamily="34" charset="-122"/>
                <a:cs typeface="Geist Mono" pitchFamily="34" charset="-120"/>
              </a:rPr>
              <a:t>    SNYK_TOKEN: ${{ secrets.SNYK_TOKEN }}</a:t>
            </a:r>
            <a:endParaRPr lang="en-US" sz="850" dirty="0"/>
          </a:p>
          <a:p>
            <a:pPr indent="0" marL="0">
              <a:lnSpc>
                <a:spcPts val="1318"/>
              </a:lnSpc>
              <a:buNone/>
            </a:pPr>
            <a:r>
              <a:rPr lang="en-US" sz="850" dirty="0">
                <a:solidFill>
                  <a:srgbClr val="D8D8EA"/>
                </a:solidFill>
                <a:latin typeface="Geist Mono" pitchFamily="34" charset="0"/>
                <a:ea typeface="Geist Mono" pitchFamily="34" charset="-122"/>
                <a:cs typeface="Geist Mono" pitchFamily="34" charset="-120"/>
              </a:rPr>
              <a:t>  run: snyk code test --severity-threshold=high \</a:t>
            </a:r>
            <a:endParaRPr lang="en-US" sz="850" dirty="0"/>
          </a:p>
          <a:p>
            <a:pPr indent="0" marL="0">
              <a:lnSpc>
                <a:spcPts val="1318"/>
              </a:lnSpc>
              <a:buNone/>
            </a:pPr>
            <a:r>
              <a:rPr lang="en-US" sz="850" dirty="0">
                <a:solidFill>
                  <a:srgbClr val="D8D8EA"/>
                </a:solidFill>
                <a:latin typeface="Geist Mono" pitchFamily="34" charset="0"/>
                <a:ea typeface="Geist Mono" pitchFamily="34" charset="-122"/>
                <a:cs typeface="Geist Mono" pitchFamily="34" charset="-120"/>
              </a:rPr>
              <a:t>         --sarif-file-output=snyk-code.sarif</a:t>
            </a:r>
            <a:endParaRPr lang="en-US" sz="850" dirty="0"/>
          </a:p>
        </p:txBody>
      </p:sp>
      <p:sp>
        <p:nvSpPr>
          <p:cNvPr id="11" name="Shape 7"/>
          <p:cNvSpPr/>
          <p:nvPr/>
        </p:nvSpPr>
        <p:spPr>
          <a:xfrm>
            <a:off x="6223864" y="2286000"/>
            <a:ext cx="5459425" cy="3657600"/>
          </a:xfrm>
          <a:prstGeom prst="roundRect">
            <a:avLst>
              <a:gd name="adj" fmla="val 1750"/>
            </a:avLst>
          </a:prstGeom>
          <a:solidFill>
            <a:srgbClr val="0B0B2E"/>
          </a:solidFill>
          <a:ln w="9525">
            <a:solidFill>
              <a:srgbClr val="FFFFFF">
                <a:alpha val="12000"/>
              </a:srgbClr>
            </a:solidFill>
            <a:prstDash val="solid"/>
          </a:ln>
        </p:spPr>
      </p:sp>
      <p:pic>
        <p:nvPicPr>
          <p:cNvPr id="12" name="Image 2" descr="assets/grad_bar_h.png">    </p:cNvPr>
          <p:cNvPicPr>
            <a:picLocks noChangeAspect="1"/>
          </p:cNvPicPr>
          <p:nvPr/>
        </p:nvPicPr>
        <p:blipFill>
          <a:blip r:embed="rId3"/>
          <a:stretch>
            <a:fillRect/>
          </a:stretch>
        </p:blipFill>
        <p:spPr>
          <a:xfrm>
            <a:off x="6406744" y="2487168"/>
            <a:ext cx="777240" cy="32004"/>
          </a:xfrm>
          <a:prstGeom prst="rect">
            <a:avLst/>
          </a:prstGeom>
        </p:spPr>
      </p:pic>
      <p:sp>
        <p:nvSpPr>
          <p:cNvPr id="13" name="Text 8"/>
          <p:cNvSpPr/>
          <p:nvPr/>
        </p:nvSpPr>
        <p:spPr>
          <a:xfrm>
            <a:off x="6406744" y="2596896"/>
            <a:ext cx="5093665" cy="237744"/>
          </a:xfrm>
          <a:prstGeom prst="rect">
            <a:avLst/>
          </a:prstGeom>
          <a:noFill/>
          <a:ln/>
        </p:spPr>
        <p:txBody>
          <a:bodyPr wrap="square" lIns="0" tIns="0" rIns="0" bIns="0" rtlCol="0" anchor="ctr"/>
          <a:lstStyle/>
          <a:p>
            <a:pPr indent="0" marL="0">
              <a:buNone/>
            </a:pPr>
            <a:r>
              <a:rPr lang="en-US" sz="850" b="1" spc="180" kern="0" dirty="0">
                <a:solidFill>
                  <a:srgbClr val="8A8AA3"/>
                </a:solidFill>
                <a:latin typeface="Geist Mono" pitchFamily="34" charset="0"/>
                <a:ea typeface="Geist Mono" pitchFamily="34" charset="-122"/>
                <a:cs typeface="Geist Mono" pitchFamily="34" charset="-120"/>
              </a:rPr>
              <a:t>THEN, AND ONLY THEN</a:t>
            </a:r>
            <a:endParaRPr lang="en-US" sz="850" dirty="0"/>
          </a:p>
        </p:txBody>
      </p:sp>
      <p:sp>
        <p:nvSpPr>
          <p:cNvPr id="14" name="Text 9"/>
          <p:cNvSpPr/>
          <p:nvPr/>
        </p:nvSpPr>
        <p:spPr>
          <a:xfrm>
            <a:off x="6406744" y="2889504"/>
            <a:ext cx="5111953" cy="2871216"/>
          </a:xfrm>
          <a:prstGeom prst="rect">
            <a:avLst/>
          </a:prstGeom>
          <a:noFill/>
          <a:ln/>
        </p:spPr>
        <p:txBody>
          <a:bodyPr wrap="square" lIns="0" tIns="0" rIns="0" bIns="0" rtlCol="0" anchor="t"/>
          <a:lstStyle/>
          <a:p>
            <a:pPr indent="0" marL="0">
              <a:lnSpc>
                <a:spcPts val="1318"/>
              </a:lnSpc>
              <a:buNone/>
            </a:pPr>
            <a:r>
              <a:rPr lang="en-US" sz="850" dirty="0">
                <a:solidFill>
                  <a:srgbClr val="D8D8EA"/>
                </a:solidFill>
                <a:latin typeface="Geist Mono" pitchFamily="34" charset="0"/>
                <a:ea typeface="Geist Mono" pitchFamily="34" charset="-122"/>
                <a:cs typeface="Geist Mono" pitchFamily="34" charset="-120"/>
              </a:rPr>
              <a:t>- name: Snyk monitor</a:t>
            </a:r>
            <a:endParaRPr lang="en-US" sz="850" dirty="0"/>
          </a:p>
          <a:p>
            <a:pPr indent="0" marL="0">
              <a:lnSpc>
                <a:spcPts val="1318"/>
              </a:lnSpc>
              <a:buNone/>
            </a:pPr>
            <a:r>
              <a:rPr lang="en-US" sz="850" dirty="0">
                <a:solidFill>
                  <a:srgbClr val="D8D8EA"/>
                </a:solidFill>
                <a:latin typeface="Geist Mono" pitchFamily="34" charset="0"/>
                <a:ea typeface="Geist Mono" pitchFamily="34" charset="-122"/>
                <a:cs typeface="Geist Mono" pitchFamily="34" charset="-120"/>
              </a:rPr>
              <a:t>  if: github.ref == 'refs/heads/develop'</a:t>
            </a:r>
            <a:endParaRPr lang="en-US" sz="850" dirty="0"/>
          </a:p>
          <a:p>
            <a:pPr indent="0" marL="0">
              <a:lnSpc>
                <a:spcPts val="1318"/>
              </a:lnSpc>
              <a:buNone/>
            </a:pPr>
            <a:r>
              <a:rPr lang="en-US" sz="850" dirty="0">
                <a:solidFill>
                  <a:srgbClr val="D8D8EA"/>
                </a:solidFill>
                <a:latin typeface="Geist Mono" pitchFamily="34" charset="0"/>
                <a:ea typeface="Geist Mono" pitchFamily="34" charset="-122"/>
                <a:cs typeface="Geist Mono" pitchFamily="34" charset="-120"/>
              </a:rPr>
              <a:t>  run: snyk monitor --all-projects</a:t>
            </a:r>
            <a:endParaRPr lang="en-US" sz="850" dirty="0"/>
          </a:p>
          <a:p>
            <a:pPr indent="0" marL="0">
              <a:lnSpc>
                <a:spcPts val="1318"/>
              </a:lnSpc>
              <a:buNone/>
            </a:pPr>
            <a:endParaRPr lang="en-US" sz="850" dirty="0"/>
          </a:p>
          <a:p>
            <a:pPr indent="0" marL="0">
              <a:lnSpc>
                <a:spcPts val="1318"/>
              </a:lnSpc>
              <a:buNone/>
            </a:pPr>
            <a:r>
              <a:rPr lang="en-US" sz="850" dirty="0">
                <a:solidFill>
                  <a:srgbClr val="D8D8EA"/>
                </a:solidFill>
                <a:latin typeface="Geist Mono" pitchFamily="34" charset="0"/>
                <a:ea typeface="Geist Mono" pitchFamily="34" charset="-122"/>
                <a:cs typeface="Geist Mono" pitchFamily="34" charset="-120"/>
              </a:rPr>
              <a:t># --severity-threshold=high is what makes it a GATE</a:t>
            </a:r>
            <a:endParaRPr lang="en-US" sz="850" dirty="0"/>
          </a:p>
          <a:p>
            <a:pPr indent="0" marL="0">
              <a:lnSpc>
                <a:spcPts val="1318"/>
              </a:lnSpc>
              <a:buNone/>
            </a:pPr>
            <a:r>
              <a:rPr lang="en-US" sz="850" dirty="0">
                <a:solidFill>
                  <a:srgbClr val="D8D8EA"/>
                </a:solidFill>
                <a:latin typeface="Geist Mono" pitchFamily="34" charset="0"/>
                <a:ea typeface="Geist Mono" pitchFamily="34" charset="-122"/>
                <a:cs typeface="Geist Mono" pitchFamily="34" charset="-120"/>
              </a:rPr>
              <a:t># --sarif-file-output returns nothing for SCA —</a:t>
            </a:r>
            <a:endParaRPr lang="en-US" sz="850" dirty="0"/>
          </a:p>
          <a:p>
            <a:pPr indent="0" marL="0">
              <a:lnSpc>
                <a:spcPts val="1318"/>
              </a:lnSpc>
              <a:buNone/>
            </a:pPr>
            <a:r>
              <a:rPr lang="en-US" sz="850" dirty="0">
                <a:solidFill>
                  <a:srgbClr val="D8D8EA"/>
                </a:solidFill>
                <a:latin typeface="Geist Mono" pitchFamily="34" charset="0"/>
                <a:ea typeface="Geist Mono" pitchFamily="34" charset="-122"/>
                <a:cs typeface="Geist Mono" pitchFamily="34" charset="-120"/>
              </a:rPr>
              <a:t>#   it is a Snyk Code flag in practice</a:t>
            </a:r>
            <a:endParaRPr lang="en-US" sz="850" dirty="0"/>
          </a:p>
          <a:p>
            <a:pPr indent="0" marL="0">
              <a:lnSpc>
                <a:spcPts val="1318"/>
              </a:lnSpc>
              <a:buNone/>
            </a:pPr>
            <a:r>
              <a:rPr lang="en-US" sz="850" dirty="0">
                <a:solidFill>
                  <a:srgbClr val="D8D8EA"/>
                </a:solidFill>
                <a:latin typeface="Geist Mono" pitchFamily="34" charset="0"/>
                <a:ea typeface="Geist Mono" pitchFamily="34" charset="-122"/>
                <a:cs typeface="Geist Mono" pitchFamily="34" charset="-120"/>
              </a:rPr>
              <a:t># monitor runs LAST and only on develop, so the</a:t>
            </a:r>
            <a:endParaRPr lang="en-US" sz="850" dirty="0"/>
          </a:p>
          <a:p>
            <a:pPr indent="0" marL="0">
              <a:lnSpc>
                <a:spcPts val="1318"/>
              </a:lnSpc>
              <a:buNone/>
            </a:pPr>
            <a:r>
              <a:rPr lang="en-US" sz="850" dirty="0">
                <a:solidFill>
                  <a:srgbClr val="D8D8EA"/>
                </a:solidFill>
                <a:latin typeface="Geist Mono" pitchFamily="34" charset="0"/>
                <a:ea typeface="Geist Mono" pitchFamily="34" charset="-122"/>
                <a:cs typeface="Geist Mono" pitchFamily="34" charset="-120"/>
              </a:rPr>
              <a:t>#   snapshot tracks green builds on the integration</a:t>
            </a:r>
            <a:endParaRPr lang="en-US" sz="850" dirty="0"/>
          </a:p>
          <a:p>
            <a:pPr indent="0" marL="0">
              <a:lnSpc>
                <a:spcPts val="1318"/>
              </a:lnSpc>
              <a:buNone/>
            </a:pPr>
            <a:r>
              <a:rPr lang="en-US" sz="850" dirty="0">
                <a:solidFill>
                  <a:srgbClr val="D8D8EA"/>
                </a:solidFill>
                <a:latin typeface="Geist Mono" pitchFamily="34" charset="0"/>
                <a:ea typeface="Geist Mono" pitchFamily="34" charset="-122"/>
                <a:cs typeface="Geist Mono" pitchFamily="34" charset="-120"/>
              </a:rPr>
              <a:t>#   branch, not every feature branch</a:t>
            </a:r>
            <a:endParaRPr lang="en-US" sz="850" dirty="0"/>
          </a:p>
        </p:txBody>
      </p:sp>
      <p:sp>
        <p:nvSpPr>
          <p:cNvPr id="15" name="Shape 10"/>
          <p:cNvSpPr/>
          <p:nvPr/>
        </p:nvSpPr>
        <p:spPr>
          <a:xfrm>
            <a:off x="508406" y="6245352"/>
            <a:ext cx="11174882" cy="10973"/>
          </a:xfrm>
          <a:prstGeom prst="rect">
            <a:avLst/>
          </a:prstGeom>
          <a:solidFill>
            <a:srgbClr val="FFFFFF">
              <a:alpha val="12000"/>
            </a:srgbClr>
          </a:solidFill>
          <a:ln/>
        </p:spPr>
      </p:sp>
      <p:pic>
        <p:nvPicPr>
          <p:cNvPr id="16" name="Image 3" descr="assets/logo-snyk-white.png">    </p:cNvPr>
          <p:cNvPicPr>
            <a:picLocks noChangeAspect="1"/>
          </p:cNvPicPr>
          <p:nvPr/>
        </p:nvPicPr>
        <p:blipFill>
          <a:blip r:embed="rId4"/>
          <a:stretch>
            <a:fillRect/>
          </a:stretch>
        </p:blipFill>
        <p:spPr>
          <a:xfrm>
            <a:off x="508406" y="6336792"/>
            <a:ext cx="621792" cy="219456"/>
          </a:xfrm>
          <a:prstGeom prst="rect">
            <a:avLst/>
          </a:prstGeom>
        </p:spPr>
      </p:pic>
      <p:sp>
        <p:nvSpPr>
          <p:cNvPr id="17" name="Text 11"/>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Fix, and gate</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46</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LABS</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11174882" cy="914400"/>
          </a:xfrm>
          <a:prstGeom prst="rect">
            <a:avLst/>
          </a:prstGeom>
          <a:noFill/>
          <a:ln/>
        </p:spPr>
        <p:txBody>
          <a:bodyPr wrap="square" lIns="0" tIns="0" rIns="0" bIns="0" rtlCol="0" anchor="t"/>
          <a:lstStyle/>
          <a:p>
            <a:pPr indent="0" marL="0">
              <a:lnSpc>
                <a:spcPts val="3100"/>
              </a:lnSpc>
              <a:buNone/>
            </a:pPr>
            <a:r>
              <a:rPr lang="en-US" sz="3000" b="1" spc="-100" kern="0" dirty="0">
                <a:solidFill>
                  <a:srgbClr val="FFFFFF"/>
                </a:solidFill>
                <a:latin typeface="Geist" pitchFamily="34" charset="0"/>
                <a:ea typeface="Geist" pitchFamily="34" charset="-122"/>
                <a:cs typeface="Geist" pitchFamily="34" charset="-120"/>
              </a:rPr>
              <a:t>Six exercises, in order</a:t>
            </a:r>
            <a:endParaRPr lang="en-US" sz="3000" dirty="0"/>
          </a:p>
        </p:txBody>
      </p:sp>
      <p:sp>
        <p:nvSpPr>
          <p:cNvPr id="7" name="Text 3"/>
          <p:cNvSpPr/>
          <p:nvPr/>
        </p:nvSpPr>
        <p:spPr>
          <a:xfrm>
            <a:off x="508406" y="1783080"/>
            <a:ext cx="9692640" cy="411480"/>
          </a:xfrm>
          <a:prstGeom prst="rect">
            <a:avLst/>
          </a:prstGeom>
          <a:noFill/>
          <a:ln/>
        </p:spPr>
        <p:txBody>
          <a:bodyPr wrap="square" lIns="0" tIns="0" rIns="0" bIns="0" rtlCol="0" anchor="ctr"/>
          <a:lstStyle/>
          <a:p>
            <a:pPr indent="0" marL="0">
              <a:lnSpc>
                <a:spcPts val="1900"/>
              </a:lnSpc>
              <a:buNone/>
            </a:pPr>
            <a:r>
              <a:rPr lang="en-US" sz="1250" dirty="0">
                <a:solidFill>
                  <a:srgbClr val="8A8AA3"/>
                </a:solidFill>
                <a:latin typeface="Geist" pitchFamily="34" charset="0"/>
                <a:ea typeface="Geist" pitchFamily="34" charset="-122"/>
                <a:cs typeface="Geist" pitchFamily="34" charset="-120"/>
              </a:rPr>
              <a:t>Full step-by-step instructions in DEVELOPER_TRAINING.md in the repo root. Hand that out rather than dictating commands.</a:t>
            </a:r>
            <a:endParaRPr lang="en-US" sz="1250" dirty="0"/>
          </a:p>
        </p:txBody>
      </p:sp>
      <p:sp>
        <p:nvSpPr>
          <p:cNvPr id="8" name="Shape 4"/>
          <p:cNvSpPr/>
          <p:nvPr/>
        </p:nvSpPr>
        <p:spPr>
          <a:xfrm>
            <a:off x="508406" y="2304288"/>
            <a:ext cx="3566465"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9" name="Image 2" descr="assets/grad_bar_v.png">    </p:cNvPr>
          <p:cNvPicPr>
            <a:picLocks noChangeAspect="1"/>
          </p:cNvPicPr>
          <p:nvPr/>
        </p:nvPicPr>
        <p:blipFill>
          <a:blip r:embed="rId3"/>
          <a:stretch>
            <a:fillRect/>
          </a:stretch>
        </p:blipFill>
        <p:spPr>
          <a:xfrm>
            <a:off x="508406" y="2432304"/>
            <a:ext cx="36576" cy="1453896"/>
          </a:xfrm>
          <a:prstGeom prst="rect">
            <a:avLst/>
          </a:prstGeom>
        </p:spPr>
      </p:pic>
      <p:sp>
        <p:nvSpPr>
          <p:cNvPr id="10" name="Text 5"/>
          <p:cNvSpPr/>
          <p:nvPr/>
        </p:nvSpPr>
        <p:spPr>
          <a:xfrm>
            <a:off x="727862" y="2441448"/>
            <a:ext cx="3164129"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LAB 1 · 20 MIN</a:t>
            </a:r>
            <a:endParaRPr lang="en-US" sz="850" dirty="0"/>
          </a:p>
        </p:txBody>
      </p:sp>
      <p:sp>
        <p:nvSpPr>
          <p:cNvPr id="11" name="Text 6"/>
          <p:cNvSpPr/>
          <p:nvPr/>
        </p:nvSpPr>
        <p:spPr>
          <a:xfrm>
            <a:off x="727862" y="2679192"/>
            <a:ext cx="3164129"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Baseline</a:t>
            </a:r>
            <a:endParaRPr lang="en-US" sz="1500" dirty="0"/>
          </a:p>
        </p:txBody>
      </p:sp>
      <p:sp>
        <p:nvSpPr>
          <p:cNvPr id="12" name="Text 7"/>
          <p:cNvSpPr/>
          <p:nvPr/>
        </p:nvSpPr>
        <p:spPr>
          <a:xfrm>
            <a:off x="727862" y="2985516"/>
            <a:ext cx="3164129"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Branch from develop. npm install, npm start. Run every scan type and save the output. snyk monitor.</a:t>
            </a:r>
            <a:endParaRPr lang="en-US" sz="1100" dirty="0"/>
          </a:p>
        </p:txBody>
      </p:sp>
      <p:sp>
        <p:nvSpPr>
          <p:cNvPr id="13" name="Shape 8"/>
          <p:cNvSpPr/>
          <p:nvPr/>
        </p:nvSpPr>
        <p:spPr>
          <a:xfrm>
            <a:off x="4312615" y="2304288"/>
            <a:ext cx="3566465"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14" name="Image 3" descr="assets/grad_bar_v.png">    </p:cNvPr>
          <p:cNvPicPr>
            <a:picLocks noChangeAspect="1"/>
          </p:cNvPicPr>
          <p:nvPr/>
        </p:nvPicPr>
        <p:blipFill>
          <a:blip r:embed="rId4"/>
          <a:stretch>
            <a:fillRect/>
          </a:stretch>
        </p:blipFill>
        <p:spPr>
          <a:xfrm>
            <a:off x="4312615" y="2432304"/>
            <a:ext cx="36576" cy="1453896"/>
          </a:xfrm>
          <a:prstGeom prst="rect">
            <a:avLst/>
          </a:prstGeom>
        </p:spPr>
      </p:pic>
      <p:sp>
        <p:nvSpPr>
          <p:cNvPr id="15" name="Text 9"/>
          <p:cNvSpPr/>
          <p:nvPr/>
        </p:nvSpPr>
        <p:spPr>
          <a:xfrm>
            <a:off x="4532071" y="2441448"/>
            <a:ext cx="3164129"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LAB 2 · 15 MIN</a:t>
            </a:r>
            <a:endParaRPr lang="en-US" sz="850" dirty="0"/>
          </a:p>
        </p:txBody>
      </p:sp>
      <p:sp>
        <p:nvSpPr>
          <p:cNvPr id="16" name="Text 10"/>
          <p:cNvSpPr/>
          <p:nvPr/>
        </p:nvSpPr>
        <p:spPr>
          <a:xfrm>
            <a:off x="4532071" y="2679192"/>
            <a:ext cx="3164129"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IDE triage</a:t>
            </a:r>
            <a:endParaRPr lang="en-US" sz="1500" dirty="0"/>
          </a:p>
        </p:txBody>
      </p:sp>
      <p:sp>
        <p:nvSpPr>
          <p:cNvPr id="17" name="Text 11"/>
          <p:cNvSpPr/>
          <p:nvPr/>
        </p:nvSpPr>
        <p:spPr>
          <a:xfrm>
            <a:off x="4532071" y="2985516"/>
            <a:ext cx="3164129"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Read the SQLi data flow in routes/login.ts and the sanitize-html card. State what each one told you.</a:t>
            </a:r>
            <a:endParaRPr lang="en-US" sz="1100" dirty="0"/>
          </a:p>
        </p:txBody>
      </p:sp>
      <p:sp>
        <p:nvSpPr>
          <p:cNvPr id="18" name="Shape 12"/>
          <p:cNvSpPr/>
          <p:nvPr/>
        </p:nvSpPr>
        <p:spPr>
          <a:xfrm>
            <a:off x="8116824" y="2304288"/>
            <a:ext cx="3566465"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19" name="Image 4" descr="assets/grad_bar_v.png">    </p:cNvPr>
          <p:cNvPicPr>
            <a:picLocks noChangeAspect="1"/>
          </p:cNvPicPr>
          <p:nvPr/>
        </p:nvPicPr>
        <p:blipFill>
          <a:blip r:embed="rId5"/>
          <a:stretch>
            <a:fillRect/>
          </a:stretch>
        </p:blipFill>
        <p:spPr>
          <a:xfrm>
            <a:off x="8116824" y="2432304"/>
            <a:ext cx="36576" cy="1453896"/>
          </a:xfrm>
          <a:prstGeom prst="rect">
            <a:avLst/>
          </a:prstGeom>
        </p:spPr>
      </p:pic>
      <p:sp>
        <p:nvSpPr>
          <p:cNvPr id="20" name="Text 13"/>
          <p:cNvSpPr/>
          <p:nvPr/>
        </p:nvSpPr>
        <p:spPr>
          <a:xfrm>
            <a:off x="8336280" y="2441448"/>
            <a:ext cx="3164129"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LAB 3 · 20 MIN</a:t>
            </a:r>
            <a:endParaRPr lang="en-US" sz="850" dirty="0"/>
          </a:p>
        </p:txBody>
      </p:sp>
      <p:sp>
        <p:nvSpPr>
          <p:cNvPr id="21" name="Text 14"/>
          <p:cNvSpPr/>
          <p:nvPr/>
        </p:nvSpPr>
        <p:spPr>
          <a:xfrm>
            <a:off x="8336280" y="2679192"/>
            <a:ext cx="3164129"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Ignore properly</a:t>
            </a:r>
            <a:endParaRPr lang="en-US" sz="1500" dirty="0"/>
          </a:p>
        </p:txBody>
      </p:sp>
      <p:sp>
        <p:nvSpPr>
          <p:cNvPr id="22" name="Text 15"/>
          <p:cNvSpPr/>
          <p:nvPr/>
        </p:nvSpPr>
        <p:spPr>
          <a:xfrm>
            <a:off x="8336280" y="2985516"/>
            <a:ext cx="3164129"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Ignore the open redirect via Consistent Ignores and a sanitize-html finding via .snyk. Diff the two approaches.</a:t>
            </a:r>
            <a:endParaRPr lang="en-US" sz="1100" dirty="0"/>
          </a:p>
        </p:txBody>
      </p:sp>
      <p:sp>
        <p:nvSpPr>
          <p:cNvPr id="23" name="Shape 16"/>
          <p:cNvSpPr/>
          <p:nvPr/>
        </p:nvSpPr>
        <p:spPr>
          <a:xfrm>
            <a:off x="508406" y="4251960"/>
            <a:ext cx="3566465"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24" name="Image 5" descr="assets/grad_bar_v.png">    </p:cNvPr>
          <p:cNvPicPr>
            <a:picLocks noChangeAspect="1"/>
          </p:cNvPicPr>
          <p:nvPr/>
        </p:nvPicPr>
        <p:blipFill>
          <a:blip r:embed="rId6"/>
          <a:stretch>
            <a:fillRect/>
          </a:stretch>
        </p:blipFill>
        <p:spPr>
          <a:xfrm>
            <a:off x="508406" y="4379976"/>
            <a:ext cx="36576" cy="1453896"/>
          </a:xfrm>
          <a:prstGeom prst="rect">
            <a:avLst/>
          </a:prstGeom>
        </p:spPr>
      </p:pic>
      <p:sp>
        <p:nvSpPr>
          <p:cNvPr id="25" name="Text 17"/>
          <p:cNvSpPr/>
          <p:nvPr/>
        </p:nvSpPr>
        <p:spPr>
          <a:xfrm>
            <a:off x="727862" y="4389120"/>
            <a:ext cx="3164129"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LAB 4 · 30 MIN</a:t>
            </a:r>
            <a:endParaRPr lang="en-US" sz="850" dirty="0"/>
          </a:p>
        </p:txBody>
      </p:sp>
      <p:sp>
        <p:nvSpPr>
          <p:cNvPr id="26" name="Text 18"/>
          <p:cNvSpPr/>
          <p:nvPr/>
        </p:nvSpPr>
        <p:spPr>
          <a:xfrm>
            <a:off x="727862" y="4626864"/>
            <a:ext cx="3164129"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Fix for real</a:t>
            </a:r>
            <a:endParaRPr lang="en-US" sz="1500" dirty="0"/>
          </a:p>
        </p:txBody>
      </p:sp>
      <p:sp>
        <p:nvSpPr>
          <p:cNvPr id="27" name="Text 19"/>
          <p:cNvSpPr/>
          <p:nvPr/>
        </p:nvSpPr>
        <p:spPr>
          <a:xfrm>
            <a:off x="727862" y="4933188"/>
            <a:ext cx="3164129"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Bump express-jwt, jsonwebtoken and sanitize-html. Hit the break in lib/insecurity.ts. Get the tests green.</a:t>
            </a:r>
            <a:endParaRPr lang="en-US" sz="1100" dirty="0"/>
          </a:p>
        </p:txBody>
      </p:sp>
      <p:sp>
        <p:nvSpPr>
          <p:cNvPr id="28" name="Shape 20"/>
          <p:cNvSpPr/>
          <p:nvPr/>
        </p:nvSpPr>
        <p:spPr>
          <a:xfrm>
            <a:off x="4312615" y="4251960"/>
            <a:ext cx="3566465"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29" name="Image 6" descr="assets/grad_bar_v.png">    </p:cNvPr>
          <p:cNvPicPr>
            <a:picLocks noChangeAspect="1"/>
          </p:cNvPicPr>
          <p:nvPr/>
        </p:nvPicPr>
        <p:blipFill>
          <a:blip r:embed="rId7"/>
          <a:stretch>
            <a:fillRect/>
          </a:stretch>
        </p:blipFill>
        <p:spPr>
          <a:xfrm>
            <a:off x="4312615" y="4379976"/>
            <a:ext cx="36576" cy="1453896"/>
          </a:xfrm>
          <a:prstGeom prst="rect">
            <a:avLst/>
          </a:prstGeom>
        </p:spPr>
      </p:pic>
      <p:sp>
        <p:nvSpPr>
          <p:cNvPr id="30" name="Text 21"/>
          <p:cNvSpPr/>
          <p:nvPr/>
        </p:nvSpPr>
        <p:spPr>
          <a:xfrm>
            <a:off x="4532071" y="4389120"/>
            <a:ext cx="3164129"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LAB 5 · 25 MIN</a:t>
            </a:r>
            <a:endParaRPr lang="en-US" sz="850" dirty="0"/>
          </a:p>
        </p:txBody>
      </p:sp>
      <p:sp>
        <p:nvSpPr>
          <p:cNvPr id="31" name="Text 22"/>
          <p:cNvSpPr/>
          <p:nvPr/>
        </p:nvSpPr>
        <p:spPr>
          <a:xfrm>
            <a:off x="4532071" y="4626864"/>
            <a:ext cx="3164129"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Fix with AI</a:t>
            </a:r>
            <a:endParaRPr lang="en-US" sz="1500" dirty="0"/>
          </a:p>
        </p:txBody>
      </p:sp>
      <p:sp>
        <p:nvSpPr>
          <p:cNvPr id="32" name="Text 23"/>
          <p:cNvSpPr/>
          <p:nvPr/>
        </p:nvSpPr>
        <p:spPr>
          <a:xfrm>
            <a:off x="4532071" y="4933188"/>
            <a:ext cx="3164129"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Branch from ai-agent-snyk-fix-training. /snyk-fix the XXE and path traversal findings. Review every diff.</a:t>
            </a:r>
            <a:endParaRPr lang="en-US" sz="1100" dirty="0"/>
          </a:p>
        </p:txBody>
      </p:sp>
      <p:sp>
        <p:nvSpPr>
          <p:cNvPr id="33" name="Shape 24"/>
          <p:cNvSpPr/>
          <p:nvPr/>
        </p:nvSpPr>
        <p:spPr>
          <a:xfrm>
            <a:off x="8116824" y="4251960"/>
            <a:ext cx="3566465" cy="1709928"/>
          </a:xfrm>
          <a:prstGeom prst="roundRect">
            <a:avLst>
              <a:gd name="adj" fmla="val 3743"/>
            </a:avLst>
          </a:prstGeom>
          <a:solidFill>
            <a:srgbClr val="6F00DD">
              <a:alpha val="8000"/>
            </a:srgbClr>
          </a:solidFill>
          <a:ln w="9525">
            <a:solidFill>
              <a:srgbClr val="FFFFFF">
                <a:alpha val="14000"/>
              </a:srgbClr>
            </a:solidFill>
            <a:prstDash val="solid"/>
          </a:ln>
        </p:spPr>
      </p:sp>
      <p:pic>
        <p:nvPicPr>
          <p:cNvPr id="34" name="Image 7" descr="assets/grad_bar_v.png">    </p:cNvPr>
          <p:cNvPicPr>
            <a:picLocks noChangeAspect="1"/>
          </p:cNvPicPr>
          <p:nvPr/>
        </p:nvPicPr>
        <p:blipFill>
          <a:blip r:embed="rId8"/>
          <a:stretch>
            <a:fillRect/>
          </a:stretch>
        </p:blipFill>
        <p:spPr>
          <a:xfrm>
            <a:off x="8116824" y="4379976"/>
            <a:ext cx="36576" cy="1453896"/>
          </a:xfrm>
          <a:prstGeom prst="rect">
            <a:avLst/>
          </a:prstGeom>
        </p:spPr>
      </p:pic>
      <p:sp>
        <p:nvSpPr>
          <p:cNvPr id="35" name="Text 25"/>
          <p:cNvSpPr/>
          <p:nvPr/>
        </p:nvSpPr>
        <p:spPr>
          <a:xfrm>
            <a:off x="8336280" y="4389120"/>
            <a:ext cx="3164129" cy="219456"/>
          </a:xfrm>
          <a:prstGeom prst="rect">
            <a:avLst/>
          </a:prstGeom>
          <a:noFill/>
          <a:ln/>
        </p:spPr>
        <p:txBody>
          <a:bodyPr wrap="square" lIns="0" tIns="0" rIns="0" bIns="0" rtlCol="0" anchor="ctr"/>
          <a:lstStyle/>
          <a:p>
            <a:pPr indent="0" marL="0">
              <a:buNone/>
            </a:pPr>
            <a:r>
              <a:rPr lang="en-US" sz="850" b="1" spc="190" kern="0" dirty="0">
                <a:solidFill>
                  <a:srgbClr val="FF00FF"/>
                </a:solidFill>
                <a:latin typeface="Geist Mono" pitchFamily="34" charset="0"/>
                <a:ea typeface="Geist Mono" pitchFamily="34" charset="-122"/>
                <a:cs typeface="Geist Mono" pitchFamily="34" charset="-120"/>
              </a:rPr>
              <a:t>LAB 6 · 20 MIN</a:t>
            </a:r>
            <a:endParaRPr lang="en-US" sz="850" dirty="0"/>
          </a:p>
        </p:txBody>
      </p:sp>
      <p:sp>
        <p:nvSpPr>
          <p:cNvPr id="36" name="Text 26"/>
          <p:cNvSpPr/>
          <p:nvPr/>
        </p:nvSpPr>
        <p:spPr>
          <a:xfrm>
            <a:off x="8336280" y="4626864"/>
            <a:ext cx="3164129" cy="251460"/>
          </a:xfrm>
          <a:prstGeom prst="rect">
            <a:avLst/>
          </a:prstGeom>
          <a:noFill/>
          <a:ln/>
        </p:spPr>
        <p:txBody>
          <a:bodyPr wrap="square" lIns="0" tIns="0" rIns="0" bIns="0" rtlCol="0" anchor="t"/>
          <a:lstStyle/>
          <a:p>
            <a:pPr indent="0" marL="0">
              <a:lnSpc>
                <a:spcPts val="1800"/>
              </a:lnSpc>
              <a:buNone/>
            </a:pPr>
            <a:r>
              <a:rPr lang="en-US" sz="1500" b="1" spc="-30" kern="0" dirty="0">
                <a:solidFill>
                  <a:srgbClr val="FFFFFF"/>
                </a:solidFill>
                <a:latin typeface="Geist" pitchFamily="34" charset="0"/>
                <a:ea typeface="Geist" pitchFamily="34" charset="-122"/>
                <a:cs typeface="Geist" pitchFamily="34" charset="-120"/>
              </a:rPr>
              <a:t>Break the gate</a:t>
            </a:r>
            <a:endParaRPr lang="en-US" sz="1500" dirty="0"/>
          </a:p>
        </p:txBody>
      </p:sp>
      <p:sp>
        <p:nvSpPr>
          <p:cNvPr id="37" name="Text 27"/>
          <p:cNvSpPr/>
          <p:nvPr/>
        </p:nvSpPr>
        <p:spPr>
          <a:xfrm>
            <a:off x="8336280" y="4933188"/>
            <a:ext cx="3164129" cy="900684"/>
          </a:xfrm>
          <a:prstGeom prst="rect">
            <a:avLst/>
          </a:prstGeom>
          <a:noFill/>
          <a:ln/>
        </p:spPr>
        <p:txBody>
          <a:bodyPr wrap="square" lIns="0" tIns="0" rIns="0" bIns="0" rtlCol="0" anchor="t"/>
          <a:lstStyle/>
          <a:p>
            <a:pPr indent="0" marL="0">
              <a:lnSpc>
                <a:spcPts val="1500"/>
              </a:lnSpc>
              <a:buNone/>
            </a:pPr>
            <a:r>
              <a:rPr lang="en-US" sz="1100" dirty="0">
                <a:solidFill>
                  <a:srgbClr val="B8B8CC"/>
                </a:solidFill>
                <a:latin typeface="Geist" pitchFamily="34" charset="0"/>
                <a:ea typeface="Geist" pitchFamily="34" charset="-122"/>
                <a:cs typeface="Geist" pitchFamily="34" charset="-120"/>
              </a:rPr>
              <a:t>npm install sanitize-html@1.4.2. Open a PR into develop. Watch it fail. Fix it. Watch it pass.</a:t>
            </a:r>
            <a:endParaRPr lang="en-US" sz="1100" dirty="0"/>
          </a:p>
        </p:txBody>
      </p:sp>
      <p:sp>
        <p:nvSpPr>
          <p:cNvPr id="38" name="Shape 28"/>
          <p:cNvSpPr/>
          <p:nvPr/>
        </p:nvSpPr>
        <p:spPr>
          <a:xfrm>
            <a:off x="508406" y="6245352"/>
            <a:ext cx="11174882" cy="10973"/>
          </a:xfrm>
          <a:prstGeom prst="rect">
            <a:avLst/>
          </a:prstGeom>
          <a:solidFill>
            <a:srgbClr val="FFFFFF">
              <a:alpha val="12000"/>
            </a:srgbClr>
          </a:solidFill>
          <a:ln/>
        </p:spPr>
      </p:sp>
      <p:pic>
        <p:nvPicPr>
          <p:cNvPr id="39" name="Image 8" descr="assets/logo-snyk-white.png">    </p:cNvPr>
          <p:cNvPicPr>
            <a:picLocks noChangeAspect="1"/>
          </p:cNvPicPr>
          <p:nvPr/>
        </p:nvPicPr>
        <p:blipFill>
          <a:blip r:embed="rId9"/>
          <a:stretch>
            <a:fillRect/>
          </a:stretch>
        </p:blipFill>
        <p:spPr>
          <a:xfrm>
            <a:off x="508406" y="6336792"/>
            <a:ext cx="621792" cy="219456"/>
          </a:xfrm>
          <a:prstGeom prst="rect">
            <a:avLst/>
          </a:prstGeom>
        </p:spPr>
      </p:pic>
      <p:sp>
        <p:nvSpPr>
          <p:cNvPr id="40" name="Text 29"/>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Fix, and gate</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47</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30328"/>
        </a:solidFill>
      </p:bgPr>
    </p:bg>
    <p:spTree>
      <p:nvGrpSpPr>
        <p:cNvPr id="1" name=""/>
        <p:cNvGrpSpPr/>
        <p:nvPr/>
      </p:nvGrpSpPr>
      <p:grpSpPr>
        <a:xfrm>
          <a:off x="0" y="0"/>
          <a:ext cx="0" cy="0"/>
          <a:chOff x="0" y="0"/>
          <a:chExt cx="0" cy="0"/>
        </a:xfrm>
      </p:grpSpPr>
      <p:pic>
        <p:nvPicPr>
          <p:cNvPr id="2" name="Image 0" descr="assets/BRC_Fabric_NoGradient.png">    </p:cNvPr>
          <p:cNvPicPr>
            <a:picLocks noChangeAspect="1"/>
          </p:cNvPicPr>
          <p:nvPr/>
        </p:nvPicPr>
        <p:blipFill>
          <a:blip r:embed="rId1">
            <a:alphaModFix amt="34000"/>
          </a:blip>
          <a:stretch>
            <a:fillRect/>
          </a:stretch>
        </p:blipFill>
        <p:spPr>
          <a:xfrm>
            <a:off x="9357055" y="3108960"/>
            <a:ext cx="3017520" cy="3017520"/>
          </a:xfrm>
          <a:prstGeom prst="rect">
            <a:avLst/>
          </a:prstGeom>
        </p:spPr>
      </p:pic>
      <p:sp>
        <p:nvSpPr>
          <p:cNvPr id="3" name="Shape 0"/>
          <p:cNvSpPr/>
          <p:nvPr/>
        </p:nvSpPr>
        <p:spPr>
          <a:xfrm>
            <a:off x="0" y="5989320"/>
            <a:ext cx="12191695" cy="868680"/>
          </a:xfrm>
          <a:prstGeom prst="rect">
            <a:avLst/>
          </a:prstGeom>
          <a:solidFill>
            <a:srgbClr val="030328"/>
          </a:solidFill>
          <a:ln/>
        </p:spPr>
      </p:sp>
      <p:sp>
        <p:nvSpPr>
          <p:cNvPr id="4" name="Text 1"/>
          <p:cNvSpPr/>
          <p:nvPr/>
        </p:nvSpPr>
        <p:spPr>
          <a:xfrm>
            <a:off x="508406" y="453542"/>
            <a:ext cx="9711842" cy="274320"/>
          </a:xfrm>
          <a:prstGeom prst="rect">
            <a:avLst/>
          </a:prstGeom>
          <a:noFill/>
          <a:ln/>
        </p:spPr>
        <p:txBody>
          <a:bodyPr wrap="square" lIns="0" tIns="0" rIns="0" bIns="0" rtlCol="0" anchor="ctr"/>
          <a:lstStyle/>
          <a:p>
            <a:pPr indent="0" marL="0">
              <a:buNone/>
            </a:pPr>
            <a:r>
              <a:rPr lang="en-US" sz="1050" b="1" spc="240" kern="0" dirty="0">
                <a:solidFill>
                  <a:srgbClr val="8A8AA3"/>
                </a:solidFill>
                <a:latin typeface="Geist Mono" pitchFamily="34" charset="0"/>
                <a:ea typeface="Geist Mono" pitchFamily="34" charset="-122"/>
                <a:cs typeface="Geist Mono" pitchFamily="34" charset="-120"/>
              </a:rPr>
              <a:t>RESOURCES</a:t>
            </a:r>
            <a:endParaRPr lang="en-US" sz="1050" dirty="0"/>
          </a:p>
        </p:txBody>
      </p:sp>
      <p:pic>
        <p:nvPicPr>
          <p:cNvPr id="5" name="Image 1" descr="assets/logo-snyk-white.png">    </p:cNvPr>
          <p:cNvPicPr>
            <a:picLocks noChangeAspect="1"/>
          </p:cNvPicPr>
          <p:nvPr/>
        </p:nvPicPr>
        <p:blipFill>
          <a:blip r:embed="rId2"/>
          <a:stretch>
            <a:fillRect/>
          </a:stretch>
        </p:blipFill>
        <p:spPr>
          <a:xfrm>
            <a:off x="10796321" y="435254"/>
            <a:ext cx="886968" cy="310896"/>
          </a:xfrm>
          <a:prstGeom prst="rect">
            <a:avLst/>
          </a:prstGeom>
        </p:spPr>
      </p:pic>
      <p:sp>
        <p:nvSpPr>
          <p:cNvPr id="6" name="Text 2"/>
          <p:cNvSpPr/>
          <p:nvPr/>
        </p:nvSpPr>
        <p:spPr>
          <a:xfrm>
            <a:off x="508406" y="1024128"/>
            <a:ext cx="8595360" cy="914400"/>
          </a:xfrm>
          <a:prstGeom prst="rect">
            <a:avLst/>
          </a:prstGeom>
          <a:noFill/>
          <a:ln/>
        </p:spPr>
        <p:txBody>
          <a:bodyPr wrap="square" lIns="0" tIns="0" rIns="0" bIns="0" rtlCol="0" anchor="t"/>
          <a:lstStyle/>
          <a:p>
            <a:pPr indent="0" marL="0">
              <a:lnSpc>
                <a:spcPts val="3300"/>
              </a:lnSpc>
              <a:buNone/>
            </a:pPr>
            <a:r>
              <a:rPr lang="en-US" sz="3200" b="1" spc="-100" kern="0" dirty="0">
                <a:solidFill>
                  <a:srgbClr val="FFFFFF"/>
                </a:solidFill>
                <a:latin typeface="Geist" pitchFamily="34" charset="0"/>
                <a:ea typeface="Geist" pitchFamily="34" charset="-122"/>
                <a:cs typeface="Geist" pitchFamily="34" charset="-120"/>
              </a:rPr>
              <a:t>Where to go next</a:t>
            </a:r>
            <a:endParaRPr lang="en-US" sz="3200" dirty="0"/>
          </a:p>
        </p:txBody>
      </p:sp>
      <p:sp>
        <p:nvSpPr>
          <p:cNvPr id="7" name="Text 3"/>
          <p:cNvSpPr/>
          <p:nvPr/>
        </p:nvSpPr>
        <p:spPr>
          <a:xfrm>
            <a:off x="563270" y="1993392"/>
            <a:ext cx="10809122" cy="3950208"/>
          </a:xfrm>
          <a:prstGeom prst="rect">
            <a:avLst/>
          </a:prstGeom>
          <a:noFill/>
          <a:ln/>
        </p:spPr>
        <p:txBody>
          <a:bodyPr wrap="square" lIns="0" tIns="0" rIns="0" bIns="0" rtlCol="0" anchor="t"/>
          <a:lstStyle/>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In this repo — DEVELOPER_TRAINING.md (the lab handout) · AGENTS.md (AI contribution rules) · data/static/codefixes/ (curated before/after pairs)</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Product docs — docs.snyk.io: CLI, ignore issues, Consistent Ignores, snyk ignore create, pull request experience, Snyk Studio, Snyk Secrets</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Learning — learn.snyk.io · learn.snyk.io/catalog/product-training · the Consistent Ignores lesson · the new OWASP Top 10 for Agentic Applications path</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Data — security.snyk.io (Vulnerability Database) · snyk.io/advisor (package health)</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Handy — snyk.io/blog/snyk-cli-cheat-sheet · snyk.io/platform/ide-plugins · snyk.io/blog/snyk-remediation-agent-in-the-cli</a:t>
            </a:r>
            <a:endParaRPr lang="en-US" sz="1400" dirty="0"/>
          </a:p>
          <a:p>
            <a:pPr marL="342900" indent="-342900">
              <a:lnSpc>
                <a:spcPts val="2300"/>
              </a:lnSpc>
              <a:spcAft>
                <a:spcPts val="900"/>
              </a:spcAft>
              <a:buSzPct val="100000"/>
              <a:buChar char="—"/>
            </a:pPr>
            <a:r>
              <a:rPr lang="en-US" sz="1400" dirty="0">
                <a:solidFill>
                  <a:srgbClr val="B8B8CC"/>
                </a:solidFill>
                <a:latin typeface="Geist" pitchFamily="34" charset="0"/>
                <a:ea typeface="Geist" pitchFamily="34" charset="-122"/>
                <a:cs typeface="Geist" pitchFamily="34" charset="-120"/>
              </a:rPr>
              <a:t>Support — support.snyk.io · community.snyk.io · support@snyk.io</a:t>
            </a:r>
            <a:endParaRPr lang="en-US" sz="1400" dirty="0"/>
          </a:p>
        </p:txBody>
      </p:sp>
      <p:sp>
        <p:nvSpPr>
          <p:cNvPr id="8" name="Shape 4"/>
          <p:cNvSpPr/>
          <p:nvPr/>
        </p:nvSpPr>
        <p:spPr>
          <a:xfrm>
            <a:off x="508406" y="6245352"/>
            <a:ext cx="11174882" cy="10973"/>
          </a:xfrm>
          <a:prstGeom prst="rect">
            <a:avLst/>
          </a:prstGeom>
          <a:solidFill>
            <a:srgbClr val="FFFFFF">
              <a:alpha val="12000"/>
            </a:srgbClr>
          </a:solidFill>
          <a:ln/>
        </p:spPr>
      </p:sp>
      <p:pic>
        <p:nvPicPr>
          <p:cNvPr id="9" name="Image 2" descr="assets/logo-snyk-white.png">    </p:cNvPr>
          <p:cNvPicPr>
            <a:picLocks noChangeAspect="1"/>
          </p:cNvPicPr>
          <p:nvPr/>
        </p:nvPicPr>
        <p:blipFill>
          <a:blip r:embed="rId3"/>
          <a:stretch>
            <a:fillRect/>
          </a:stretch>
        </p:blipFill>
        <p:spPr>
          <a:xfrm>
            <a:off x="508406" y="6336792"/>
            <a:ext cx="621792" cy="219456"/>
          </a:xfrm>
          <a:prstGeom prst="rect">
            <a:avLst/>
          </a:prstGeom>
        </p:spPr>
      </p:pic>
      <p:sp>
        <p:nvSpPr>
          <p:cNvPr id="10" name="Text 5"/>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Fix, and gate</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48</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30328"/>
        </a:solidFill>
      </p:bgPr>
    </p:bg>
    <p:spTree>
      <p:nvGrpSpPr>
        <p:cNvPr id="1" name=""/>
        <p:cNvGrpSpPr/>
        <p:nvPr/>
      </p:nvGrpSpPr>
      <p:grpSpPr>
        <a:xfrm>
          <a:off x="0" y="0"/>
          <a:ext cx="0" cy="0"/>
          <a:chOff x="0" y="0"/>
          <a:chExt cx="0" cy="0"/>
        </a:xfrm>
      </p:grpSpPr>
      <p:pic>
        <p:nvPicPr>
          <p:cNvPr id="2" name="Image 0" descr="assets/ULC_Fabric_Gradient.png">    </p:cNvPr>
          <p:cNvPicPr>
            <a:picLocks noChangeAspect="1"/>
          </p:cNvPicPr>
          <p:nvPr/>
        </p:nvPicPr>
        <p:blipFill>
          <a:blip r:embed="rId1">
            <a:alphaModFix amt="68000"/>
          </a:blip>
          <a:stretch>
            <a:fillRect/>
          </a:stretch>
        </p:blipFill>
        <p:spPr>
          <a:xfrm>
            <a:off x="-320040" y="-320040"/>
            <a:ext cx="4114800" cy="4114800"/>
          </a:xfrm>
          <a:prstGeom prst="rect">
            <a:avLst/>
          </a:prstGeom>
        </p:spPr>
      </p:pic>
      <p:pic>
        <p:nvPicPr>
          <p:cNvPr id="3" name="Image 1" descr="assets/BRC_Fabric_Gradient.png">    </p:cNvPr>
          <p:cNvPicPr>
            <a:picLocks noChangeAspect="1"/>
          </p:cNvPicPr>
          <p:nvPr/>
        </p:nvPicPr>
        <p:blipFill>
          <a:blip r:embed="rId2">
            <a:alphaModFix amt="54000"/>
          </a:blip>
          <a:stretch>
            <a:fillRect/>
          </a:stretch>
        </p:blipFill>
        <p:spPr>
          <a:xfrm>
            <a:off x="8808415" y="2697480"/>
            <a:ext cx="3657600" cy="3657600"/>
          </a:xfrm>
          <a:prstGeom prst="rect">
            <a:avLst/>
          </a:prstGeom>
        </p:spPr>
      </p:pic>
      <p:sp>
        <p:nvSpPr>
          <p:cNvPr id="4" name="Shape 0"/>
          <p:cNvSpPr/>
          <p:nvPr/>
        </p:nvSpPr>
        <p:spPr>
          <a:xfrm>
            <a:off x="0" y="5989320"/>
            <a:ext cx="12191695" cy="868680"/>
          </a:xfrm>
          <a:prstGeom prst="rect">
            <a:avLst/>
          </a:prstGeom>
          <a:solidFill>
            <a:srgbClr val="030328"/>
          </a:solidFill>
          <a:ln/>
        </p:spPr>
      </p:sp>
      <p:sp>
        <p:nvSpPr>
          <p:cNvPr id="5" name="Text 1"/>
          <p:cNvSpPr/>
          <p:nvPr/>
        </p:nvSpPr>
        <p:spPr>
          <a:xfrm>
            <a:off x="1280160" y="2331720"/>
            <a:ext cx="9631375" cy="1554480"/>
          </a:xfrm>
          <a:prstGeom prst="rect">
            <a:avLst/>
          </a:prstGeom>
          <a:noFill/>
          <a:ln/>
        </p:spPr>
        <p:txBody>
          <a:bodyPr wrap="square" lIns="0" tIns="0" rIns="0" bIns="0" rtlCol="0" anchor="ctr"/>
          <a:lstStyle/>
          <a:p>
            <a:pPr algn="ctr" indent="0" marL="0">
              <a:lnSpc>
                <a:spcPts val="4800"/>
              </a:lnSpc>
              <a:buNone/>
            </a:pPr>
            <a:r>
              <a:rPr lang="en-US" sz="4400" b="1" spc="-150" kern="0" dirty="0">
                <a:solidFill>
                  <a:srgbClr val="FFFFFF"/>
                </a:solidFill>
                <a:latin typeface="Geist" pitchFamily="34" charset="0"/>
                <a:ea typeface="Geist" pitchFamily="34" charset="-122"/>
                <a:cs typeface="Geist" pitchFamily="34" charset="-120"/>
              </a:rPr>
              <a:t>Find it early.</a:t>
            </a:r>
            <a:endParaRPr lang="en-US" sz="4400" dirty="0"/>
          </a:p>
          <a:p>
            <a:pPr algn="ctr" indent="0" marL="0">
              <a:lnSpc>
                <a:spcPts val="4800"/>
              </a:lnSpc>
              <a:buNone/>
            </a:pPr>
            <a:r>
              <a:rPr lang="en-US" sz="4400" b="1" spc="-150" kern="0" dirty="0">
                <a:solidFill>
                  <a:srgbClr val="FFFFFF"/>
                </a:solidFill>
                <a:latin typeface="Geist" pitchFamily="34" charset="0"/>
                <a:ea typeface="Geist" pitchFamily="34" charset="-122"/>
                <a:cs typeface="Geist" pitchFamily="34" charset="-120"/>
              </a:rPr>
              <a:t>Fix it properly.</a:t>
            </a:r>
            <a:endParaRPr lang="en-US" sz="4400" dirty="0"/>
          </a:p>
        </p:txBody>
      </p:sp>
      <p:pic>
        <p:nvPicPr>
          <p:cNvPr id="6" name="Image 2" descr="assets/grad_bar_h.png">    </p:cNvPr>
          <p:cNvPicPr>
            <a:picLocks noChangeAspect="1"/>
          </p:cNvPicPr>
          <p:nvPr/>
        </p:nvPicPr>
        <p:blipFill>
          <a:blip r:embed="rId3"/>
          <a:stretch>
            <a:fillRect/>
          </a:stretch>
        </p:blipFill>
        <p:spPr>
          <a:xfrm>
            <a:off x="4907128" y="4023360"/>
            <a:ext cx="2377440" cy="41148"/>
          </a:xfrm>
          <a:prstGeom prst="rect">
            <a:avLst/>
          </a:prstGeom>
        </p:spPr>
      </p:pic>
      <p:sp>
        <p:nvSpPr>
          <p:cNvPr id="7" name="Text 2"/>
          <p:cNvSpPr/>
          <p:nvPr/>
        </p:nvSpPr>
        <p:spPr>
          <a:xfrm>
            <a:off x="2377440" y="4297680"/>
            <a:ext cx="7436815" cy="822960"/>
          </a:xfrm>
          <a:prstGeom prst="rect">
            <a:avLst/>
          </a:prstGeom>
          <a:noFill/>
          <a:ln/>
        </p:spPr>
        <p:txBody>
          <a:bodyPr wrap="square" lIns="0" tIns="0" rIns="0" bIns="0" rtlCol="0" anchor="ctr"/>
          <a:lstStyle/>
          <a:p>
            <a:pPr algn="ctr" indent="0" marL="0">
              <a:lnSpc>
                <a:spcPts val="2100"/>
              </a:lnSpc>
              <a:buNone/>
            </a:pPr>
            <a:r>
              <a:rPr lang="en-US" sz="1350" dirty="0">
                <a:solidFill>
                  <a:srgbClr val="B8B8CC"/>
                </a:solidFill>
                <a:latin typeface="Geist" pitchFamily="34" charset="0"/>
                <a:ea typeface="Geist" pitchFamily="34" charset="-122"/>
                <a:cs typeface="Geist" pitchFamily="34" charset="-120"/>
              </a:rPr>
              <a:t>Questions? And please tell your instructor what was missing — this deck gets updated after every session.</a:t>
            </a:r>
            <a:endParaRPr lang="en-US" sz="1350" dirty="0"/>
          </a:p>
        </p:txBody>
      </p:sp>
      <p:pic>
        <p:nvPicPr>
          <p:cNvPr id="8" name="Image 3" descr="assets/logo-snyk-white.png">    </p:cNvPr>
          <p:cNvPicPr>
            <a:picLocks noChangeAspect="1"/>
          </p:cNvPicPr>
          <p:nvPr/>
        </p:nvPicPr>
        <p:blipFill>
          <a:blip r:embed="rId4"/>
          <a:stretch>
            <a:fillRect/>
          </a:stretch>
        </p:blipFill>
        <p:spPr>
          <a:xfrm>
            <a:off x="5410048" y="5230368"/>
            <a:ext cx="1371600" cy="475488"/>
          </a:xfrm>
          <a:prstGeom prst="rect">
            <a:avLst/>
          </a:prstGeom>
        </p:spPr>
      </p:pic>
      <p:sp>
        <p:nvSpPr>
          <p:cNvPr id="9" name="Shape 3"/>
          <p:cNvSpPr/>
          <p:nvPr/>
        </p:nvSpPr>
        <p:spPr>
          <a:xfrm>
            <a:off x="508406" y="6245352"/>
            <a:ext cx="11174882" cy="10973"/>
          </a:xfrm>
          <a:prstGeom prst="rect">
            <a:avLst/>
          </a:prstGeom>
          <a:solidFill>
            <a:srgbClr val="FFFFFF">
              <a:alpha val="12000"/>
            </a:srgbClr>
          </a:solidFill>
          <a:ln/>
        </p:spPr>
      </p:sp>
      <p:pic>
        <p:nvPicPr>
          <p:cNvPr id="10" name="Image 4" descr="assets/logo-snyk-white.png">    </p:cNvPr>
          <p:cNvPicPr>
            <a:picLocks noChangeAspect="1"/>
          </p:cNvPicPr>
          <p:nvPr/>
        </p:nvPicPr>
        <p:blipFill>
          <a:blip r:embed="rId5"/>
          <a:stretch>
            <a:fillRect/>
          </a:stretch>
        </p:blipFill>
        <p:spPr>
          <a:xfrm>
            <a:off x="508406" y="6336792"/>
            <a:ext cx="621792" cy="219456"/>
          </a:xfrm>
          <a:prstGeom prst="rect">
            <a:avLst/>
          </a:prstGeom>
        </p:spPr>
      </p:pic>
      <p:sp>
        <p:nvSpPr>
          <p:cNvPr id="11" name="Text 4"/>
          <p:cNvSpPr/>
          <p:nvPr/>
        </p:nvSpPr>
        <p:spPr>
          <a:xfrm>
            <a:off x="6014009" y="6309360"/>
            <a:ext cx="5669280" cy="274320"/>
          </a:xfrm>
          <a:prstGeom prst="rect">
            <a:avLst/>
          </a:prstGeom>
          <a:noFill/>
          <a:ln/>
        </p:spPr>
        <p:txBody>
          <a:bodyPr wrap="square" lIns="0" tIns="0" rIns="0" bIns="0" rtlCol="0" anchor="ctr"/>
          <a:lstStyle/>
          <a:p>
            <a:pPr algn="r" indent="0" marL="0">
              <a:buNone/>
            </a:pPr>
            <a:r>
              <a:rPr lang="en-US" sz="1000" dirty="0">
                <a:solidFill>
                  <a:srgbClr val="B8B8CC"/>
                </a:solidFill>
                <a:latin typeface="Geist" pitchFamily="34" charset="0"/>
                <a:ea typeface="Geist" pitchFamily="34" charset="-122"/>
                <a:cs typeface="Geist" pitchFamily="34" charset="-120"/>
              </a:rPr>
              <a:t>Fix, and gate</a:t>
            </a:r>
            <a:pPr algn="r" indent="0" marL="0">
              <a:buNone/>
            </a:pPr>
            <a:r>
              <a:rPr lang="en-US" sz="1000" dirty="0">
                <a:solidFill>
                  <a:srgbClr val="5C5C78"/>
                </a:solidFill>
                <a:latin typeface="Geist" pitchFamily="34" charset="0"/>
                <a:ea typeface="Geist" pitchFamily="34" charset="-122"/>
                <a:cs typeface="Geist" pitchFamily="34" charset="-120"/>
              </a:rPr>
              <a:t>   |   </a:t>
            </a:r>
            <a:pPr algn="r" indent="0" marL="0">
              <a:buNone/>
            </a:pPr>
            <a:r>
              <a:rPr lang="en-US" sz="1000" dirty="0">
                <a:solidFill>
                  <a:srgbClr val="8A8AA3"/>
                </a:solidFill>
                <a:latin typeface="Geist" pitchFamily="34" charset="0"/>
                <a:ea typeface="Geist" pitchFamily="34" charset="-122"/>
                <a:cs typeface="Geist" pitchFamily="34" charset="-120"/>
              </a:rPr>
              <a:t>49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i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Snyk for Developers — OWASP Juice Shop (Node.js)</dc:title>
  <dc:subject>Snyk developer enablement v3.0</dc:subject>
  <dc:creator>Snyk</dc:creator>
  <cp:lastModifiedBy>Snyk</cp:lastModifiedBy>
  <cp:revision>1</cp:revision>
  <dcterms:created xsi:type="dcterms:W3CDTF">2026-08-04T05:39:41Z</dcterms:created>
  <dcterms:modified xsi:type="dcterms:W3CDTF">2026-08-04T05:39:41Z</dcterms:modified>
</cp:coreProperties>
</file>