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in the first five minutes and refer back to it all day: almost every setting in this course is a decision about people, not about software.
The commonest failure mode in a Snyk rollout is configuring for phase 4 while the organization is in phase 2. Developers get buried in pull requests and alerts, and the goodwill is gone before the program starts.
The pilot repo for this edition is the Node.js Juice Shop. It has two npm manifests, real SAST findings in routes/ and lib/, insecure Terraform, two Dockerfiles, no .snyk file, and no Snyk CI workflow. A genuinely clean slate.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promise of the day. Come back to "most of the work is deciding, not clicking" whenever the room drifts into a settings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participant does not hold an admin role they will still get value from parts 1, 3, 4 and 6 — but they cannot follow along in their own org. Pair them with someone who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the product mapping, no more. Leaders need question-to-product, not a feature tour.
Flag Snyk Secrets as new since the last version of this course, and flag the re-import requirement — that is the bit that catches admins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unit. Spend real time on it and get EVERY participant to name their phase out loud — it tells you where to spend the rest of the session.
Second thing to say clearly: moving a phase is a change-management exercise, not a settings change. The settings are the easy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participants to photograph this slide. It is the artefact that survives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"difficult to delete" point is worth saying out loud to anyone about to create a throwaway pilot 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two-levels pattern is the single most useful technique in the whole course. A leader who pilots at project level can be strict in one place and permissive everywhere else, and can back out without a company-wide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Counter-intuitive but important: the first thing a new admin should do is turn things off. Say it plainly, because it is the opposite of what a new admin wants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Snyk patches via snyk protect are gone — deprecated. If you have older material with a "patches versus upgrades-only" decision slide, that decision no longer exists for new rollouts. Upgrades are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Extensions is new and under-known. When a team complains about Snyk Code false positives, this is the answer that is not "ignore it" — and it is a leader-level lever, because it changes results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 SETTING: "only fail when a fix is available" is the one that buys developer trust. Blocking a merge on something a developer cannot act on is the fastest way to have your check disabled behind your back, or routed around with an admin override. Make this point explicitly — it saves programs.
Caveat to state: "fix available" relies on Fix PR support, so it will not alert for languages Snyk cannot generate a fix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argument is where time goes in this unit. Somebody will want to start at step 6. The answer: branch protection with untested fail conditions produces blocked PRs with no triage route, and that is how you get an org-wide exemption granted over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from v2.0 of this deck: the status vocabulary is Success/Passed, Pending, Failed/Issues found, Error, Canceled. "Processing" and "Failure" were wrong — they came from a less authoritative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connects parts 03 and 04. If a leader takes one structural insight from the day, it should be this: the ignore policy IS a gating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every participant to set their ignore policy to admins-only with a required reason before they leave the room. It takes thirty seconds and it is the highest-leverage change available to them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CRUX OF THIS UNIT. The .snyk-via-pull-request pattern is a genuinely good governance answer for Open Source. It does nothing at all for SAST findings. Explain that gap BEFORE you explain the feature, or the feature sounds like a nice-to-have instead of the answer to a real hole.
Second trap, one sentence later: org Security Policies are a different feature that applies to Open Source and Container, not Snyk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the one that bites in a board meeting. If your executive number looks suspiciously good, check what has been ignored before you present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operational consequences to design around before enabling it.
First, because all reviewers receive all notifications, agree a review rota.
Second, because of the reviewer blind spot on the next slide, instruct developers to push the branch before requesting an ignore on anything non-trivial.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AVAILABILITY. If the workflow is not already enabled for the participants' Group, they probably cannot get it today. Say so plainly rather than letting someone promise it to a CISO.
The fallback covers most of the need: restrict UI ignores to admins, require .snyk changes via pull request for Open Source, and use Group-level Snyk Code Security Policies for recurring SAST suppressions.
Correction from v2.0: the CLI floor is v1.1297.1, not v1.299.0; the scope now includes Secrets; and the Enterprise-plan requirement on the workflow itself is not documented — drop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Hooks-based support covers Claude Code, Cursor, Codex CLI and Gemini CLI. Do NOT claim GitHub Copilot hooks — Copilot gets commands, MCP and a skill; the hooks claim is unconfirmed in the docs.
snyk_package_health_check is the capability to lead with when a stakeholder asks what AI security actually prevents. It stops the bad dependency entering the manifest, rather than reporting it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unit this way and the room engages: your job is not to decide whether developers use AI assistants. They already do, with or without approval. Your job is to make sure the code those assistants produce gets scanned before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corrections from v2.0 that matter to a leader.
One: Agent Fix is enabled at Group OR Organization level, not Group-only. And public docs still label Agent Fix IN THE PR as Early Access even though internal notes call it GA — teach the docs position, because docs are what your customers and auditors read.
Two: the Remediation Agent covers Snyk Open Source ONLY. The previous deck said Open Source and Code. Do not let anyone build a SAST backlog campaign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note worth making: the May 2026 re-architecture means Agent Fix now covers all Snyk Code languages and rules. Retire any "it only works for language X" caveat from your internal comms.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breakability framing is the genuinely useful part for a leader building a business case. "Half the backlog is low-breakability" turns an unbounded programme into one campaign with a defined end — which is something you can actually get sprint capacity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 by default" change is genuinely new and genuinely confusing. An admin who does not know it will spend an afternoon debugging a notification pipeline that was never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dedicated-service-account point is not pedantry: using a person's account means the integration breaks when they change roles, and you find out from a gap in your ticket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corrections from v2.0. "Featured Zero-Day" is now just "Zero-Day". And "Cloud Compliance Issues" no longer exists — it was a legacy IaC+/Cloud artifact, never available in EU. Delete it from any report list you maintain.
OWASP Top 10 now uses the 2025 mapping, which will change your numbers when you first look. That is the mapping, not your posture.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on your team is scraping the v1 Reporting API, that is a migration to schedule now rather than discover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requests is a two-click change that removes a recurring interruption from your week. Do it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3 CRITERION IS THE REAL TEST. Success in week 3 is that someone got blocked and fixed it, rather than routing around it. If they routed around it, either the fail conditions are wrong or the triage route does not really exist. Both are the leader's problem to fix, not the developer's.
Get a verbal commitment on week 1 before anyone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commitments rather than a summary.
First: each participant names their current phase and the one setting they will change this week.
Second: each participant sets their ignore policy to admins-only with a required reason before they leave the room.
Third: whoever owns the pilot repository schedules the developer course for their team, so the people who will meet the fail conditions understand where they came from.
Then collect feedback on what was missing. This deck is versioned — update it after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takes one thing away, it is this sentence. Every failure mode in this course is a team configured for a phase it has not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3.png"/><Relationship Id="rId6" Type="http://schemas.openxmlformats.org/officeDocument/2006/relationships/image" Target="../media/image-3-3.png"/><Relationship Id="rId7" Type="http://schemas.openxmlformats.org/officeDocument/2006/relationships/image" Target="../media/image-3-3.png"/><Relationship Id="rId8" Type="http://schemas.openxmlformats.org/officeDocument/2006/relationships/image" Target="../media/image-3-3.png"/><Relationship Id="rId9" Type="http://schemas.openxmlformats.org/officeDocument/2006/relationships/image" Target="../media/image-3-3.png"/><Relationship Id="rId10" Type="http://schemas.openxmlformats.org/officeDocument/2006/relationships/image" Target="../media/image-3-3.png"/><Relationship Id="rId11" Type="http://schemas.openxmlformats.org/officeDocument/2006/relationships/image" Target="../media/image-3-2.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image" Target="../media/image-5-3.png"/><Relationship Id="rId6" Type="http://schemas.openxmlformats.org/officeDocument/2006/relationships/image" Target="../media/image-5-3.png"/><Relationship Id="rId7" Type="http://schemas.openxmlformats.org/officeDocument/2006/relationships/image" Target="../media/image-5-3.png"/><Relationship Id="rId8" Type="http://schemas.openxmlformats.org/officeDocument/2006/relationships/image" Target="../media/image-5-3.png"/><Relationship Id="rId9" Type="http://schemas.openxmlformats.org/officeDocument/2006/relationships/image" Target="../media/image-5-2.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3.png"/><Relationship Id="rId7" Type="http://schemas.openxmlformats.org/officeDocument/2006/relationships/image" Target="../media/image-6-3.png"/><Relationship Id="rId8" Type="http://schemas.openxmlformats.org/officeDocument/2006/relationships/image" Target="../media/image-6-3.png"/><Relationship Id="rId9" Type="http://schemas.openxmlformats.org/officeDocument/2006/relationships/image" Target="../media/image-6-2.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2.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3.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3.png"/><Relationship Id="rId5" Type="http://schemas.openxmlformats.org/officeDocument/2006/relationships/image" Target="../media/image-11-2.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3.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2.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2.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3.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2.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3.png"/><Relationship Id="rId5" Type="http://schemas.openxmlformats.org/officeDocument/2006/relationships/image" Target="../media/image-21-2.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2.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3.png"/><Relationship Id="rId5" Type="http://schemas.openxmlformats.org/officeDocument/2006/relationships/image" Target="../media/image-23-2.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2.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2.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4.png"/><Relationship Id="rId6" Type="http://schemas.openxmlformats.org/officeDocument/2006/relationships/image" Target="../media/image-30-4.png"/><Relationship Id="rId7" Type="http://schemas.openxmlformats.org/officeDocument/2006/relationships/image" Target="../media/image-30-3.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3.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2.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3.png"/><Relationship Id="rId5" Type="http://schemas.openxmlformats.org/officeDocument/2006/relationships/image" Target="../media/image-33-2.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3.png"/><Relationship Id="rId5" Type="http://schemas.openxmlformats.org/officeDocument/2006/relationships/image" Target="../media/image-34-3.png"/><Relationship Id="rId6" Type="http://schemas.openxmlformats.org/officeDocument/2006/relationships/image" Target="../media/image-34-3.png"/><Relationship Id="rId7" Type="http://schemas.openxmlformats.org/officeDocument/2006/relationships/image" Target="../media/image-34-3.png"/><Relationship Id="rId8" Type="http://schemas.openxmlformats.org/officeDocument/2006/relationships/image" Target="../media/image-34-3.png"/><Relationship Id="rId9" Type="http://schemas.openxmlformats.org/officeDocument/2006/relationships/image" Target="../media/image-34-2.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2.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3.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2.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1.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2.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4.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pic>
        <p:nvPicPr>
          <p:cNvPr id="5" name="Image 2" descr="assets/logo-snyk-white.png">    </p:cNvPr>
          <p:cNvPicPr>
            <a:picLocks noChangeAspect="1"/>
          </p:cNvPicPr>
          <p:nvPr/>
        </p:nvPicPr>
        <p:blipFill>
          <a:blip r:embed="rId3"/>
          <a:stretch>
            <a:fillRect/>
          </a:stretch>
        </p:blipFill>
        <p:spPr>
          <a:xfrm>
            <a:off x="4952848" y="960120"/>
            <a:ext cx="2286000" cy="795528"/>
          </a:xfrm>
          <a:prstGeom prst="rect">
            <a:avLst/>
          </a:prstGeom>
        </p:spPr>
      </p:pic>
      <p:sp>
        <p:nvSpPr>
          <p:cNvPr id="6" name="Text 1"/>
          <p:cNvSpPr/>
          <p:nvPr/>
        </p:nvSpPr>
        <p:spPr>
          <a:xfrm>
            <a:off x="508406" y="2148840"/>
            <a:ext cx="11174882" cy="274320"/>
          </a:xfrm>
          <a:prstGeom prst="rect">
            <a:avLst/>
          </a:prstGeom>
          <a:noFill/>
          <a:ln/>
        </p:spPr>
        <p:txBody>
          <a:bodyPr wrap="square" lIns="0" tIns="0" rIns="0" bIns="0" rtlCol="0" anchor="ctr"/>
          <a:lstStyle/>
          <a:p>
            <a:pPr algn="ctr" indent="0" marL="0">
              <a:buNone/>
            </a:pPr>
            <a:r>
              <a:rPr lang="en-US" sz="1100" b="1" spc="300" kern="0" dirty="0">
                <a:solidFill>
                  <a:srgbClr val="8A8AA3"/>
                </a:solidFill>
                <a:latin typeface="Geist Mono" pitchFamily="34" charset="0"/>
                <a:ea typeface="Geist Mono" pitchFamily="34" charset="-122"/>
                <a:cs typeface="Geist Mono" pitchFamily="34" charset="-120"/>
              </a:rPr>
              <a:t>ORG ADMIN &amp; PROGRAM OWNER ENABLEMENT · V3.0 · AUGUST 2026</a:t>
            </a:r>
            <a:endParaRPr lang="en-US" sz="1100" dirty="0"/>
          </a:p>
        </p:txBody>
      </p:sp>
      <p:sp>
        <p:nvSpPr>
          <p:cNvPr id="7" name="Text 2"/>
          <p:cNvSpPr/>
          <p:nvPr/>
        </p:nvSpPr>
        <p:spPr>
          <a:xfrm>
            <a:off x="1005840" y="2542032"/>
            <a:ext cx="10180015" cy="1600200"/>
          </a:xfrm>
          <a:prstGeom prst="rect">
            <a:avLst/>
          </a:prstGeom>
          <a:noFill/>
          <a:ln/>
        </p:spPr>
        <p:txBody>
          <a:bodyPr wrap="square" lIns="0" tIns="0" rIns="0" bIns="0" rtlCol="0" anchor="ctr"/>
          <a:lstStyle/>
          <a:p>
            <a:pPr algn="ctr" indent="0" marL="0">
              <a:lnSpc>
                <a:spcPts val="5400"/>
              </a:lnSpc>
              <a:buNone/>
            </a:pPr>
            <a:r>
              <a:rPr lang="en-US" sz="5200" b="1" spc="-160" kern="0" dirty="0">
                <a:solidFill>
                  <a:srgbClr val="FFFFFF"/>
                </a:solidFill>
                <a:latin typeface="Geist" pitchFamily="34" charset="0"/>
                <a:ea typeface="Geist" pitchFamily="34" charset="-122"/>
                <a:cs typeface="Geist" pitchFamily="34" charset="-120"/>
              </a:rPr>
              <a:t>Getting started as a</a:t>
            </a:r>
            <a:endParaRPr lang="en-US" sz="5200" dirty="0"/>
          </a:p>
          <a:p>
            <a:pPr algn="ctr" indent="0" marL="0">
              <a:lnSpc>
                <a:spcPts val="5400"/>
              </a:lnSpc>
              <a:buNone/>
            </a:pPr>
            <a:r>
              <a:rPr lang="en-US" sz="5200" b="1" spc="-160" kern="0" dirty="0">
                <a:solidFill>
                  <a:srgbClr val="FFFFFF"/>
                </a:solidFill>
                <a:latin typeface="Geist" pitchFamily="34" charset="0"/>
                <a:ea typeface="Geist" pitchFamily="34" charset="-122"/>
                <a:cs typeface="Geist" pitchFamily="34" charset="-120"/>
              </a:rPr>
              <a:t>Snyk Team Leader</a:t>
            </a:r>
            <a:endParaRPr lang="en-US" sz="5200" dirty="0"/>
          </a:p>
        </p:txBody>
      </p:sp>
      <p:pic>
        <p:nvPicPr>
          <p:cNvPr id="8" name="Image 3" descr="assets/grad_bar_h.png">    </p:cNvPr>
          <p:cNvPicPr>
            <a:picLocks noChangeAspect="1"/>
          </p:cNvPicPr>
          <p:nvPr/>
        </p:nvPicPr>
        <p:blipFill>
          <a:blip r:embed="rId4"/>
          <a:stretch>
            <a:fillRect/>
          </a:stretch>
        </p:blipFill>
        <p:spPr>
          <a:xfrm>
            <a:off x="4632808" y="4224528"/>
            <a:ext cx="2926080" cy="41148"/>
          </a:xfrm>
          <a:prstGeom prst="rect">
            <a:avLst/>
          </a:prstGeom>
        </p:spPr>
      </p:pic>
      <p:sp>
        <p:nvSpPr>
          <p:cNvPr id="9" name="Text 3"/>
          <p:cNvSpPr/>
          <p:nvPr/>
        </p:nvSpPr>
        <p:spPr>
          <a:xfrm>
            <a:off x="2148840" y="4498848"/>
            <a:ext cx="7894015" cy="822960"/>
          </a:xfrm>
          <a:prstGeom prst="rect">
            <a:avLst/>
          </a:prstGeom>
          <a:noFill/>
          <a:ln/>
        </p:spPr>
        <p:txBody>
          <a:bodyPr wrap="square" lIns="0" tIns="0" rIns="0" bIns="0" rtlCol="0" anchor="ctr"/>
          <a:lstStyle/>
          <a:p>
            <a:pPr algn="ctr" indent="0" marL="0">
              <a:lnSpc>
                <a:spcPts val="2200"/>
              </a:lnSpc>
              <a:buNone/>
            </a:pPr>
            <a:r>
              <a:rPr lang="en-US" sz="1400" dirty="0">
                <a:solidFill>
                  <a:srgbClr val="B8B8CC"/>
                </a:solidFill>
                <a:latin typeface="Geist" pitchFamily="34" charset="0"/>
                <a:ea typeface="Geist" pitchFamily="34" charset="-122"/>
                <a:cs typeface="Geist" pitchFamily="34" charset="-120"/>
              </a:rPr>
              <a:t>Configure the org, phase the rollout, govern who can accept risk, and prove the program is working — using juice-shop as the pilot repository.</a:t>
            </a:r>
            <a:endParaRPr lang="en-US" sz="1400" dirty="0"/>
          </a:p>
        </p:txBody>
      </p:sp>
      <p:sp>
        <p:nvSpPr>
          <p:cNvPr id="10" name="Text 4"/>
          <p:cNvSpPr/>
          <p:nvPr/>
        </p:nvSpPr>
        <p:spPr>
          <a:xfrm>
            <a:off x="508406" y="5440680"/>
            <a:ext cx="11174882" cy="274320"/>
          </a:xfrm>
          <a:prstGeom prst="rect">
            <a:avLst/>
          </a:prstGeom>
          <a:noFill/>
          <a:ln/>
        </p:spPr>
        <p:txBody>
          <a:bodyPr wrap="square" lIns="0" tIns="0" rIns="0" bIns="0" rtlCol="0" anchor="ctr"/>
          <a:lstStyle/>
          <a:p>
            <a:pPr algn="ctr" indent="0" marL="0">
              <a:buNone/>
            </a:pPr>
            <a:r>
              <a:rPr lang="en-US" sz="1000" spc="140" kern="0" dirty="0">
                <a:solidFill>
                  <a:srgbClr val="5C5C78"/>
                </a:solidFill>
                <a:latin typeface="Geist Mono" pitchFamily="34" charset="0"/>
                <a:ea typeface="Geist Mono" pitchFamily="34" charset="-122"/>
                <a:cs typeface="Geist Mono" pitchFamily="34" charset="-120"/>
              </a:rPr>
              <a:t>juice-shop   ·   github.com/lmaeda/juice-shop   ·   Node.js / TypeScript</a:t>
            </a:r>
            <a:endParaRPr lang="en-US" sz="10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for Team Leaders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COURSE OBJECTIVE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What you'll be able to do</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Six jobs. Most of the work is deciding, not clicking.</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Navigate — find your way around the org, the Projects page, and the reports that matter to leadership.</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Phase — configure automations to match where your program actually is, not where you wish it were.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Gate — turn Snyk into a gatekeeper without stalling delivery: PR checks, fail conditions, branch protection.</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Govern — decide who can accept risk, and get an audit trail when they do.</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Enable AI safely — roll out Snyk Studio, Agent Fix and agentic remediation with guardrails rather than hope.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Report — tell your executives something true, with numbers you can defend.</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for Team Leaders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AGENDA</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Seven parts</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Roughly 2.5 hours with discussion. Bring your actual org open in a browser tab.</a:t>
            </a:r>
            <a:endParaRPr lang="en-US" sz="1250" dirty="0"/>
          </a:p>
        </p:txBody>
      </p:sp>
      <p:sp>
        <p:nvSpPr>
          <p:cNvPr id="8" name="Shape 4"/>
          <p:cNvSpPr/>
          <p:nvPr/>
        </p:nvSpPr>
        <p:spPr>
          <a:xfrm>
            <a:off x="508406"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01</a:t>
            </a:r>
            <a:endParaRPr lang="en-US" sz="850" dirty="0"/>
          </a:p>
        </p:txBody>
      </p:sp>
      <p:sp>
        <p:nvSpPr>
          <p:cNvPr id="11" name="Text 6"/>
          <p:cNvSpPr/>
          <p:nvPr/>
        </p:nvSpPr>
        <p:spPr>
          <a:xfrm>
            <a:off x="72786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Overview &amp; maturity</a:t>
            </a:r>
            <a:endParaRPr lang="en-US" sz="1500" dirty="0"/>
          </a:p>
        </p:txBody>
      </p:sp>
      <p:sp>
        <p:nvSpPr>
          <p:cNvPr id="12" name="Text 7"/>
          <p:cNvSpPr/>
          <p:nvPr/>
        </p:nvSpPr>
        <p:spPr>
          <a:xfrm>
            <a:off x="727862"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The five-phase model, and honestly placing your team on it.</a:t>
            </a:r>
            <a:endParaRPr lang="en-US" sz="1100" dirty="0"/>
          </a:p>
        </p:txBody>
      </p:sp>
      <p:sp>
        <p:nvSpPr>
          <p:cNvPr id="13" name="Shape 8"/>
          <p:cNvSpPr/>
          <p:nvPr/>
        </p:nvSpPr>
        <p:spPr>
          <a:xfrm>
            <a:off x="3361563"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3361563" y="2432304"/>
            <a:ext cx="36576" cy="1453896"/>
          </a:xfrm>
          <a:prstGeom prst="rect">
            <a:avLst/>
          </a:prstGeom>
        </p:spPr>
      </p:pic>
      <p:sp>
        <p:nvSpPr>
          <p:cNvPr id="15" name="Text 9"/>
          <p:cNvSpPr/>
          <p:nvPr/>
        </p:nvSpPr>
        <p:spPr>
          <a:xfrm>
            <a:off x="3581019"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02</a:t>
            </a:r>
            <a:endParaRPr lang="en-US" sz="850" dirty="0"/>
          </a:p>
        </p:txBody>
      </p:sp>
      <p:sp>
        <p:nvSpPr>
          <p:cNvPr id="16" name="Text 10"/>
          <p:cNvSpPr/>
          <p:nvPr/>
        </p:nvSpPr>
        <p:spPr>
          <a:xfrm>
            <a:off x="3581019"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Integration settings</a:t>
            </a:r>
            <a:endParaRPr lang="en-US" sz="1500" dirty="0"/>
          </a:p>
        </p:txBody>
      </p:sp>
      <p:sp>
        <p:nvSpPr>
          <p:cNvPr id="17" name="Text 11"/>
          <p:cNvSpPr/>
          <p:nvPr/>
        </p:nvSpPr>
        <p:spPr>
          <a:xfrm>
            <a:off x="3581019"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Where the phased rollout is actually configured.</a:t>
            </a:r>
            <a:endParaRPr lang="en-US" sz="1100" dirty="0"/>
          </a:p>
        </p:txBody>
      </p:sp>
      <p:sp>
        <p:nvSpPr>
          <p:cNvPr id="18" name="Shape 12"/>
          <p:cNvSpPr/>
          <p:nvPr/>
        </p:nvSpPr>
        <p:spPr>
          <a:xfrm>
            <a:off x="6214720"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6214720" y="2432304"/>
            <a:ext cx="36576" cy="1453896"/>
          </a:xfrm>
          <a:prstGeom prst="rect">
            <a:avLst/>
          </a:prstGeom>
        </p:spPr>
      </p:pic>
      <p:sp>
        <p:nvSpPr>
          <p:cNvPr id="20" name="Text 13"/>
          <p:cNvSpPr/>
          <p:nvPr/>
        </p:nvSpPr>
        <p:spPr>
          <a:xfrm>
            <a:off x="6434176"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03</a:t>
            </a:r>
            <a:endParaRPr lang="en-US" sz="850" dirty="0"/>
          </a:p>
        </p:txBody>
      </p:sp>
      <p:sp>
        <p:nvSpPr>
          <p:cNvPr id="21" name="Text 14"/>
          <p:cNvSpPr/>
          <p:nvPr/>
        </p:nvSpPr>
        <p:spPr>
          <a:xfrm>
            <a:off x="6434176"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Gating</a:t>
            </a:r>
            <a:endParaRPr lang="en-US" sz="1500" dirty="0"/>
          </a:p>
        </p:txBody>
      </p:sp>
      <p:sp>
        <p:nvSpPr>
          <p:cNvPr id="22" name="Text 15"/>
          <p:cNvSpPr/>
          <p:nvPr/>
        </p:nvSpPr>
        <p:spPr>
          <a:xfrm>
            <a:off x="6434176"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PR checks, fail conditions, branch protection.</a:t>
            </a:r>
            <a:endParaRPr lang="en-US" sz="1100" dirty="0"/>
          </a:p>
        </p:txBody>
      </p:sp>
      <p:sp>
        <p:nvSpPr>
          <p:cNvPr id="23" name="Shape 16"/>
          <p:cNvSpPr/>
          <p:nvPr/>
        </p:nvSpPr>
        <p:spPr>
          <a:xfrm>
            <a:off x="9067876"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9067876" y="2432304"/>
            <a:ext cx="36576" cy="1453896"/>
          </a:xfrm>
          <a:prstGeom prst="rect">
            <a:avLst/>
          </a:prstGeom>
        </p:spPr>
      </p:pic>
      <p:sp>
        <p:nvSpPr>
          <p:cNvPr id="25" name="Text 17"/>
          <p:cNvSpPr/>
          <p:nvPr/>
        </p:nvSpPr>
        <p:spPr>
          <a:xfrm>
            <a:off x="928733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04</a:t>
            </a:r>
            <a:endParaRPr lang="en-US" sz="850" dirty="0"/>
          </a:p>
        </p:txBody>
      </p:sp>
      <p:sp>
        <p:nvSpPr>
          <p:cNvPr id="26" name="Text 18"/>
          <p:cNvSpPr/>
          <p:nvPr/>
        </p:nvSpPr>
        <p:spPr>
          <a:xfrm>
            <a:off x="928733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Governing ignores</a:t>
            </a:r>
            <a:endParaRPr lang="en-US" sz="1500" dirty="0"/>
          </a:p>
        </p:txBody>
      </p:sp>
      <p:sp>
        <p:nvSpPr>
          <p:cNvPr id="27" name="Text 19"/>
          <p:cNvSpPr/>
          <p:nvPr/>
        </p:nvSpPr>
        <p:spPr>
          <a:xfrm>
            <a:off x="9287332"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Who can accept risk, and how you find out.</a:t>
            </a:r>
            <a:endParaRPr lang="en-US" sz="1100" dirty="0"/>
          </a:p>
        </p:txBody>
      </p:sp>
      <p:sp>
        <p:nvSpPr>
          <p:cNvPr id="28" name="Shape 20"/>
          <p:cNvSpPr/>
          <p:nvPr/>
        </p:nvSpPr>
        <p:spPr>
          <a:xfrm>
            <a:off x="508406"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508406" y="4379976"/>
            <a:ext cx="36576" cy="1453896"/>
          </a:xfrm>
          <a:prstGeom prst="rect">
            <a:avLst/>
          </a:prstGeom>
        </p:spPr>
      </p:pic>
      <p:sp>
        <p:nvSpPr>
          <p:cNvPr id="30" name="Text 21"/>
          <p:cNvSpPr/>
          <p:nvPr/>
        </p:nvSpPr>
        <p:spPr>
          <a:xfrm>
            <a:off x="727862"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05</a:t>
            </a:r>
            <a:endParaRPr lang="en-US" sz="850" dirty="0"/>
          </a:p>
        </p:txBody>
      </p:sp>
      <p:sp>
        <p:nvSpPr>
          <p:cNvPr id="31" name="Text 22"/>
          <p:cNvSpPr/>
          <p:nvPr/>
        </p:nvSpPr>
        <p:spPr>
          <a:xfrm>
            <a:off x="727862"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AI &amp; agentic security</a:t>
            </a:r>
            <a:endParaRPr lang="en-US" sz="1500" dirty="0"/>
          </a:p>
        </p:txBody>
      </p:sp>
      <p:sp>
        <p:nvSpPr>
          <p:cNvPr id="32" name="Text 23"/>
          <p:cNvSpPr/>
          <p:nvPr/>
        </p:nvSpPr>
        <p:spPr>
          <a:xfrm>
            <a:off x="727862"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Studio, Agent Fix, the Remediation Agent, and rollout at scale.</a:t>
            </a:r>
            <a:endParaRPr lang="en-US" sz="1100" dirty="0"/>
          </a:p>
        </p:txBody>
      </p:sp>
      <p:sp>
        <p:nvSpPr>
          <p:cNvPr id="33" name="Shape 24"/>
          <p:cNvSpPr/>
          <p:nvPr/>
        </p:nvSpPr>
        <p:spPr>
          <a:xfrm>
            <a:off x="3361563"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3361563" y="4379976"/>
            <a:ext cx="36576" cy="1453896"/>
          </a:xfrm>
          <a:prstGeom prst="rect">
            <a:avLst/>
          </a:prstGeom>
        </p:spPr>
      </p:pic>
      <p:sp>
        <p:nvSpPr>
          <p:cNvPr id="35" name="Text 25"/>
          <p:cNvSpPr/>
          <p:nvPr/>
        </p:nvSpPr>
        <p:spPr>
          <a:xfrm>
            <a:off x="3581019"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06</a:t>
            </a:r>
            <a:endParaRPr lang="en-US" sz="850" dirty="0"/>
          </a:p>
        </p:txBody>
      </p:sp>
      <p:sp>
        <p:nvSpPr>
          <p:cNvPr id="36" name="Text 26"/>
          <p:cNvSpPr/>
          <p:nvPr/>
        </p:nvSpPr>
        <p:spPr>
          <a:xfrm>
            <a:off x="3581019"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Notifications &amp; reporting</a:t>
            </a:r>
            <a:endParaRPr lang="en-US" sz="1500" dirty="0"/>
          </a:p>
        </p:txBody>
      </p:sp>
      <p:sp>
        <p:nvSpPr>
          <p:cNvPr id="37" name="Text 27"/>
          <p:cNvSpPr/>
          <p:nvPr/>
        </p:nvSpPr>
        <p:spPr>
          <a:xfrm>
            <a:off x="3581019"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Slack, Jira, and the reports leadership asks for.</a:t>
            </a:r>
            <a:endParaRPr lang="en-US" sz="1100" dirty="0"/>
          </a:p>
        </p:txBody>
      </p:sp>
      <p:sp>
        <p:nvSpPr>
          <p:cNvPr id="38" name="Shape 28"/>
          <p:cNvSpPr/>
          <p:nvPr/>
        </p:nvSpPr>
        <p:spPr>
          <a:xfrm>
            <a:off x="6214720"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9" name="Image 8" descr="assets/grad_bar_v.png">    </p:cNvPr>
          <p:cNvPicPr>
            <a:picLocks noChangeAspect="1"/>
          </p:cNvPicPr>
          <p:nvPr/>
        </p:nvPicPr>
        <p:blipFill>
          <a:blip r:embed="rId9"/>
          <a:stretch>
            <a:fillRect/>
          </a:stretch>
        </p:blipFill>
        <p:spPr>
          <a:xfrm>
            <a:off x="6214720" y="4379976"/>
            <a:ext cx="36576" cy="1453896"/>
          </a:xfrm>
          <a:prstGeom prst="rect">
            <a:avLst/>
          </a:prstGeom>
        </p:spPr>
      </p:pic>
      <p:sp>
        <p:nvSpPr>
          <p:cNvPr id="40" name="Text 29"/>
          <p:cNvSpPr/>
          <p:nvPr/>
        </p:nvSpPr>
        <p:spPr>
          <a:xfrm>
            <a:off x="6434176"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07</a:t>
            </a:r>
            <a:endParaRPr lang="en-US" sz="850" dirty="0"/>
          </a:p>
        </p:txBody>
      </p:sp>
      <p:sp>
        <p:nvSpPr>
          <p:cNvPr id="41" name="Text 30"/>
          <p:cNvSpPr/>
          <p:nvPr/>
        </p:nvSpPr>
        <p:spPr>
          <a:xfrm>
            <a:off x="6434176"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Members &amp; permissions</a:t>
            </a:r>
            <a:endParaRPr lang="en-US" sz="1500" dirty="0"/>
          </a:p>
        </p:txBody>
      </p:sp>
      <p:sp>
        <p:nvSpPr>
          <p:cNvPr id="42" name="Text 31"/>
          <p:cNvSpPr/>
          <p:nvPr/>
        </p:nvSpPr>
        <p:spPr>
          <a:xfrm>
            <a:off x="6434176"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Roles, access requests, and the 30-day rollout plan.</a:t>
            </a:r>
            <a:endParaRPr lang="en-US" sz="1100" dirty="0"/>
          </a:p>
        </p:txBody>
      </p:sp>
      <p:sp>
        <p:nvSpPr>
          <p:cNvPr id="43" name="Shape 32"/>
          <p:cNvSpPr/>
          <p:nvPr/>
        </p:nvSpPr>
        <p:spPr>
          <a:xfrm>
            <a:off x="9067876"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44" name="Image 9" descr="assets/grad_bar_v.png">    </p:cNvPr>
          <p:cNvPicPr>
            <a:picLocks noChangeAspect="1"/>
          </p:cNvPicPr>
          <p:nvPr/>
        </p:nvPicPr>
        <p:blipFill>
          <a:blip r:embed="rId10"/>
          <a:stretch>
            <a:fillRect/>
          </a:stretch>
        </p:blipFill>
        <p:spPr>
          <a:xfrm>
            <a:off x="9067876" y="4379976"/>
            <a:ext cx="36576" cy="1453896"/>
          </a:xfrm>
          <a:prstGeom prst="rect">
            <a:avLst/>
          </a:prstGeom>
        </p:spPr>
      </p:pic>
      <p:sp>
        <p:nvSpPr>
          <p:cNvPr id="45" name="Text 33"/>
          <p:cNvSpPr/>
          <p:nvPr/>
        </p:nvSpPr>
        <p:spPr>
          <a:xfrm>
            <a:off x="9287332"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PAIR WITH</a:t>
            </a:r>
            <a:endParaRPr lang="en-US" sz="850" dirty="0"/>
          </a:p>
        </p:txBody>
      </p:sp>
      <p:sp>
        <p:nvSpPr>
          <p:cNvPr id="46" name="Text 34"/>
          <p:cNvSpPr/>
          <p:nvPr/>
        </p:nvSpPr>
        <p:spPr>
          <a:xfrm>
            <a:off x="9287332"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The developer track</a:t>
            </a:r>
            <a:endParaRPr lang="en-US" sz="1500" dirty="0"/>
          </a:p>
        </p:txBody>
      </p:sp>
      <p:sp>
        <p:nvSpPr>
          <p:cNvPr id="47" name="Text 35"/>
          <p:cNvSpPr/>
          <p:nvPr/>
        </p:nvSpPr>
        <p:spPr>
          <a:xfrm>
            <a:off x="9287332"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Teach them as a pair, leader course first. DEVELOPER_TRAINING.md is the lab handout.</a:t>
            </a:r>
            <a:endParaRPr lang="en-US" sz="1100" dirty="0"/>
          </a:p>
        </p:txBody>
      </p:sp>
      <p:sp>
        <p:nvSpPr>
          <p:cNvPr id="48" name="Shape 36"/>
          <p:cNvSpPr/>
          <p:nvPr/>
        </p:nvSpPr>
        <p:spPr>
          <a:xfrm>
            <a:off x="508406" y="6245352"/>
            <a:ext cx="11174882" cy="10973"/>
          </a:xfrm>
          <a:prstGeom prst="rect">
            <a:avLst/>
          </a:prstGeom>
          <a:solidFill>
            <a:srgbClr val="FFFFFF">
              <a:alpha val="12000"/>
            </a:srgbClr>
          </a:solidFill>
          <a:ln/>
        </p:spPr>
      </p:sp>
      <p:pic>
        <p:nvPicPr>
          <p:cNvPr id="49" name="Image 10" descr="assets/logo-snyk-white.png">    </p:cNvPr>
          <p:cNvPicPr>
            <a:picLocks noChangeAspect="1"/>
          </p:cNvPicPr>
          <p:nvPr/>
        </p:nvPicPr>
        <p:blipFill>
          <a:blip r:embed="rId11"/>
          <a:stretch>
            <a:fillRect/>
          </a:stretch>
        </p:blipFill>
        <p:spPr>
          <a:xfrm>
            <a:off x="508406" y="6336792"/>
            <a:ext cx="621792" cy="219456"/>
          </a:xfrm>
          <a:prstGeom prst="rect">
            <a:avLst/>
          </a:prstGeom>
        </p:spPr>
      </p:pic>
      <p:sp>
        <p:nvSpPr>
          <p:cNvPr id="50" name="Text 37"/>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for Team Leaders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ONE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01</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Overview &amp; maturity</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The model that determines every setting you'll touch today.</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Overview &amp; maturity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THE PLATFORM</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One platform, six questions</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This course illustrates Snyk Open Source with a GitHub integration; the concepts carry across products and SCMs.</a:t>
            </a:r>
            <a:endParaRPr lang="en-US" sz="1250" dirty="0"/>
          </a:p>
        </p:txBody>
      </p:sp>
      <p:sp>
        <p:nvSpPr>
          <p:cNvPr id="8" name="Shape 4"/>
          <p:cNvSpPr/>
          <p:nvPr/>
        </p:nvSpPr>
        <p:spPr>
          <a:xfrm>
            <a:off x="508406"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SCA</a:t>
            </a:r>
            <a:endParaRPr lang="en-US" sz="850" dirty="0"/>
          </a:p>
        </p:txBody>
      </p:sp>
      <p:sp>
        <p:nvSpPr>
          <p:cNvPr id="11" name="Text 6"/>
          <p:cNvSpPr/>
          <p:nvPr/>
        </p:nvSpPr>
        <p:spPr>
          <a:xfrm>
            <a:off x="727862"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Open Source</a:t>
            </a:r>
            <a:endParaRPr lang="en-US" sz="1500" dirty="0"/>
          </a:p>
        </p:txBody>
      </p:sp>
      <p:sp>
        <p:nvSpPr>
          <p:cNvPr id="12" name="Text 7"/>
          <p:cNvSpPr/>
          <p:nvPr/>
        </p:nvSpPr>
        <p:spPr>
          <a:xfrm>
            <a:off x="727862"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Are our dependencies vulnerable? The usual source of the biggest number.</a:t>
            </a:r>
            <a:endParaRPr lang="en-US" sz="1100" dirty="0"/>
          </a:p>
        </p:txBody>
      </p:sp>
      <p:sp>
        <p:nvSpPr>
          <p:cNvPr id="13" name="Shape 8"/>
          <p:cNvSpPr/>
          <p:nvPr/>
        </p:nvSpPr>
        <p:spPr>
          <a:xfrm>
            <a:off x="4312615"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4312615" y="2432304"/>
            <a:ext cx="36576" cy="1453896"/>
          </a:xfrm>
          <a:prstGeom prst="rect">
            <a:avLst/>
          </a:prstGeom>
        </p:spPr>
      </p:pic>
      <p:sp>
        <p:nvSpPr>
          <p:cNvPr id="15" name="Text 9"/>
          <p:cNvSpPr/>
          <p:nvPr/>
        </p:nvSpPr>
        <p:spPr>
          <a:xfrm>
            <a:off x="4532071"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SAST</a:t>
            </a:r>
            <a:endParaRPr lang="en-US" sz="850" dirty="0"/>
          </a:p>
        </p:txBody>
      </p:sp>
      <p:sp>
        <p:nvSpPr>
          <p:cNvPr id="16" name="Text 10"/>
          <p:cNvSpPr/>
          <p:nvPr/>
        </p:nvSpPr>
        <p:spPr>
          <a:xfrm>
            <a:off x="4532071"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Code</a:t>
            </a:r>
            <a:endParaRPr lang="en-US" sz="1500" dirty="0"/>
          </a:p>
        </p:txBody>
      </p:sp>
      <p:sp>
        <p:nvSpPr>
          <p:cNvPr id="17" name="Text 11"/>
          <p:cNvSpPr/>
          <p:nvPr/>
        </p:nvSpPr>
        <p:spPr>
          <a:xfrm>
            <a:off x="4532071"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the code we wrote vulnerable? Data-flow analysis on first-party code.</a:t>
            </a:r>
            <a:endParaRPr lang="en-US" sz="1100" dirty="0"/>
          </a:p>
        </p:txBody>
      </p:sp>
      <p:sp>
        <p:nvSpPr>
          <p:cNvPr id="18" name="Shape 12"/>
          <p:cNvSpPr/>
          <p:nvPr/>
        </p:nvSpPr>
        <p:spPr>
          <a:xfrm>
            <a:off x="8116824"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8116824" y="2432304"/>
            <a:ext cx="36576" cy="1453896"/>
          </a:xfrm>
          <a:prstGeom prst="rect">
            <a:avLst/>
          </a:prstGeom>
        </p:spPr>
      </p:pic>
      <p:sp>
        <p:nvSpPr>
          <p:cNvPr id="20" name="Text 13"/>
          <p:cNvSpPr/>
          <p:nvPr/>
        </p:nvSpPr>
        <p:spPr>
          <a:xfrm>
            <a:off x="8336280"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SECRETS</a:t>
            </a:r>
            <a:endParaRPr lang="en-US" sz="850" dirty="0"/>
          </a:p>
        </p:txBody>
      </p:sp>
      <p:sp>
        <p:nvSpPr>
          <p:cNvPr id="21" name="Text 14"/>
          <p:cNvSpPr/>
          <p:nvPr/>
        </p:nvSpPr>
        <p:spPr>
          <a:xfrm>
            <a:off x="8336280"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Secrets</a:t>
            </a:r>
            <a:endParaRPr lang="en-US" sz="1500" dirty="0"/>
          </a:p>
        </p:txBody>
      </p:sp>
      <p:sp>
        <p:nvSpPr>
          <p:cNvPr id="22" name="Text 15"/>
          <p:cNvSpPr/>
          <p:nvPr/>
        </p:nvSpPr>
        <p:spPr>
          <a:xfrm>
            <a:off x="8336280"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Did we commit a key? GA since July 2026. Needs org enablement — and repos must be RE-IMPORTED.</a:t>
            </a:r>
            <a:endParaRPr lang="en-US" sz="1100" dirty="0"/>
          </a:p>
        </p:txBody>
      </p:sp>
      <p:sp>
        <p:nvSpPr>
          <p:cNvPr id="23" name="Shape 16"/>
          <p:cNvSpPr/>
          <p:nvPr/>
        </p:nvSpPr>
        <p:spPr>
          <a:xfrm>
            <a:off x="508406"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508406" y="4379976"/>
            <a:ext cx="36576" cy="1453896"/>
          </a:xfrm>
          <a:prstGeom prst="rect">
            <a:avLst/>
          </a:prstGeom>
        </p:spPr>
      </p:pic>
      <p:sp>
        <p:nvSpPr>
          <p:cNvPr id="25" name="Text 17"/>
          <p:cNvSpPr/>
          <p:nvPr/>
        </p:nvSpPr>
        <p:spPr>
          <a:xfrm>
            <a:off x="727862"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CONTAINER</a:t>
            </a:r>
            <a:endParaRPr lang="en-US" sz="850" dirty="0"/>
          </a:p>
        </p:txBody>
      </p:sp>
      <p:sp>
        <p:nvSpPr>
          <p:cNvPr id="26" name="Text 18"/>
          <p:cNvSpPr/>
          <p:nvPr/>
        </p:nvSpPr>
        <p:spPr>
          <a:xfrm>
            <a:off x="727862"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Container</a:t>
            </a:r>
            <a:endParaRPr lang="en-US" sz="1500" dirty="0"/>
          </a:p>
        </p:txBody>
      </p:sp>
      <p:sp>
        <p:nvSpPr>
          <p:cNvPr id="27" name="Text 19"/>
          <p:cNvSpPr/>
          <p:nvPr/>
        </p:nvSpPr>
        <p:spPr>
          <a:xfrm>
            <a:off x="727862"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Are our base images vulnerable? OS packages plus bundled app dependencies.</a:t>
            </a:r>
            <a:endParaRPr lang="en-US" sz="1100" dirty="0"/>
          </a:p>
        </p:txBody>
      </p:sp>
      <p:sp>
        <p:nvSpPr>
          <p:cNvPr id="28" name="Shape 20"/>
          <p:cNvSpPr/>
          <p:nvPr/>
        </p:nvSpPr>
        <p:spPr>
          <a:xfrm>
            <a:off x="4312615"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4312615" y="4379976"/>
            <a:ext cx="36576" cy="1453896"/>
          </a:xfrm>
          <a:prstGeom prst="rect">
            <a:avLst/>
          </a:prstGeom>
        </p:spPr>
      </p:pic>
      <p:sp>
        <p:nvSpPr>
          <p:cNvPr id="30" name="Text 21"/>
          <p:cNvSpPr/>
          <p:nvPr/>
        </p:nvSpPr>
        <p:spPr>
          <a:xfrm>
            <a:off x="4532071"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IAC</a:t>
            </a:r>
            <a:endParaRPr lang="en-US" sz="850" dirty="0"/>
          </a:p>
        </p:txBody>
      </p:sp>
      <p:sp>
        <p:nvSpPr>
          <p:cNvPr id="31" name="Text 22"/>
          <p:cNvSpPr/>
          <p:nvPr/>
        </p:nvSpPr>
        <p:spPr>
          <a:xfrm>
            <a:off x="4532071"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IaC</a:t>
            </a:r>
            <a:endParaRPr lang="en-US" sz="1500" dirty="0"/>
          </a:p>
        </p:txBody>
      </p:sp>
      <p:sp>
        <p:nvSpPr>
          <p:cNvPr id="32" name="Text 23"/>
          <p:cNvSpPr/>
          <p:nvPr/>
        </p:nvSpPr>
        <p:spPr>
          <a:xfrm>
            <a:off x="4532071"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our infrastructure misconfigured? Terraform, Kubernetes, CloudFormation, ARM.</a:t>
            </a:r>
            <a:endParaRPr lang="en-US" sz="1100" dirty="0"/>
          </a:p>
        </p:txBody>
      </p:sp>
      <p:sp>
        <p:nvSpPr>
          <p:cNvPr id="33" name="Shape 24"/>
          <p:cNvSpPr/>
          <p:nvPr/>
        </p:nvSpPr>
        <p:spPr>
          <a:xfrm>
            <a:off x="8116824"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8116824" y="4379976"/>
            <a:ext cx="36576" cy="1453896"/>
          </a:xfrm>
          <a:prstGeom prst="rect">
            <a:avLst/>
          </a:prstGeom>
        </p:spPr>
      </p:pic>
      <p:sp>
        <p:nvSpPr>
          <p:cNvPr id="35" name="Text 25"/>
          <p:cNvSpPr/>
          <p:nvPr/>
        </p:nvSpPr>
        <p:spPr>
          <a:xfrm>
            <a:off x="8336280"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GOVERNANCE</a:t>
            </a:r>
            <a:endParaRPr lang="en-US" sz="850" dirty="0"/>
          </a:p>
        </p:txBody>
      </p:sp>
      <p:sp>
        <p:nvSpPr>
          <p:cNvPr id="36" name="Text 26"/>
          <p:cNvSpPr/>
          <p:nvPr/>
        </p:nvSpPr>
        <p:spPr>
          <a:xfrm>
            <a:off x="8336280"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Policies, reports, roles</a:t>
            </a:r>
            <a:endParaRPr lang="en-US" sz="1500" dirty="0"/>
          </a:p>
        </p:txBody>
      </p:sp>
      <p:sp>
        <p:nvSpPr>
          <p:cNvPr id="37" name="Text 27"/>
          <p:cNvSpPr/>
          <p:nvPr/>
        </p:nvSpPr>
        <p:spPr>
          <a:xfrm>
            <a:off x="8336280"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Who can accept risk, what breaches SLA, and what you report upward. Most of this course.</a:t>
            </a:r>
            <a:endParaRPr lang="en-US" sz="1100" dirty="0"/>
          </a:p>
        </p:txBody>
      </p:sp>
      <p:sp>
        <p:nvSpPr>
          <p:cNvPr id="38" name="Shape 28"/>
          <p:cNvSpPr/>
          <p:nvPr/>
        </p:nvSpPr>
        <p:spPr>
          <a:xfrm>
            <a:off x="508406" y="6245352"/>
            <a:ext cx="11174882" cy="10973"/>
          </a:xfrm>
          <a:prstGeom prst="rect">
            <a:avLst/>
          </a:prstGeom>
          <a:solidFill>
            <a:srgbClr val="FFFFFF">
              <a:alpha val="12000"/>
            </a:srgbClr>
          </a:solidFill>
          <a:ln/>
        </p:spPr>
      </p:sp>
      <p:pic>
        <p:nvPicPr>
          <p:cNvPr id="39" name="Image 8" descr="assets/logo-snyk-white.png">    </p:cNvPr>
          <p:cNvPicPr>
            <a:picLocks noChangeAspect="1"/>
          </p:cNvPicPr>
          <p:nvPr/>
        </p:nvPicPr>
        <p:blipFill>
          <a:blip r:embed="rId9"/>
          <a:stretch>
            <a:fillRect/>
          </a:stretch>
        </p:blipFill>
        <p:spPr>
          <a:xfrm>
            <a:off x="508406" y="6336792"/>
            <a:ext cx="621792" cy="219456"/>
          </a:xfrm>
          <a:prstGeom prst="rect">
            <a:avLst/>
          </a:prstGeom>
        </p:spPr>
      </p:pic>
      <p:sp>
        <p:nvSpPr>
          <p:cNvPr id="40" name="Text 29"/>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Overview &amp; maturity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MATURITY MODEL</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Five phases — and be honest about yours</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Where you start determines how you configure everything in part 02.</a:t>
            </a:r>
            <a:endParaRPr lang="en-US" sz="1250" dirty="0"/>
          </a:p>
        </p:txBody>
      </p:sp>
      <p:sp>
        <p:nvSpPr>
          <p:cNvPr id="8" name="Shape 4"/>
          <p:cNvSpPr/>
          <p:nvPr/>
        </p:nvSpPr>
        <p:spPr>
          <a:xfrm>
            <a:off x="508406"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PHASE 1</a:t>
            </a:r>
            <a:endParaRPr lang="en-US" sz="850" dirty="0"/>
          </a:p>
        </p:txBody>
      </p:sp>
      <p:sp>
        <p:nvSpPr>
          <p:cNvPr id="11" name="Text 6"/>
          <p:cNvSpPr/>
          <p:nvPr/>
        </p:nvSpPr>
        <p:spPr>
          <a:xfrm>
            <a:off x="727862"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Build awareness</a:t>
            </a:r>
            <a:endParaRPr lang="en-US" sz="1500" dirty="0"/>
          </a:p>
        </p:txBody>
      </p:sp>
      <p:sp>
        <p:nvSpPr>
          <p:cNvPr id="12" name="Text 7"/>
          <p:cNvSpPr/>
          <p:nvPr/>
        </p:nvSpPr>
        <p:spPr>
          <a:xfrm>
            <a:off x="727862"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Announce Snyk. Nothing is automated. Nobody is blocked. You are teaching, not enforcing.</a:t>
            </a:r>
            <a:endParaRPr lang="en-US" sz="1100" dirty="0"/>
          </a:p>
        </p:txBody>
      </p:sp>
      <p:sp>
        <p:nvSpPr>
          <p:cNvPr id="13" name="Shape 8"/>
          <p:cNvSpPr/>
          <p:nvPr/>
        </p:nvSpPr>
        <p:spPr>
          <a:xfrm>
            <a:off x="4312615"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4312615" y="2432304"/>
            <a:ext cx="36576" cy="1453896"/>
          </a:xfrm>
          <a:prstGeom prst="rect">
            <a:avLst/>
          </a:prstGeom>
        </p:spPr>
      </p:pic>
      <p:sp>
        <p:nvSpPr>
          <p:cNvPr id="15" name="Text 9"/>
          <p:cNvSpPr/>
          <p:nvPr/>
        </p:nvSpPr>
        <p:spPr>
          <a:xfrm>
            <a:off x="4532071"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PHASE 2</a:t>
            </a:r>
            <a:endParaRPr lang="en-US" sz="850" dirty="0"/>
          </a:p>
        </p:txBody>
      </p:sp>
      <p:sp>
        <p:nvSpPr>
          <p:cNvPr id="16" name="Text 10"/>
          <p:cNvSpPr/>
          <p:nvPr/>
        </p:nvSpPr>
        <p:spPr>
          <a:xfrm>
            <a:off x="4532071"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Gain visibility</a:t>
            </a:r>
            <a:endParaRPr lang="en-US" sz="1500" dirty="0"/>
          </a:p>
        </p:txBody>
      </p:sp>
      <p:sp>
        <p:nvSpPr>
          <p:cNvPr id="17" name="Text 11"/>
          <p:cNvSpPr/>
          <p:nvPr/>
        </p:nvSpPr>
        <p:spPr>
          <a:xfrm>
            <a:off x="4532071"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Import a small number of repos. Automations OFF. Most notifications OFF. Do a few manual fixes yourself to learn the process.</a:t>
            </a:r>
            <a:endParaRPr lang="en-US" sz="1100" dirty="0"/>
          </a:p>
        </p:txBody>
      </p:sp>
      <p:sp>
        <p:nvSpPr>
          <p:cNvPr id="18" name="Shape 12"/>
          <p:cNvSpPr/>
          <p:nvPr/>
        </p:nvSpPr>
        <p:spPr>
          <a:xfrm>
            <a:off x="8116824"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8116824" y="2432304"/>
            <a:ext cx="36576" cy="1453896"/>
          </a:xfrm>
          <a:prstGeom prst="rect">
            <a:avLst/>
          </a:prstGeom>
        </p:spPr>
      </p:pic>
      <p:sp>
        <p:nvSpPr>
          <p:cNvPr id="20" name="Text 13"/>
          <p:cNvSpPr/>
          <p:nvPr/>
        </p:nvSpPr>
        <p:spPr>
          <a:xfrm>
            <a:off x="8336280"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PHASE 3</a:t>
            </a:r>
            <a:endParaRPr lang="en-US" sz="850" dirty="0"/>
          </a:p>
        </p:txBody>
      </p:sp>
      <p:sp>
        <p:nvSpPr>
          <p:cNvPr id="21" name="Text 14"/>
          <p:cNvSpPr/>
          <p:nvPr/>
        </p:nvSpPr>
        <p:spPr>
          <a:xfrm>
            <a:off x="8336280"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Prevent new issues</a:t>
            </a:r>
            <a:endParaRPr lang="en-US" sz="1500" dirty="0"/>
          </a:p>
        </p:txBody>
      </p:sp>
      <p:sp>
        <p:nvSpPr>
          <p:cNvPr id="22" name="Text 15"/>
          <p:cNvSpPr/>
          <p:nvPr/>
        </p:nvSpPr>
        <p:spPr>
          <a:xfrm>
            <a:off x="8336280"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PR checks on. Start with "fails only if the PR adds a vulnerable dependency". Pilot one team first.</a:t>
            </a:r>
            <a:endParaRPr lang="en-US" sz="1100" dirty="0"/>
          </a:p>
        </p:txBody>
      </p:sp>
      <p:sp>
        <p:nvSpPr>
          <p:cNvPr id="23" name="Shape 16"/>
          <p:cNvSpPr/>
          <p:nvPr/>
        </p:nvSpPr>
        <p:spPr>
          <a:xfrm>
            <a:off x="508406"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508406" y="4379976"/>
            <a:ext cx="36576" cy="1453896"/>
          </a:xfrm>
          <a:prstGeom prst="rect">
            <a:avLst/>
          </a:prstGeom>
        </p:spPr>
      </p:pic>
      <p:sp>
        <p:nvSpPr>
          <p:cNvPr id="25" name="Text 17"/>
          <p:cNvSpPr/>
          <p:nvPr/>
        </p:nvSpPr>
        <p:spPr>
          <a:xfrm>
            <a:off x="727862"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PHASE 4</a:t>
            </a:r>
            <a:endParaRPr lang="en-US" sz="850" dirty="0"/>
          </a:p>
        </p:txBody>
      </p:sp>
      <p:sp>
        <p:nvSpPr>
          <p:cNvPr id="26" name="Text 18"/>
          <p:cNvSpPr/>
          <p:nvPr/>
        </p:nvSpPr>
        <p:spPr>
          <a:xfrm>
            <a:off x="727862"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Fix the backlog</a:t>
            </a:r>
            <a:endParaRPr lang="en-US" sz="1500" dirty="0"/>
          </a:p>
        </p:txBody>
      </p:sp>
      <p:sp>
        <p:nvSpPr>
          <p:cNvPr id="27" name="Text 19"/>
          <p:cNvSpPr/>
          <p:nvPr/>
        </p:nvSpPr>
        <p:spPr>
          <a:xfrm>
            <a:off x="727862"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Automatic fix PRs. Dedicated sprint capacity. A prioritization plan, not a spreadsheet of everything.</a:t>
            </a:r>
            <a:endParaRPr lang="en-US" sz="1100" dirty="0"/>
          </a:p>
        </p:txBody>
      </p:sp>
      <p:sp>
        <p:nvSpPr>
          <p:cNvPr id="28" name="Shape 20"/>
          <p:cNvSpPr/>
          <p:nvPr/>
        </p:nvSpPr>
        <p:spPr>
          <a:xfrm>
            <a:off x="4312615"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4312615" y="4379976"/>
            <a:ext cx="36576" cy="1453896"/>
          </a:xfrm>
          <a:prstGeom prst="rect">
            <a:avLst/>
          </a:prstGeom>
        </p:spPr>
      </p:pic>
      <p:sp>
        <p:nvSpPr>
          <p:cNvPr id="30" name="Text 21"/>
          <p:cNvSpPr/>
          <p:nvPr/>
        </p:nvSpPr>
        <p:spPr>
          <a:xfrm>
            <a:off x="4532071"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PHASE 5</a:t>
            </a:r>
            <a:endParaRPr lang="en-US" sz="850" dirty="0"/>
          </a:p>
        </p:txBody>
      </p:sp>
      <p:sp>
        <p:nvSpPr>
          <p:cNvPr id="31" name="Text 22"/>
          <p:cNvSpPr/>
          <p:nvPr/>
        </p:nvSpPr>
        <p:spPr>
          <a:xfrm>
            <a:off x="4532071"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Optimize</a:t>
            </a:r>
            <a:endParaRPr lang="en-US" sz="1500" dirty="0"/>
          </a:p>
        </p:txBody>
      </p:sp>
      <p:sp>
        <p:nvSpPr>
          <p:cNvPr id="32" name="Text 23"/>
          <p:cNvSpPr/>
          <p:nvPr/>
        </p:nvSpPr>
        <p:spPr>
          <a:xfrm>
            <a:off x="4532071"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Dependency upgrade PRs. Jira and Slack wired in. Metrics to executives. Security in feature planning.</a:t>
            </a:r>
            <a:endParaRPr lang="en-US" sz="1100" dirty="0"/>
          </a:p>
        </p:txBody>
      </p:sp>
      <p:sp>
        <p:nvSpPr>
          <p:cNvPr id="33" name="Shape 24"/>
          <p:cNvSpPr/>
          <p:nvPr/>
        </p:nvSpPr>
        <p:spPr>
          <a:xfrm>
            <a:off x="8116824"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8116824" y="4379976"/>
            <a:ext cx="36576" cy="1453896"/>
          </a:xfrm>
          <a:prstGeom prst="rect">
            <a:avLst/>
          </a:prstGeom>
        </p:spPr>
      </p:pic>
      <p:sp>
        <p:nvSpPr>
          <p:cNvPr id="35" name="Text 25"/>
          <p:cNvSpPr/>
          <p:nvPr/>
        </p:nvSpPr>
        <p:spPr>
          <a:xfrm>
            <a:off x="8336280"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REALITY</a:t>
            </a:r>
            <a:endParaRPr lang="en-US" sz="850" dirty="0"/>
          </a:p>
        </p:txBody>
      </p:sp>
      <p:sp>
        <p:nvSpPr>
          <p:cNvPr id="36" name="Text 26"/>
          <p:cNvSpPr/>
          <p:nvPr/>
        </p:nvSpPr>
        <p:spPr>
          <a:xfrm>
            <a:off x="8336280"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It isn't linear</a:t>
            </a:r>
            <a:endParaRPr lang="en-US" sz="1500" dirty="0"/>
          </a:p>
        </p:txBody>
      </p:sp>
      <p:sp>
        <p:nvSpPr>
          <p:cNvPr id="37" name="Text 27"/>
          <p:cNvSpPr/>
          <p:nvPr/>
        </p:nvSpPr>
        <p:spPr>
          <a:xfrm>
            <a:off x="8336280"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Different teams sit in different phases at the same time. Configure per team, not per company.</a:t>
            </a:r>
            <a:endParaRPr lang="en-US" sz="1100" dirty="0"/>
          </a:p>
        </p:txBody>
      </p:sp>
      <p:sp>
        <p:nvSpPr>
          <p:cNvPr id="38" name="Shape 28"/>
          <p:cNvSpPr/>
          <p:nvPr/>
        </p:nvSpPr>
        <p:spPr>
          <a:xfrm>
            <a:off x="508406" y="6245352"/>
            <a:ext cx="11174882" cy="10973"/>
          </a:xfrm>
          <a:prstGeom prst="rect">
            <a:avLst/>
          </a:prstGeom>
          <a:solidFill>
            <a:srgbClr val="FFFFFF">
              <a:alpha val="12000"/>
            </a:srgbClr>
          </a:solidFill>
          <a:ln/>
        </p:spPr>
      </p:sp>
      <p:pic>
        <p:nvPicPr>
          <p:cNvPr id="39" name="Image 8" descr="assets/logo-snyk-white.png">    </p:cNvPr>
          <p:cNvPicPr>
            <a:picLocks noChangeAspect="1"/>
          </p:cNvPicPr>
          <p:nvPr/>
        </p:nvPicPr>
        <p:blipFill>
          <a:blip r:embed="rId9"/>
          <a:stretch>
            <a:fillRect/>
          </a:stretch>
        </p:blipFill>
        <p:spPr>
          <a:xfrm>
            <a:off x="508406" y="6336792"/>
            <a:ext cx="621792" cy="219456"/>
          </a:xfrm>
          <a:prstGeom prst="rect">
            <a:avLst/>
          </a:prstGeom>
        </p:spPr>
      </p:pic>
      <p:sp>
        <p:nvSpPr>
          <p:cNvPr id="40" name="Text 29"/>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Overview &amp; maturity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PHASE TO SETTING</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The mapping you'll come back to</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Print this. It is the single most useful artefact in this deck, and it is what stops someone enabling automatic fix PRs in week one because it sounded good.</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8406" y="2258568"/>
          <a:ext cx="11174882" cy="914400"/>
        </p:xfrm>
        <a:graphic>
          <a:graphicData uri="http://schemas.openxmlformats.org/drawingml/2006/table">
            <a:tbl>
              <a:tblPr/>
              <a:tblGrid>
                <a:gridCol w="2743200"/>
                <a:gridCol w="2834640"/>
                <a:gridCol w="3200400"/>
                <a:gridCol w="239572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Phase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Automations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PR checks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Notifications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1 Build awareness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all 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2 Gain visibility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all 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org defaults off; individuals opt in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3 Prevent new issues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 — new dependencies only, one pilot team</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deal-team channel only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4 Fix the backlog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automatic fix PRs 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 — high/critical, fixable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 for the fixing teams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5 Optimize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fix + dependency upgrade PRs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 — branch protection enforced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Slack + Jira, weekly reports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Overview &amp; maturity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STRUCTURE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Projects, orgs and the limits that bite later</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WHAT SNYK COUNTS</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Targets vs Projects</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 Target is what you imported — usually a repository. A Project is what gets scanned: one per manifest, plus one code root.</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juice-shop alone yields roughly six Projects across npm, Snyk Code, Container and IaC.</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Attributes (Environment, Business Criticality, Lifecycle) and Tags let you group, filter and report. Introduce them now — part 06 depends on them.</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LIMITS WORTH RESPECTING</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Stay under 10,000</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Keep a single org under roughly 10,000 Projects.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Past that: slower Project listing, dashboard, notifications and usage page.</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Orgs with very large Project counts are difficult to DELETE — which matters when a pilot org needs cleaning up.</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Tags: keys 30 chars, values 50; 1,000 unique combinations per group, 10 tags per Project.</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Import a few repos first, settle the process, then scale with snyk-api-import.</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Overview &amp; maturity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TWO</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02</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Integration settings</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Where the phased rollout stops being a slide and becomes real.</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Integration settings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INTEGRATIONS PAGE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Set up once, then tune per project</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Everything downstream — PR checks, fix PRs, inline comments, recurring tests — depends on this page.</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Where — Integrations → pick your SCM. GitHub, GitHub Enterprise, GitLab, Bitbucket, Azure Repos.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Prefer the GitHub App — fine-grained permissions and commit signing, versus a broad OAuth grant.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Watch for inherited config — integration settings may have been copied from another org. Check them; do not assume a clean slate.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Broker version floors — brokered integrations have minimums: Broker 4.55.0+ for automatic PRs, 4.194+ for inline comments, 4.219+ for Agent Fix in the PR.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GitHub + Agent Fix in the PR needs a DEDICATED account authenticated with a PAT, as of April 2026. This is the commonest silent rollout blocker — check it before you debug anything else.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Two levels — org-level settings are the default; project-level settings override them. Pilot at project level, then promote. Teach this pattern explicitly; it is what makes a safe rollout possible.</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Integration settings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PHASE 2 — GAIN VISIBILITY</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Turn things off before you turn them on</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DISABLE, FOR NOW</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Four toggles and the email defaults</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Default Snyk test for pull requests.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Automatic fix pull requests.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Automatic dependency upgrade pull requests.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Automatic Dockerfile base image updates.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Most org-level notification emails. Note: new-vulnerability emails are already OFF by default in 2026 — so if alerting seems broken, it was never on.</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WHY</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Goodwill is the resource</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You are importing and learning, not enforcing.</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Automating before teams are ready is how you lose developer goodwill in week one — and goodwill is what this whole exercise runs on.</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Do a handful of manual fixes yourself so you understand the workflow you are about to mandate.</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Individuals can still opt into their own notifications. Nothing you set removes their choice.</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Integration settings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PHASE 4 — FIX THE BACKLOG</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Automatic fix PRs, with change management</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The technical enablement is one toggle. The work is everything around it.</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How they behave — Snyk scans monitored Projects daily or weekly and opens fix PRs for new vulnerabilities. Separate PRs per dependency; no new PR for a dependency already changed in an open Snyk PR.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Each PR carries a merge advice badge — Snyk's confidence it will not break you. Advice, not a guarantee.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New in 2026 — obsolete Fix PRs now AUTO-CLOSE by default, which removes a real source of PR noise. And breakability (merge risk) analysis is available in EA via Snyk Preview.</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Announce it — developers must know why PRs are appearing and who owns them. An unowned fix PR is just noise, and noise gets filtered.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Agree sprint capacity — "fix the backlog" is a commitment of engineering time, not a setting.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Have a prioritization plan — so the backlog work has a defined order and a defined end. Then enable at project level with a willing team, and only then org-wide.</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Integration settings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PHASE 5 — OPTIMIZE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The settings you leave for last</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Automatic dependency upgrade PRs — keeps you current, not just un-vulnerable. Patch and minor by default; major is opt-in.</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The guardrails Snyk applies — no upgrade to a version under 21 days old (avoids unpublished or compromised releases); no upgrade if the target version introduces new vulnerabilities; an open-PR cap you set between 1 and 10, counting fix PRs as well as upgrade PRs.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Automatic Dockerfile base image updates — PRs that move to a newer base image to clear high-severity issues. In the pilot repo, infrastructure/Dockerfile on Node 20.19.2 is the obvious candidate.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PR assignees for private repos — the last user to change the manifest, or a named contributor.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Integrate outward — Jira for work tracking, Slack for awareness, ServiceNow or the API for anything bespoke.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Snyk Code Rule Extensions (GA, Enterprise) — register your own sanitizers to cut false positives, now testable in the Web UI. This is your main FP lever, and it belongs to phase 5, not week one.</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Integration settings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THREE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03</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Gating</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Making Snyk a gatekeeper without stalling delivery.</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Gating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FAIL CONDITIONS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Turn the dial one notch at a time</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Recommended starting point for a pilot: new dependencies only, high/critical, fix available. The first two rules are mutually exclusive.</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8406" y="2258568"/>
          <a:ext cx="11174882" cy="914400"/>
        </p:xfrm>
        <a:graphic>
          <a:graphicData uri="http://schemas.openxmlformats.org/drawingml/2006/table">
            <a:tbl>
              <a:tblPr/>
              <a:tblGrid>
                <a:gridCol w="4023360"/>
                <a:gridCol w="3383280"/>
                <a:gridCol w="376732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Setting</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What it blocks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Use when</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Only fail when the PR is adding a dependency with issues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PRs that introduce a vulnerable dependency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your first gate — teams own what they add, not the backlog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Fail if the repo has any issues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any PR while the repo has open issues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backlog is already cleared for that repo</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Only fail for high / critical severity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narrows either rule to what matters most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always, while ramping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Only fail when a fix is available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never blocks on something undoable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always — this is the fairness setting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Minimal severity to fail PR check (Snyk Code)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separate SAST dial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set it alongside, not instead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Gating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PILOTING THE GATE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One project, then the org</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Snyk itself never blocks a merge. Blocking is your SCM branch protection requiring the Snyk status check — two different systems.</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1. Pick one project — Projects page → the gear icon next to the listing → your SCM integration → Custom.</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2. Set fail conditions there — project settings override the org default, so you can be strict in one place and permissive everywhere else.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3. Run it for a sprint — with the owning team, and collect their complaints. They are data about your fail conditions.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4. Set a triage process — before you go org-wide. A blocked PR with no route to unblock it becomes a bypass, and a bypass becomes a habit.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5. Promote to org level — SCM integration page → Default Snyk test for pull requests, with the same conditions.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6. Then branch protection — in your SCM, require the Snyk status check. This is the step that makes it real, and the one to do LAST.</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Gating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WHAT DEVELOPERS SEE</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So you can answer the questions you'll get</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One security check and one license check per PR, plus inline comments on the changed lines — max 10 — and a summary comment counting active findings.</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8406" y="2258568"/>
          <a:ext cx="11174882" cy="914400"/>
        </p:xfrm>
        <a:graphic>
          <a:graphicData uri="http://schemas.openxmlformats.org/drawingml/2006/table">
            <a:tbl>
              <a:tblPr/>
              <a:tblGrid>
                <a:gridCol w="3108960"/>
                <a:gridCol w="4846320"/>
                <a:gridCol w="321868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Status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Meaning</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Their move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Success / Passed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nothing violating your fail conditions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merge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Pending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test is still running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wait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Failed / Issues found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issues that must be fixed to pass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Details → fix → push</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Error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build file out of sync, unreadable or not found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check the manifest and lockfile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Canceled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monthly test limit reached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they come to you</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Gating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GATING</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How ignores interact with the gate</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Worth covering here as well as in part 04, because it produces confused escalations to you.</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Ignored findings do not fail a PR check and are not counted in the summary.</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If a finding is ignored AFTER a check has completed, the check must be retriggered by a new commit.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On retrigger the finding leaves the summary table and its inline comment collapses and is marked resolved.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The same logic applies in CI — snyk code test --severity-threshold=high exits 0 if the only high-severity findings are ignored.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Which is why ignore governance and gating are the same conversation, not two. If you loosen ignores, you have loosened the gate — silently, and without changing a single gating setting.</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Gating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FOUR</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04</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Governing ignores</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Who is allowed to accept risk, and how you find out that they did.</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Governing ignores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IGNORE POLICY</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Three decisions, in Organization Settings → Ignores</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This one page shapes how much of your risk register is real.</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Who can ignore? — All users, or Admin users only. Note carefully: there is no built-in "request and wait for approval" option on this page.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Is a reason required? — Required or Optional. Set it to Required. A reason costs a developer ten seconds and saves you an audit finding.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What kinds of ignore? — Not vulnerable · Ignore temporarily · Won't fix. "Until fix is available" auto-resurfaces the issue the moment a fix lands; it is checked by default when no fix exists. Encourage it — it is the difference between accepting risk and forgetting about it.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The trap — both extremes are bad. Open to everyone means silent suppression of criticals that AppSec discovers late or never. Admin-only means a human queue, and queues get bypassed — which moves the pressure to disabling the check instead.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The middle path has to be built. That is the rest of this part.</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Governing ignores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TWO MECHANISMS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You have to govern both, differently</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OPEN SOURCE / CONTAINER / IAC</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The .snyk policy file</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Committed to the repository. Created with snyk ignore --id= --expiry= --reason=, the Web UI, or Security Policies.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Applies only where the file is checked out.</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Governance pattern: restrict UI ignores to admins, require .snyk changes via PR, security approves the PR. Audit trail = Git history. Many customers run this successfully.</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SNYK CODE + SNYK SECRETS</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Consistent Ignores</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Asset-scoped, stored in Snyk, attached to the finding's identity.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Created in the Web UI, via the API, or snyk ignore create (EA, CLI v1.1297.1+).</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Respected in UI, IDE, CLI, CI and PR checks, on every branch.</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files DO NOT apply to Snyk Code — so the PR pattern on the left covers NOTHING here. This is the gap the approval workflow fills.</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Governing ignores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CONSISTENT IGNORES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The mechanism underneath, and how to manage it</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What changed — an ignore now attaches to the finding's identity, not to a project-plus-branch pair. Create it once, respected everywhere and on every branch. Previously ignores were scoped to one instance in one Project and were not honoured consistently in local IDE or CLI testing, or in PR and CI gates. That inconsistency is what used to get escalated to you.</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Default on — enabled by default for Snyk Code for new customers since 19 June 2025. API and Group-level capabilities are Enterprise.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Tactical ignores — on the issue card in the Web UI, for a single finding.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Broad ignores — Group level → Policies → Snyk Code Security Policies. Rules by CWE, Snyk Code rule ID, or severity. Enterprise, and Snyk must enable it. Use it when you notice a recurring need for similar individual ignores.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 CLI/IDE caveat — policies configured to ignore based on Project attributes do not apply in the CLI or IDE, where no Snyk Project exists.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Retest required — create, change or delete an ignore and the Project must be retested before status updates. A banner tells you. Retests run nightly or weekly, or on demand.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Reporting — ignored issues are suppressed from reports by default. That is a governance question, not a display preference.</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Governing ignores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IGNORE APPROVAL WORKFLOW</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The maker/checker step, and what it costs you</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HOW IT WORKS</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Propose, then decide</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Developer runs a Snyk Code test from the IDE or CLI; findings are stored.</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Developer requests an ignore from the IDE, CLI or API, with a reason.</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Request lands in the review queue as PENDING.</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 reviewer approves or rejects — PENDING, APPROVED, REJECTED, CANCELLED, NOT_REQUIRED.</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On approval it applies across CLI, IDE and SCM at the next re-scan, on every branch.</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PERMISSIONS</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Two granular permissions</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Request: Collaborator role, or org.project.ignore.create.</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Approve: org.policy.ignore.review.</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In the Roles UI: "Create and Edit Ignore requests" and "Review Ignore Requests".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ALL reviewers are notified for EVERY request — requests are not assigned to an individual. Agree a rota before you turn it on, or the queue becomes nobody's job.</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Governing ignores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BEFORE YOU PROMISE THIS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Prerequisites and limits, stated plainly</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8406" y="1810512"/>
          <a:ext cx="11174882" cy="914400"/>
        </p:xfrm>
        <a:graphic>
          <a:graphicData uri="http://schemas.openxmlformats.org/drawingml/2006/table">
            <a:tbl>
              <a:tblPr/>
              <a:tblGrid>
                <a:gridCol w="2926080"/>
                <a:gridCol w="8247888"/>
              </a:tblGrid>
              <a:tr h="459232">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Aspect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Detail</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Scope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Code AND Snyk Secrets. NOT Open Source — the extension to Open Source is the part clearly not GA</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Release stage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Ambiguous today: the Snyk release note badges it GA, the CLI docs still say Early Access. Get a ruling from your account team before you promise either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Plan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 plan gate is documented for the workflow itself. Enterprise applies to Consistent Ignores' API and Group capabilities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Dependency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Code Consistent Ignores must be enabled first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Tooling floor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CLI v1.1297.1 or later, plus supported IDE plugin versions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Request surfaces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IDE, CLI and API. PR comments are NOT a request surface — the inline comment only deep-links to the UI</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Migration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legacy DeepCode inline ignores do not carry over to the standard ignore system</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59232">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Reviewer blind spot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if a finding never reached a monitored branch, Snyk has no source to render, so the reviewer sees metadata but not the source-to-sink data flow. Snyk's data terms prevent storing customer source for this. Tell developers to push the branch first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bl>
          </a:graphicData>
        </a:graphic>
      </p:graphicFrame>
      <p:sp>
        <p:nvSpPr>
          <p:cNvPr id="7" name="Shape 3"/>
          <p:cNvSpPr/>
          <p:nvPr/>
        </p:nvSpPr>
        <p:spPr>
          <a:xfrm>
            <a:off x="508406" y="6245352"/>
            <a:ext cx="11174882" cy="10973"/>
          </a:xfrm>
          <a:prstGeom prst="rect">
            <a:avLst/>
          </a:prstGeom>
          <a:solidFill>
            <a:srgbClr val="FFFFFF">
              <a:alpha val="12000"/>
            </a:srgbClr>
          </a:solidFill>
          <a:ln/>
        </p:spPr>
      </p:sp>
      <p:pic>
        <p:nvPicPr>
          <p:cNvPr id="8"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9" name="Text 4"/>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Governing ignores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FIVE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05</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AI &amp; agentic security</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Your developers are already using AI assistants. Govern that.</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AI &amp; agentic security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SNYK STUDIO</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Layers you deploy, not products you buy</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Snyk describes Studio as five interconnected layers serving two use cases — Secure at Inception and Intelligent Remediation. These are the three you actually deploy.</a:t>
            </a:r>
            <a:endParaRPr lang="en-US" sz="1250" dirty="0"/>
          </a:p>
        </p:txBody>
      </p:sp>
      <p:sp>
        <p:nvSpPr>
          <p:cNvPr id="8" name="Shape 4"/>
          <p:cNvSpPr/>
          <p:nvPr/>
        </p:nvSpPr>
        <p:spPr>
          <a:xfrm>
            <a:off x="508406" y="2304288"/>
            <a:ext cx="3566465" cy="3657600"/>
          </a:xfrm>
          <a:prstGeom prst="roundRect">
            <a:avLst>
              <a:gd name="adj" fmla="val 1795"/>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3401568"/>
          </a:xfrm>
          <a:prstGeom prst="rect">
            <a:avLst/>
          </a:prstGeom>
        </p:spPr>
      </p:pic>
      <p:sp>
        <p:nvSpPr>
          <p:cNvPr id="10" name="Text 5"/>
          <p:cNvSpPr/>
          <p:nvPr/>
        </p:nvSpPr>
        <p:spPr>
          <a:xfrm>
            <a:off x="727862"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LAYER</a:t>
            </a:r>
            <a:endParaRPr lang="en-US" sz="850" dirty="0"/>
          </a:p>
        </p:txBody>
      </p:sp>
      <p:sp>
        <p:nvSpPr>
          <p:cNvPr id="11" name="Text 6"/>
          <p:cNvSpPr/>
          <p:nvPr/>
        </p:nvSpPr>
        <p:spPr>
          <a:xfrm>
            <a:off x="727862"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MCP Server</a:t>
            </a:r>
            <a:endParaRPr lang="en-US" sz="1500" dirty="0"/>
          </a:p>
        </p:txBody>
      </p:sp>
      <p:sp>
        <p:nvSpPr>
          <p:cNvPr id="12" name="Text 7"/>
          <p:cNvSpPr/>
          <p:nvPr/>
        </p:nvSpPr>
        <p:spPr>
          <a:xfrm>
            <a:off x="727862" y="2985516"/>
            <a:ext cx="3164129"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Runs locally via the Snyk CLI and exposes 12 scan tools to the assistant. Snyk does NOT offer a hosted remote MCP server — it needs local file access.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Profiles lite / full / experimental gate which tools load.</a:t>
            </a:r>
            <a:endParaRPr lang="en-US" sz="1150" dirty="0"/>
          </a:p>
        </p:txBody>
      </p:sp>
      <p:sp>
        <p:nvSpPr>
          <p:cNvPr id="13" name="Shape 8"/>
          <p:cNvSpPr/>
          <p:nvPr/>
        </p:nvSpPr>
        <p:spPr>
          <a:xfrm>
            <a:off x="4312615" y="2304288"/>
            <a:ext cx="3566465" cy="3657600"/>
          </a:xfrm>
          <a:prstGeom prst="roundRect">
            <a:avLst>
              <a:gd name="adj" fmla="val 1795"/>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4312615" y="2432304"/>
            <a:ext cx="36576" cy="3401568"/>
          </a:xfrm>
          <a:prstGeom prst="rect">
            <a:avLst/>
          </a:prstGeom>
        </p:spPr>
      </p:pic>
      <p:sp>
        <p:nvSpPr>
          <p:cNvPr id="15" name="Text 9"/>
          <p:cNvSpPr/>
          <p:nvPr/>
        </p:nvSpPr>
        <p:spPr>
          <a:xfrm>
            <a:off x="4532071"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LAYER</a:t>
            </a:r>
            <a:endParaRPr lang="en-US" sz="850" dirty="0"/>
          </a:p>
        </p:txBody>
      </p:sp>
      <p:sp>
        <p:nvSpPr>
          <p:cNvPr id="16" name="Text 10"/>
          <p:cNvSpPr/>
          <p:nvPr/>
        </p:nvSpPr>
        <p:spPr>
          <a:xfrm>
            <a:off x="4532071"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Guardrail directives</a:t>
            </a:r>
            <a:endParaRPr lang="en-US" sz="1500" dirty="0"/>
          </a:p>
        </p:txBody>
      </p:sp>
      <p:sp>
        <p:nvSpPr>
          <p:cNvPr id="17" name="Text 11"/>
          <p:cNvSpPr/>
          <p:nvPr/>
        </p:nvSpPr>
        <p:spPr>
          <a:xfrm>
            <a:off x="4532071" y="2985516"/>
            <a:ext cx="3164129"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Make the agent scan the code it just generated before declaring a task done. Secure at inception.</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Hooks are deterministic; rules are not. Hooks-based guardrails are EA as of 11 May 2026.</a:t>
            </a:r>
            <a:endParaRPr lang="en-US" sz="1150" dirty="0"/>
          </a:p>
        </p:txBody>
      </p:sp>
      <p:sp>
        <p:nvSpPr>
          <p:cNvPr id="18" name="Shape 12"/>
          <p:cNvSpPr/>
          <p:nvPr/>
        </p:nvSpPr>
        <p:spPr>
          <a:xfrm>
            <a:off x="8116824" y="2304288"/>
            <a:ext cx="3566465" cy="3657600"/>
          </a:xfrm>
          <a:prstGeom prst="roundRect">
            <a:avLst>
              <a:gd name="adj" fmla="val 1795"/>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8116824" y="2432304"/>
            <a:ext cx="36576" cy="3401568"/>
          </a:xfrm>
          <a:prstGeom prst="rect">
            <a:avLst/>
          </a:prstGeom>
        </p:spPr>
      </p:pic>
      <p:sp>
        <p:nvSpPr>
          <p:cNvPr id="20" name="Text 13"/>
          <p:cNvSpPr/>
          <p:nvPr/>
        </p:nvSpPr>
        <p:spPr>
          <a:xfrm>
            <a:off x="8336280"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LAYER</a:t>
            </a:r>
            <a:endParaRPr lang="en-US" sz="850" dirty="0"/>
          </a:p>
        </p:txBody>
      </p:sp>
      <p:sp>
        <p:nvSpPr>
          <p:cNvPr id="21" name="Text 14"/>
          <p:cNvSpPr/>
          <p:nvPr/>
        </p:nvSpPr>
        <p:spPr>
          <a:xfrm>
            <a:off x="8336280"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Command directives</a:t>
            </a:r>
            <a:endParaRPr lang="en-US" sz="1500" dirty="0"/>
          </a:p>
        </p:txBody>
      </p:sp>
      <p:sp>
        <p:nvSpPr>
          <p:cNvPr id="22" name="Text 15"/>
          <p:cNvSpPr/>
          <p:nvPr/>
        </p:nvSpPr>
        <p:spPr>
          <a:xfrm>
            <a:off x="8336280" y="2985516"/>
            <a:ext cx="3164129"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/snyk-fix and /snyk-batch-fix — remediation playbooks a developer invokes on demand. GA.</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And snyk_package_health_check, GA and on by default: vet a package BEFORE the agent adds it.</a:t>
            </a:r>
            <a:endParaRPr lang="en-US" sz="1150" dirty="0"/>
          </a:p>
        </p:txBody>
      </p:sp>
      <p:sp>
        <p:nvSpPr>
          <p:cNvPr id="23" name="Shape 16"/>
          <p:cNvSpPr/>
          <p:nvPr/>
        </p:nvSpPr>
        <p:spPr>
          <a:xfrm>
            <a:off x="508406" y="6245352"/>
            <a:ext cx="11174882" cy="10973"/>
          </a:xfrm>
          <a:prstGeom prst="rect">
            <a:avLst/>
          </a:prstGeom>
          <a:solidFill>
            <a:srgbClr val="FFFFFF">
              <a:alpha val="12000"/>
            </a:srgbClr>
          </a:solidFill>
          <a:ln/>
        </p:spPr>
      </p:sp>
      <p:pic>
        <p:nvPicPr>
          <p:cNvPr id="24" name="Image 5" descr="assets/logo-snyk-white.png">    </p:cNvPr>
          <p:cNvPicPr>
            <a:picLocks noChangeAspect="1"/>
          </p:cNvPicPr>
          <p:nvPr/>
        </p:nvPicPr>
        <p:blipFill>
          <a:blip r:embed="rId6"/>
          <a:stretch>
            <a:fillRect/>
          </a:stretch>
        </p:blipFill>
        <p:spPr>
          <a:xfrm>
            <a:off x="508406" y="6336792"/>
            <a:ext cx="621792" cy="219456"/>
          </a:xfrm>
          <a:prstGeom prst="rect">
            <a:avLst/>
          </a:prstGeom>
        </p:spPr>
      </p:pic>
      <p:sp>
        <p:nvSpPr>
          <p:cNvPr id="25" name="Text 17"/>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AI &amp; agentic security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ROLLING OUT STUDIO</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Five decisions before you touch a script</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Rollout pattern: run the installer locally yourself → package it → scope to one test group → validate → all users.</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Which assistants? — the four with hooks support get the strongest guarantee. Anything MCP-capable works, with weaker enforcement. Find out which your developers actually use, not which you approved.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MDM or self-serve? — Snyk publishes an installer script for macOS and Windows, designed for MDM distribution via Jamf, Intune and similar. Note it is a two-step download-then-run, not a pipe-to-shell.</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Pin the CLI, or auto-update? — auto-update gets fixes fastest; pinning lets you vet a version first. Pinned deployments use snyk mcp config --tool=&lt;ade&gt;. Remember Snyk supports CLI and plugin versions for 12 months.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Enforce directives, or advise? — hooks are deterministic, zero-latency and cheap on context. "Smart apply" mode lets the LLM decide when to scan — fewer tokens, more chances for insecure code to land. That is a risk decision, so make it consciously.</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Can developers change the settings? — if not, re-apply configuration on every MDM check-in.</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AI &amp; agentic security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THREE AI FIX PATHS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What to enable, and what to only mention</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All three are developer-in-the-loop. None of them merges anything. Say that clearly when you announce them.</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8406" y="2620670"/>
          <a:ext cx="11174882" cy="914400"/>
        </p:xfrm>
        <a:graphic>
          <a:graphicData uri="http://schemas.openxmlformats.org/drawingml/2006/table">
            <a:tbl>
              <a:tblPr/>
              <a:tblGrid>
                <a:gridCol w="2468880"/>
                <a:gridCol w="2560320"/>
                <a:gridCol w="2651760"/>
                <a:gridCol w="349300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Path</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Where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Scope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Your action</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Agent Fix</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IDE + PR inline comments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one finding at a time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enable at Group OR Org level, then per SCM integration for the PR flow</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/snyk-fix</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developer's AI assistant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 file, folder or product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GA — deploy via the Studio installer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Remediation Agent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developer's terminal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backlog-scale, SCA only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experimental, design partners — talk to your account team, do not plan around 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AI &amp; agentic security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ENABLING AGENT FIX</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The steps, and the caveats</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In the IDE — Settings → Snyk Agent Fix, at Group OR Organization level. Somebody has to turn it on before it appears for developers. Core Agent Fix went GA and was fully rolled out in late May 2026, re-architected onto Claude models.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In pull requests — SCM integration settings → Pull request experience → inline comments → Enable Snyk Agent fix in the PR. Public docs label this Early Access; brokered integrations need Broker 4.219 or higher.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On GitHub, since April 2026, this requires a dedicated account authenticated with a PAT. Budget for creating one.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How developers use it — reply to a Snyk inline comment with @snyk /fix, then @snyk /apply # to commit the chosen suggestion to the PR branch. Those two are the entire command set.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Limits to communicate — only findings flagged automatically fixable; only on inline comments created after enablement; single-file fixes only; max 10 inline comments per PR; suggestions expire; not supported with Snyk Code Local Engine, which is itself deprecated.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Data — Snyk does not use customer code to train the underlying models, add to datasets, or improve performance. Have this answer ready. You will be asked, probably by legal.</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AI &amp; agentic security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WHY GUIDED REMEDIATION</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sp>
        <p:nvSpPr>
          <p:cNvPr id="7"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Snyk context versus the model alone</a:t>
            </a:r>
            <a:endParaRPr lang="en-US" sz="3000" dirty="0"/>
          </a:p>
        </p:txBody>
      </p:sp>
      <p:sp>
        <p:nvSpPr>
          <p:cNvPr id="8" name="Text 3"/>
          <p:cNvSpPr/>
          <p:nvPr/>
        </p:nvSpPr>
        <p:spPr>
          <a:xfrm>
            <a:off x="508406"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23% → 45%</a:t>
            </a:r>
            <a:endParaRPr lang="en-US" sz="4200" dirty="0"/>
          </a:p>
        </p:txBody>
      </p:sp>
      <p:pic>
        <p:nvPicPr>
          <p:cNvPr id="9" name="Image 3" descr="assets/grad_bar_h.png">    </p:cNvPr>
          <p:cNvPicPr>
            <a:picLocks noChangeAspect="1"/>
          </p:cNvPicPr>
          <p:nvPr/>
        </p:nvPicPr>
        <p:blipFill>
          <a:blip r:embed="rId4"/>
          <a:stretch>
            <a:fillRect/>
          </a:stretch>
        </p:blipFill>
        <p:spPr>
          <a:xfrm>
            <a:off x="508406" y="3255264"/>
            <a:ext cx="1463040" cy="41148"/>
          </a:xfrm>
          <a:prstGeom prst="rect">
            <a:avLst/>
          </a:prstGeom>
        </p:spPr>
      </p:pic>
      <p:sp>
        <p:nvSpPr>
          <p:cNvPr id="10" name="Text 4"/>
          <p:cNvSpPr/>
          <p:nvPr/>
        </p:nvSpPr>
        <p:spPr>
          <a:xfrm>
            <a:off x="508406"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overall fix rate for the same model, unguided versus guided by Snyk's security intelligence.</a:t>
            </a:r>
            <a:endParaRPr lang="en-US" sz="1200" dirty="0"/>
          </a:p>
        </p:txBody>
      </p:sp>
      <p:sp>
        <p:nvSpPr>
          <p:cNvPr id="11" name="Text 5"/>
          <p:cNvSpPr/>
          <p:nvPr/>
        </p:nvSpPr>
        <p:spPr>
          <a:xfrm>
            <a:off x="4324807"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44% → 91%</a:t>
            </a:r>
            <a:endParaRPr lang="en-US" sz="4200" dirty="0"/>
          </a:p>
        </p:txBody>
      </p:sp>
      <p:pic>
        <p:nvPicPr>
          <p:cNvPr id="12" name="Image 4" descr="assets/grad_bar_h.png">    </p:cNvPr>
          <p:cNvPicPr>
            <a:picLocks noChangeAspect="1"/>
          </p:cNvPicPr>
          <p:nvPr/>
        </p:nvPicPr>
        <p:blipFill>
          <a:blip r:embed="rId5"/>
          <a:stretch>
            <a:fillRect/>
          </a:stretch>
        </p:blipFill>
        <p:spPr>
          <a:xfrm>
            <a:off x="4324807" y="3255264"/>
            <a:ext cx="1463040" cy="41148"/>
          </a:xfrm>
          <a:prstGeom prst="rect">
            <a:avLst/>
          </a:prstGeom>
        </p:spPr>
      </p:pic>
      <p:sp>
        <p:nvSpPr>
          <p:cNvPr id="13" name="Text 6"/>
          <p:cNvSpPr/>
          <p:nvPr/>
        </p:nvSpPr>
        <p:spPr>
          <a:xfrm>
            <a:off x="4324807"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fix rate on critical, high and medium severity findings.</a:t>
            </a:r>
            <a:endParaRPr lang="en-US" sz="1200" dirty="0"/>
          </a:p>
        </p:txBody>
      </p:sp>
      <p:sp>
        <p:nvSpPr>
          <p:cNvPr id="14" name="Text 7"/>
          <p:cNvSpPr/>
          <p:nvPr/>
        </p:nvSpPr>
        <p:spPr>
          <a:xfrm>
            <a:off x="8141208"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−61%</a:t>
            </a:r>
            <a:endParaRPr lang="en-US" sz="4200" dirty="0"/>
          </a:p>
        </p:txBody>
      </p:sp>
      <p:pic>
        <p:nvPicPr>
          <p:cNvPr id="15" name="Image 5" descr="assets/grad_bar_h.png">    </p:cNvPr>
          <p:cNvPicPr>
            <a:picLocks noChangeAspect="1"/>
          </p:cNvPicPr>
          <p:nvPr/>
        </p:nvPicPr>
        <p:blipFill>
          <a:blip r:embed="rId6"/>
          <a:stretch>
            <a:fillRect/>
          </a:stretch>
        </p:blipFill>
        <p:spPr>
          <a:xfrm>
            <a:off x="8141208" y="3255264"/>
            <a:ext cx="1463040" cy="41148"/>
          </a:xfrm>
          <a:prstGeom prst="rect">
            <a:avLst/>
          </a:prstGeom>
        </p:spPr>
      </p:pic>
      <p:sp>
        <p:nvSpPr>
          <p:cNvPr id="16" name="Text 8"/>
          <p:cNvSpPr/>
          <p:nvPr/>
        </p:nvSpPr>
        <p:spPr>
          <a:xfrm>
            <a:off x="8141208"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token cost per fix — better context means fewer wasted attempts, which is a budget argument as well as a security one.</a:t>
            </a:r>
            <a:endParaRPr lang="en-US" sz="1200" dirty="0"/>
          </a:p>
        </p:txBody>
      </p:sp>
      <p:sp>
        <p:nvSpPr>
          <p:cNvPr id="17" name="Text 9"/>
          <p:cNvSpPr/>
          <p:nvPr/>
        </p:nvSpPr>
        <p:spPr>
          <a:xfrm>
            <a:off x="508406" y="5440680"/>
            <a:ext cx="11174882" cy="658368"/>
          </a:xfrm>
          <a:prstGeom prst="rect">
            <a:avLst/>
          </a:prstGeom>
          <a:noFill/>
          <a:ln/>
        </p:spPr>
        <p:txBody>
          <a:bodyPr wrap="square" lIns="0" tIns="0" rIns="0" bIns="0" rtlCol="0" anchor="ctr"/>
          <a:lstStyle/>
          <a:p>
            <a:pPr indent="0" marL="0">
              <a:lnSpc>
                <a:spcPts val="1500"/>
              </a:lnSpc>
              <a:buNone/>
            </a:pPr>
            <a:r>
              <a:rPr lang="en-US" sz="1050" dirty="0">
                <a:solidFill>
                  <a:srgbClr val="5C5C78"/>
                </a:solidFill>
                <a:latin typeface="Geist" pitchFamily="34" charset="0"/>
                <a:ea typeface="Geist" pitchFamily="34" charset="-122"/>
                <a:cs typeface="Geist" pitchFamily="34" charset="-120"/>
              </a:rPr>
              <a:t>Keep the qualifiers if you reuse these in a business case. Snyk-reported figures from a controlled benchmark that added Snyk tooling to claude-haiku-4-5; methodology stated as "to be published soon". The −61% is cost PER FIX, not total spend. Breakability analysis is the other half of the story: roughly half a typical backlog is low-breakability, which makes "fix all the low-breakability findings" a defensible single campaign rather than a year of tickets.</a:t>
            </a:r>
            <a:endParaRPr lang="en-US" sz="1050" dirty="0"/>
          </a:p>
        </p:txBody>
      </p:sp>
      <p:sp>
        <p:nvSpPr>
          <p:cNvPr id="18" name="Shape 10"/>
          <p:cNvSpPr/>
          <p:nvPr/>
        </p:nvSpPr>
        <p:spPr>
          <a:xfrm>
            <a:off x="508406" y="6245352"/>
            <a:ext cx="11174882" cy="10973"/>
          </a:xfrm>
          <a:prstGeom prst="rect">
            <a:avLst/>
          </a:prstGeom>
          <a:solidFill>
            <a:srgbClr val="FFFFFF">
              <a:alpha val="12000"/>
            </a:srgbClr>
          </a:solidFill>
          <a:ln/>
        </p:spPr>
      </p:sp>
      <p:pic>
        <p:nvPicPr>
          <p:cNvPr id="19" name="Image 6" descr="assets/logo-snyk-white.png">    </p:cNvPr>
          <p:cNvPicPr>
            <a:picLocks noChangeAspect="1"/>
          </p:cNvPicPr>
          <p:nvPr/>
        </p:nvPicPr>
        <p:blipFill>
          <a:blip r:embed="rId7"/>
          <a:stretch>
            <a:fillRect/>
          </a:stretch>
        </p:blipFill>
        <p:spPr>
          <a:xfrm>
            <a:off x="508406" y="6336792"/>
            <a:ext cx="621792" cy="219456"/>
          </a:xfrm>
          <a:prstGeom prst="rect">
            <a:avLst/>
          </a:prstGeom>
        </p:spPr>
      </p:pic>
      <p:sp>
        <p:nvSpPr>
          <p:cNvPr id="20"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AI &amp; agentic security</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SIX</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06</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Notifications &amp; reporting</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Say less to more people, and say it with numbers.</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Notifications &amp; reporting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NOTIFICATION DEFAULTS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Three levels, and one rule of thumb</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Group admin — sets the defaults for every organization created in the group.</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Org admin, you — set the default for all Projects added to this organization.</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Individual users — override for themselves. Nothing you set here removes their choice.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Issue alert emails — same-day notice of a new vulnerability, license issue or available fix. Scope by type and severity. Note these are now OFF by default, so tell your team, or they will think alerting broke.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Weekly report emails — a summary across all Projects and orgs the user belongs to. The gentlest useful default.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Rule of thumb — turn most org-level notifications OFF at the start. A thousand emails about a backlog nobody has capacity to fix teaches people to filter Snyk. Once they have a filter rule, you have lost the channel for the alert that actually matters.</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Notifications &amp; reporting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SLACK AND JIRA</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Two integrations, four different behaviours</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SLACK</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Awareness, not a work queue</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Alerts to a dedicated channel: newly disclosed vulnerabilities affecting your Projects, and new upgrades or patches for issues you previously ignored.</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That second one is valuable and often overlooked — it is how an "ignore until fix available" decision comes back to you.</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Set up with a Slack webhook URL pasted on the Slack integration page.</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JIRA — TWO DIFFERENT THINGS</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Direction matters</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 Jira: create a ticket from a Snyk issue card using a Jira API token. The link shows on the issue. Tickets do NOT auto-update when the issue is resolved or ignored. Automated creation needs jira-tickets-for-new-vulns.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Jira ← Snyk (Atlassian Marketplace app): view Snyk vulnerabilities inside Jira, status retrieved automatically, workflows can open and close tickets by severity.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Use a dedicated service account with Browse projects + Create issues.</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Notifications &amp; reporting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REPORTS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Five categories, not a flat list</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The Reports tab was reorganised in 2026. Filters are stored in the report URL — bookmark or share a filtered view and it opens exactly as you left it.</a:t>
            </a:r>
            <a:endParaRPr lang="en-US" sz="1250" dirty="0"/>
          </a:p>
        </p:txBody>
      </p:sp>
      <p:sp>
        <p:nvSpPr>
          <p:cNvPr id="8" name="Shape 4"/>
          <p:cNvSpPr/>
          <p:nvPr/>
        </p:nvSpPr>
        <p:spPr>
          <a:xfrm>
            <a:off x="508406"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EXPOSURE &amp; COVERAGE</a:t>
            </a:r>
            <a:endParaRPr lang="en-US" sz="850" dirty="0"/>
          </a:p>
        </p:txBody>
      </p:sp>
      <p:sp>
        <p:nvSpPr>
          <p:cNvPr id="11" name="Text 6"/>
          <p:cNvSpPr/>
          <p:nvPr/>
        </p:nvSpPr>
        <p:spPr>
          <a:xfrm>
            <a:off x="727862"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What we have</a:t>
            </a:r>
            <a:endParaRPr lang="en-US" sz="1500" dirty="0"/>
          </a:p>
        </p:txBody>
      </p:sp>
      <p:sp>
        <p:nvSpPr>
          <p:cNvPr id="12" name="Text 7"/>
          <p:cNvSpPr/>
          <p:nvPr/>
        </p:nvSpPr>
        <p:spPr>
          <a:xfrm>
            <a:off x="727862"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Asset Dashboard · Issues Detail · Risk Exposure.</a:t>
            </a:r>
            <a:endParaRPr lang="en-US" sz="1100" dirty="0"/>
          </a:p>
          <a:p>
            <a:pPr indent="0" marL="0">
              <a:lnSpc>
                <a:spcPts val="1500"/>
              </a:lnSpc>
              <a:buNone/>
            </a:pPr>
            <a:endParaRPr lang="en-US" sz="1100" dirty="0"/>
          </a:p>
          <a:p>
            <a:pPr indent="0" marL="0">
              <a:lnSpc>
                <a:spcPts val="1500"/>
              </a:lnSpc>
              <a:buNone/>
            </a:pPr>
            <a:r>
              <a:rPr lang="en-US" sz="1100" dirty="0">
                <a:solidFill>
                  <a:srgbClr val="B8B8CC"/>
                </a:solidFill>
                <a:latin typeface="Geist" pitchFamily="34" charset="0"/>
                <a:ea typeface="Geist" pitchFamily="34" charset="-122"/>
                <a:cs typeface="Geist" pitchFamily="34" charset="-120"/>
              </a:rPr>
              <a:t>What we own, and what is wrong with it. Issues Detail is every known issue across monitored Projects.</a:t>
            </a:r>
            <a:endParaRPr lang="en-US" sz="1100" dirty="0"/>
          </a:p>
        </p:txBody>
      </p:sp>
      <p:sp>
        <p:nvSpPr>
          <p:cNvPr id="13" name="Shape 8"/>
          <p:cNvSpPr/>
          <p:nvPr/>
        </p:nvSpPr>
        <p:spPr>
          <a:xfrm>
            <a:off x="4312615"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4312615" y="2432304"/>
            <a:ext cx="36576" cy="1453896"/>
          </a:xfrm>
          <a:prstGeom prst="rect">
            <a:avLst/>
          </a:prstGeom>
        </p:spPr>
      </p:pic>
      <p:sp>
        <p:nvSpPr>
          <p:cNvPr id="15" name="Text 9"/>
          <p:cNvSpPr/>
          <p:nvPr/>
        </p:nvSpPr>
        <p:spPr>
          <a:xfrm>
            <a:off x="4532071"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REMEDIATION</a:t>
            </a:r>
            <a:endParaRPr lang="en-US" sz="850" dirty="0"/>
          </a:p>
        </p:txBody>
      </p:sp>
      <p:sp>
        <p:nvSpPr>
          <p:cNvPr id="16" name="Text 10"/>
          <p:cNvSpPr/>
          <p:nvPr/>
        </p:nvSpPr>
        <p:spPr>
          <a:xfrm>
            <a:off x="4532071"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Are we getting better?</a:t>
            </a:r>
            <a:endParaRPr lang="en-US" sz="1500" dirty="0"/>
          </a:p>
        </p:txBody>
      </p:sp>
      <p:sp>
        <p:nvSpPr>
          <p:cNvPr id="17" name="Text 11"/>
          <p:cNvSpPr/>
          <p:nvPr/>
        </p:nvSpPr>
        <p:spPr>
          <a:xfrm>
            <a:off x="4532071"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Issues Summary · SLA Management · Vulnerabilities Detail · Zero-Day.</a:t>
            </a:r>
            <a:endParaRPr lang="en-US" sz="1100" dirty="0"/>
          </a:p>
          <a:p>
            <a:pPr indent="0" marL="0">
              <a:lnSpc>
                <a:spcPts val="1500"/>
              </a:lnSpc>
              <a:buNone/>
            </a:pPr>
            <a:endParaRPr lang="en-US" sz="1100" dirty="0"/>
          </a:p>
          <a:p>
            <a:pPr indent="0" marL="0">
              <a:lnSpc>
                <a:spcPts val="1500"/>
              </a:lnSpc>
              <a:buNone/>
            </a:pPr>
            <a:r>
              <a:rPr lang="en-US" sz="1100" dirty="0">
                <a:solidFill>
                  <a:srgbClr val="B8B8CC"/>
                </a:solidFill>
                <a:latin typeface="Geist" pitchFamily="34" charset="0"/>
                <a:ea typeface="Geist" pitchFamily="34" charset="-122"/>
                <a:cs typeface="Geist" pitchFamily="34" charset="-120"/>
              </a:rPr>
              <a:t>Issues Summary is your default leadership view. SLA Management is the most board-ready report you have.</a:t>
            </a:r>
            <a:endParaRPr lang="en-US" sz="1100" dirty="0"/>
          </a:p>
        </p:txBody>
      </p:sp>
      <p:sp>
        <p:nvSpPr>
          <p:cNvPr id="18" name="Shape 12"/>
          <p:cNvSpPr/>
          <p:nvPr/>
        </p:nvSpPr>
        <p:spPr>
          <a:xfrm>
            <a:off x="8116824"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8116824" y="2432304"/>
            <a:ext cx="36576" cy="1453896"/>
          </a:xfrm>
          <a:prstGeom prst="rect">
            <a:avLst/>
          </a:prstGeom>
        </p:spPr>
      </p:pic>
      <p:sp>
        <p:nvSpPr>
          <p:cNvPr id="20" name="Text 13"/>
          <p:cNvSpPr/>
          <p:nvPr/>
        </p:nvSpPr>
        <p:spPr>
          <a:xfrm>
            <a:off x="8336280"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PREVENTION</a:t>
            </a:r>
            <a:endParaRPr lang="en-US" sz="850" dirty="0"/>
          </a:p>
        </p:txBody>
      </p:sp>
      <p:sp>
        <p:nvSpPr>
          <p:cNvPr id="21" name="Text 14"/>
          <p:cNvSpPr/>
          <p:nvPr/>
        </p:nvSpPr>
        <p:spPr>
          <a:xfrm>
            <a:off x="8336280"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Is anyone using it?</a:t>
            </a:r>
            <a:endParaRPr lang="en-US" sz="1500" dirty="0"/>
          </a:p>
        </p:txBody>
      </p:sp>
      <p:sp>
        <p:nvSpPr>
          <p:cNvPr id="22" name="Text 15"/>
          <p:cNvSpPr/>
          <p:nvPr/>
        </p:nvSpPr>
        <p:spPr>
          <a:xfrm>
            <a:off x="8336280"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IDE &amp; CLI usage · PR checks usage · Repos tested in CI/CD · Snyk Generated PRs · Prevention (EA).</a:t>
            </a:r>
            <a:endParaRPr lang="en-US" sz="1100" dirty="0"/>
          </a:p>
          <a:p>
            <a:pPr indent="0" marL="0">
              <a:lnSpc>
                <a:spcPts val="1500"/>
              </a:lnSpc>
              <a:buNone/>
            </a:pPr>
            <a:endParaRPr lang="en-US" sz="1100" dirty="0"/>
          </a:p>
          <a:p>
            <a:pPr indent="0" marL="0">
              <a:lnSpc>
                <a:spcPts val="1500"/>
              </a:lnSpc>
              <a:buNone/>
            </a:pPr>
            <a:r>
              <a:rPr lang="en-US" sz="1100" dirty="0">
                <a:solidFill>
                  <a:srgbClr val="B8B8CC"/>
                </a:solidFill>
                <a:latin typeface="Geist" pitchFamily="34" charset="0"/>
                <a:ea typeface="Geist" pitchFamily="34" charset="-122"/>
                <a:cs typeface="Geist" pitchFamily="34" charset="-120"/>
              </a:rPr>
              <a:t>The adoption story. PR checks usage went GA in 2026 and is in the Export API.</a:t>
            </a:r>
            <a:endParaRPr lang="en-US" sz="1100" dirty="0"/>
          </a:p>
        </p:txBody>
      </p:sp>
      <p:sp>
        <p:nvSpPr>
          <p:cNvPr id="23" name="Shape 16"/>
          <p:cNvSpPr/>
          <p:nvPr/>
        </p:nvSpPr>
        <p:spPr>
          <a:xfrm>
            <a:off x="508406"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508406" y="4379976"/>
            <a:ext cx="36576" cy="1453896"/>
          </a:xfrm>
          <a:prstGeom prst="rect">
            <a:avLst/>
          </a:prstGeom>
        </p:spPr>
      </p:pic>
      <p:sp>
        <p:nvSpPr>
          <p:cNvPr id="25" name="Text 17"/>
          <p:cNvSpPr/>
          <p:nvPr/>
        </p:nvSpPr>
        <p:spPr>
          <a:xfrm>
            <a:off x="727862"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COMPLIANCE</a:t>
            </a:r>
            <a:endParaRPr lang="en-US" sz="850" dirty="0"/>
          </a:p>
        </p:txBody>
      </p:sp>
      <p:sp>
        <p:nvSpPr>
          <p:cNvPr id="26" name="Text 18"/>
          <p:cNvSpPr/>
          <p:nvPr/>
        </p:nvSpPr>
        <p:spPr>
          <a:xfrm>
            <a:off x="727862"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Grouped by control</a:t>
            </a:r>
            <a:endParaRPr lang="en-US" sz="1500" dirty="0"/>
          </a:p>
        </p:txBody>
      </p:sp>
      <p:sp>
        <p:nvSpPr>
          <p:cNvPr id="27" name="Text 19"/>
          <p:cNvSpPr/>
          <p:nvPr/>
        </p:nvSpPr>
        <p:spPr>
          <a:xfrm>
            <a:off x="727862"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OWASP Top 10 (2025 mapping) · CWE Top 25 · CWE Top 10 KEV · PCI-DSS v4.0.1 (EA).</a:t>
            </a:r>
            <a:endParaRPr lang="en-US" sz="1100" dirty="0"/>
          </a:p>
          <a:p>
            <a:pPr indent="0" marL="0">
              <a:lnSpc>
                <a:spcPts val="1500"/>
              </a:lnSpc>
              <a:buNone/>
            </a:pPr>
            <a:endParaRPr lang="en-US" sz="1100" dirty="0"/>
          </a:p>
          <a:p>
            <a:pPr indent="0" marL="0">
              <a:lnSpc>
                <a:spcPts val="1500"/>
              </a:lnSpc>
              <a:buNone/>
            </a:pPr>
            <a:r>
              <a:rPr lang="en-US" sz="1100" dirty="0">
                <a:solidFill>
                  <a:srgbClr val="B8B8CC"/>
                </a:solidFill>
                <a:latin typeface="Geist" pitchFamily="34" charset="0"/>
                <a:ea typeface="Geist" pitchFamily="34" charset="-122"/>
                <a:cs typeface="Geist" pitchFamily="34" charset="-120"/>
              </a:rPr>
              <a:t>The generated PDF explains each control and which vulnerabilities map to it.</a:t>
            </a:r>
            <a:endParaRPr lang="en-US" sz="1100" dirty="0"/>
          </a:p>
        </p:txBody>
      </p:sp>
      <p:sp>
        <p:nvSpPr>
          <p:cNvPr id="28" name="Shape 20"/>
          <p:cNvSpPr/>
          <p:nvPr/>
        </p:nvSpPr>
        <p:spPr>
          <a:xfrm>
            <a:off x="4312615"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4312615" y="4379976"/>
            <a:ext cx="36576" cy="1453896"/>
          </a:xfrm>
          <a:prstGeom prst="rect">
            <a:avLst/>
          </a:prstGeom>
        </p:spPr>
      </p:pic>
      <p:sp>
        <p:nvSpPr>
          <p:cNvPr id="30" name="Text 21"/>
          <p:cNvSpPr/>
          <p:nvPr/>
        </p:nvSpPr>
        <p:spPr>
          <a:xfrm>
            <a:off x="4532071"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EDUCATION</a:t>
            </a:r>
            <a:endParaRPr lang="en-US" sz="850" dirty="0"/>
          </a:p>
        </p:txBody>
      </p:sp>
      <p:sp>
        <p:nvSpPr>
          <p:cNvPr id="31" name="Text 22"/>
          <p:cNvSpPr/>
          <p:nvPr/>
        </p:nvSpPr>
        <p:spPr>
          <a:xfrm>
            <a:off x="4532071"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Did the training land?</a:t>
            </a:r>
            <a:endParaRPr lang="en-US" sz="1500" dirty="0"/>
          </a:p>
        </p:txBody>
      </p:sp>
      <p:sp>
        <p:nvSpPr>
          <p:cNvPr id="32" name="Text 23"/>
          <p:cNvSpPr/>
          <p:nvPr/>
        </p:nvSpPr>
        <p:spPr>
          <a:xfrm>
            <a:off x="4532071"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Learn Engagement · Learning Impact (EA).</a:t>
            </a:r>
            <a:endParaRPr lang="en-US" sz="1100" dirty="0"/>
          </a:p>
          <a:p>
            <a:pPr indent="0" marL="0">
              <a:lnSpc>
                <a:spcPts val="1500"/>
              </a:lnSpc>
              <a:buNone/>
            </a:pPr>
            <a:endParaRPr lang="en-US" sz="1100" dirty="0"/>
          </a:p>
          <a:p>
            <a:pPr indent="0" marL="0">
              <a:lnSpc>
                <a:spcPts val="1500"/>
              </a:lnSpc>
              <a:buNone/>
            </a:pPr>
            <a:r>
              <a:rPr lang="en-US" sz="1100" dirty="0">
                <a:solidFill>
                  <a:srgbClr val="B8B8CC"/>
                </a:solidFill>
                <a:latin typeface="Geist" pitchFamily="34" charset="0"/>
                <a:ea typeface="Geist" pitchFamily="34" charset="-122"/>
                <a:cs typeface="Geist" pitchFamily="34" charset="-120"/>
              </a:rPr>
              <a:t>Group level, Learning Management add-on. Useful if you run the developer course as a programme.</a:t>
            </a:r>
            <a:endParaRPr lang="en-US" sz="1100" dirty="0"/>
          </a:p>
        </p:txBody>
      </p:sp>
      <p:sp>
        <p:nvSpPr>
          <p:cNvPr id="33" name="Shape 24"/>
          <p:cNvSpPr/>
          <p:nvPr/>
        </p:nvSpPr>
        <p:spPr>
          <a:xfrm>
            <a:off x="8116824"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8116824" y="4379976"/>
            <a:ext cx="36576" cy="1453896"/>
          </a:xfrm>
          <a:prstGeom prst="rect">
            <a:avLst/>
          </a:prstGeom>
        </p:spPr>
      </p:pic>
      <p:sp>
        <p:nvSpPr>
          <p:cNvPr id="35" name="Text 25"/>
          <p:cNvSpPr/>
          <p:nvPr/>
        </p:nvSpPr>
        <p:spPr>
          <a:xfrm>
            <a:off x="8336280"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ACCESS</a:t>
            </a:r>
            <a:endParaRPr lang="en-US" sz="850" dirty="0"/>
          </a:p>
        </p:txBody>
      </p:sp>
      <p:sp>
        <p:nvSpPr>
          <p:cNvPr id="36" name="Text 26"/>
          <p:cNvSpPr/>
          <p:nvPr/>
        </p:nvSpPr>
        <p:spPr>
          <a:xfrm>
            <a:off x="8336280"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Who can see reports</a:t>
            </a:r>
            <a:endParaRPr lang="en-US" sz="1500" dirty="0"/>
          </a:p>
        </p:txBody>
      </p:sp>
      <p:sp>
        <p:nvSpPr>
          <p:cNvPr id="37" name="Text 27"/>
          <p:cNvSpPr/>
          <p:nvPr/>
        </p:nvSpPr>
        <p:spPr>
          <a:xfrm>
            <a:off x="8336280"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Enterprise, plus Group-level reporting permissions.</a:t>
            </a:r>
            <a:endParaRPr lang="en-US" sz="1100" dirty="0"/>
          </a:p>
          <a:p>
            <a:pPr indent="0" marL="0">
              <a:lnSpc>
                <a:spcPts val="1500"/>
              </a:lnSpc>
              <a:buNone/>
            </a:pPr>
            <a:endParaRPr lang="en-US" sz="1100" dirty="0"/>
          </a:p>
          <a:p>
            <a:pPr indent="0" marL="0">
              <a:lnSpc>
                <a:spcPts val="1500"/>
              </a:lnSpc>
              <a:buNone/>
            </a:pPr>
            <a:r>
              <a:rPr lang="en-US" sz="1100" dirty="0">
                <a:solidFill>
                  <a:srgbClr val="B8B8CC"/>
                </a:solidFill>
                <a:latin typeface="Geist" pitchFamily="34" charset="0"/>
                <a:ea typeface="Geist" pitchFamily="34" charset="-122"/>
                <a:cs typeface="Geist" pitchFamily="34" charset="-120"/>
              </a:rPr>
              <a:t>One ambiguity: the May 2026 note says the PR checks report is GA "for all plans" while the Prevention page still scopes it to Enterprise.</a:t>
            </a:r>
            <a:endParaRPr lang="en-US" sz="1100" dirty="0"/>
          </a:p>
        </p:txBody>
      </p:sp>
      <p:sp>
        <p:nvSpPr>
          <p:cNvPr id="38" name="Shape 28"/>
          <p:cNvSpPr/>
          <p:nvPr/>
        </p:nvSpPr>
        <p:spPr>
          <a:xfrm>
            <a:off x="508406" y="6245352"/>
            <a:ext cx="11174882" cy="10973"/>
          </a:xfrm>
          <a:prstGeom prst="rect">
            <a:avLst/>
          </a:prstGeom>
          <a:solidFill>
            <a:srgbClr val="FFFFFF">
              <a:alpha val="12000"/>
            </a:srgbClr>
          </a:solidFill>
          <a:ln/>
        </p:spPr>
      </p:sp>
      <p:pic>
        <p:nvPicPr>
          <p:cNvPr id="39" name="Image 8" descr="assets/logo-snyk-white.png">    </p:cNvPr>
          <p:cNvPicPr>
            <a:picLocks noChangeAspect="1"/>
          </p:cNvPicPr>
          <p:nvPr/>
        </p:nvPicPr>
        <p:blipFill>
          <a:blip r:embed="rId9"/>
          <a:stretch>
            <a:fillRect/>
          </a:stretch>
        </p:blipFill>
        <p:spPr>
          <a:xfrm>
            <a:off x="508406" y="6336792"/>
            <a:ext cx="621792" cy="219456"/>
          </a:xfrm>
          <a:prstGeom prst="rect">
            <a:avLst/>
          </a:prstGeom>
        </p:spPr>
      </p:pic>
      <p:sp>
        <p:nvSpPr>
          <p:cNvPr id="40" name="Text 29"/>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Notifications &amp; reporting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REPORTING PRACTICALITIES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Small things that save you an afternoon</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Share a view, not a screenshot — applied filters live in the URL. Bookmark it, or paste it into your weekly note.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PDF export truncates — top-right of any report. Long reports truncate the results table to the first 50 rows, and you are capped at 5 PDFs a minute. Do not email a PDF and imply it is complete.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CSV export does NOT truncate — there is no row cap, only a 5 GB file limit. This is what you analyse. (Older versions of this deck implied a CSV cap; there isn't one.)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For large or automated pulls use the Export API — datasets include issues, usage, pr_checks and prevention events; 20 POSTs per hour, 3-day retention. Snowflake Data Share is GA for anything bigger.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Ignored issues are suppressed by default — if your executive number looks suspiciously good, check what has been ignored before you present it.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Project Collections — group Projects and view a report scoped to the collection. The cleanest way to report per team or per product line, and worth setting up early.</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The v1 Reporting API is deprecated, and the Organization Dashboard has been removed — Analytics is the single reporting home now.</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Notifications &amp; reporting</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SEVEN</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07</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Members &amp; permissions</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Who's in, what they can do, and how they ask.</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Members &amp; permissions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MANAGING MEMBERS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Day-to-day administration</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Add members — invite by email address, or add someone who already belongs to the group.</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Find members — filters, column sort, or search by name or email.</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Change roles — for org administrators and collaborators, from the same page.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Remove access — delete the member from the organization; that removes access to the org and its Projects.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Access requests — let users request access to an org they are not in. Admins are emailed and can invite them. Enable it: the three commonest ways a developer hits a wall are a shared link, clicking through from a Snyk PR, and clicking through from a Snyk status check. Without access requests all three end in a dead end and a message to you.</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Custom roles — for granular permissions, including the ignore create and review permissions from part 04.</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Evo by Snyk has its own console and its own roles — if you are enabling Agentic Development Security, that is a separate access conversation, not an extension of this page.</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Members &amp; permissions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A 30-DAY ROLLOUT PLAN</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Using juice-shop as the pilot</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This is the slide to leave people with, and the thing to get a verbal commitment on before they leave the room.</a:t>
            </a:r>
            <a:endParaRPr lang="en-US" sz="12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8406" y="2439619"/>
          <a:ext cx="11174882" cy="914400"/>
        </p:xfrm>
        <a:graphic>
          <a:graphicData uri="http://schemas.openxmlformats.org/drawingml/2006/table">
            <a:tbl>
              <a:tblPr/>
              <a:tblGrid>
                <a:gridCol w="1371600"/>
                <a:gridCol w="3657600"/>
                <a:gridCol w="3017520"/>
                <a:gridCol w="312724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Week</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You do</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Developers do</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Done when</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Week 1</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connect GitHub, import juice-shop, automations OFF, notifications OFF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run the developer training; scan locally from CLI and IDE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everyone has scanned and seen a snapshot in the UI</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Week 2</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set the ignore policy: admins only + reason required. Agree the triage route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fix three real findings and open PRs into develop</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three merged fix PRs, and a documented triage route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Week 3</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enable PR checks on one project: new dependencies, high/critical, fix available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hit the gate, unblock themselves, complain to you</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 failing check was FIXED rather than bypassed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Week 4</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promote to org level, then require the check in branch protection. Bookmark Issues Summary + SLA</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treat the check as normal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first weekly report you would show a VP</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Members &amp; permissions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RESOURCES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Where to go next</a:t>
            </a:r>
            <a:endParaRPr lang="en-US" sz="3200" dirty="0"/>
          </a:p>
        </p:txBody>
      </p:sp>
      <p:sp>
        <p:nvSpPr>
          <p:cNvPr id="7" name="Text 3"/>
          <p:cNvSpPr/>
          <p:nvPr/>
        </p:nvSpPr>
        <p:spPr>
          <a:xfrm>
            <a:off x="563270" y="1993392"/>
            <a:ext cx="10809122"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Pair this with — the developer track: Snyk-Developer-Training.pptx and DEVELOPER_TRAINING.md in the repository.</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Product docs — docs.snyk.io: deployment recommendations, pull request experience, ignore issues, Consistent Ignores, Snyk Studio, Snyk Secrets, reports tab.</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Learning — learn.snyk.io/catalog/product-training: Intro to Snyk for administrators, Managing application security with Snyk, Snyk Reports, Ignoring issues.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At scale — github.com/snyk-tech-services/snyk-api-import for bulk import; snyk-labs/pysnyk for bulk operations.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Community — Snyk Customer Community on Slack · Office Hours · community.snyk.io</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Support — support.snyk.io · support@snyk.io</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Members &amp; permissions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1280160" y="2331720"/>
            <a:ext cx="9631375" cy="1554480"/>
          </a:xfrm>
          <a:prstGeom prst="rect">
            <a:avLst/>
          </a:prstGeom>
          <a:noFill/>
          <a:ln/>
        </p:spPr>
        <p:txBody>
          <a:bodyPr wrap="square" lIns="0" tIns="0" rIns="0" bIns="0" rtlCol="0" anchor="ctr"/>
          <a:lstStyle/>
          <a:p>
            <a:pPr algn="ctr" indent="0" marL="0">
              <a:lnSpc>
                <a:spcPts val="4800"/>
              </a:lnSpc>
              <a:buNone/>
            </a:pPr>
            <a:r>
              <a:rPr lang="en-US" sz="4400" b="1" spc="-150" kern="0" dirty="0">
                <a:solidFill>
                  <a:srgbClr val="FFFFFF"/>
                </a:solidFill>
                <a:latin typeface="Geist" pitchFamily="34" charset="0"/>
                <a:ea typeface="Geist" pitchFamily="34" charset="-122"/>
                <a:cs typeface="Geist" pitchFamily="34" charset="-120"/>
              </a:rPr>
              <a:t>Configure for the phase</a:t>
            </a:r>
            <a:endParaRPr lang="en-US" sz="4400" dirty="0"/>
          </a:p>
          <a:p>
            <a:pPr algn="ctr" indent="0" marL="0">
              <a:lnSpc>
                <a:spcPts val="4800"/>
              </a:lnSpc>
              <a:buNone/>
            </a:pPr>
            <a:r>
              <a:rPr lang="en-US" sz="4400" b="1" spc="-150" kern="0" dirty="0">
                <a:solidFill>
                  <a:srgbClr val="FFFFFF"/>
                </a:solidFill>
                <a:latin typeface="Geist" pitchFamily="34" charset="0"/>
                <a:ea typeface="Geist" pitchFamily="34" charset="-122"/>
                <a:cs typeface="Geist" pitchFamily="34" charset="-120"/>
              </a:rPr>
              <a:t>you're actually in.</a:t>
            </a:r>
            <a:endParaRPr lang="en-US" sz="4400" dirty="0"/>
          </a:p>
        </p:txBody>
      </p:sp>
      <p:pic>
        <p:nvPicPr>
          <p:cNvPr id="6" name="Image 2" descr="assets/grad_bar_h.png">    </p:cNvPr>
          <p:cNvPicPr>
            <a:picLocks noChangeAspect="1"/>
          </p:cNvPicPr>
          <p:nvPr/>
        </p:nvPicPr>
        <p:blipFill>
          <a:blip r:embed="rId3"/>
          <a:stretch>
            <a:fillRect/>
          </a:stretch>
        </p:blipFill>
        <p:spPr>
          <a:xfrm>
            <a:off x="4907128" y="4023360"/>
            <a:ext cx="2377440" cy="41148"/>
          </a:xfrm>
          <a:prstGeom prst="rect">
            <a:avLst/>
          </a:prstGeom>
        </p:spPr>
      </p:pic>
      <p:sp>
        <p:nvSpPr>
          <p:cNvPr id="7" name="Text 2"/>
          <p:cNvSpPr/>
          <p:nvPr/>
        </p:nvSpPr>
        <p:spPr>
          <a:xfrm>
            <a:off x="2377440" y="4297680"/>
            <a:ext cx="7436815" cy="822960"/>
          </a:xfrm>
          <a:prstGeom prst="rect">
            <a:avLst/>
          </a:prstGeom>
          <a:noFill/>
          <a:ln/>
        </p:spPr>
        <p:txBody>
          <a:bodyPr wrap="square" lIns="0" tIns="0" rIns="0" bIns="0" rtlCol="0" anchor="ctr"/>
          <a:lstStyle/>
          <a:p>
            <a:pPr algn="ctr" indent="0" marL="0">
              <a:lnSpc>
                <a:spcPts val="2100"/>
              </a:lnSpc>
              <a:buNone/>
            </a:pPr>
            <a:r>
              <a:rPr lang="en-US" sz="1350" dirty="0">
                <a:solidFill>
                  <a:srgbClr val="B8B8CC"/>
                </a:solidFill>
                <a:latin typeface="Geist" pitchFamily="34" charset="0"/>
                <a:ea typeface="Geist" pitchFamily="34" charset="-122"/>
                <a:cs typeface="Geist" pitchFamily="34" charset="-120"/>
              </a:rPr>
              <a:t>Then move one notch. Questions?</a:t>
            </a:r>
            <a:endParaRPr lang="en-US" sz="1350" dirty="0"/>
          </a:p>
        </p:txBody>
      </p:sp>
      <p:pic>
        <p:nvPicPr>
          <p:cNvPr id="8" name="Image 3" descr="assets/logo-snyk-white.png">    </p:cNvPr>
          <p:cNvPicPr>
            <a:picLocks noChangeAspect="1"/>
          </p:cNvPicPr>
          <p:nvPr/>
        </p:nvPicPr>
        <p:blipFill>
          <a:blip r:embed="rId4"/>
          <a:stretch>
            <a:fillRect/>
          </a:stretch>
        </p:blipFill>
        <p:spPr>
          <a:xfrm>
            <a:off x="5410048" y="5230368"/>
            <a:ext cx="1371600" cy="475488"/>
          </a:xfrm>
          <a:prstGeom prst="rect">
            <a:avLst/>
          </a:prstGeom>
        </p:spPr>
      </p:pic>
      <p:sp>
        <p:nvSpPr>
          <p:cNvPr id="9" name="Shape 3"/>
          <p:cNvSpPr/>
          <p:nvPr/>
        </p:nvSpPr>
        <p:spPr>
          <a:xfrm>
            <a:off x="508406" y="6245352"/>
            <a:ext cx="11174882" cy="10973"/>
          </a:xfrm>
          <a:prstGeom prst="rect">
            <a:avLst/>
          </a:prstGeom>
          <a:solidFill>
            <a:srgbClr val="FFFFFF">
              <a:alpha val="12000"/>
            </a:srgbClr>
          </a:solidFill>
          <a:ln/>
        </p:spPr>
      </p:sp>
      <p:pic>
        <p:nvPicPr>
          <p:cNvPr id="10"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1" name="Text 4"/>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Members &amp; permissions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as a Snyk Team Leader — juice-shop pilot</dc:title>
  <dc:subject>Snyk org admin and program owner enablement v3.0</dc:subject>
  <dc:creator>Snyk</dc:creator>
  <cp:lastModifiedBy>Snyk</cp:lastModifiedBy>
  <cp:revision>1</cp:revision>
  <dcterms:created xsi:type="dcterms:W3CDTF">2026-08-04T05:39:41Z</dcterms:created>
  <dcterms:modified xsi:type="dcterms:W3CDTF">2026-08-04T05:39:41Z</dcterms:modified>
</cp:coreProperties>
</file>